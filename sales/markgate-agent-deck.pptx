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92000" cy="7560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Freeform 2"/>
          <p:cNvSpPr/>
          <p:nvPr/>
        </p:nvSpPr>
        <p:spPr>
          <a:xfrm>
            <a:off x="864000" y="1206000"/>
            <a:ext cx="504000" cy="666000"/>
          </a:xfrm>
          <a:custGeom>
            <a:avLst/>
            <a:gdLst/>
            <a:ahLst/>
            <a:cxnLst/>
            <a:rect l="l" t="t" r="r" b="b"/>
            <a:pathLst>
              <a:path w="504000" h="666000">
                <a:moveTo>
                  <a:pt x="0" y="666000"/>
                </a:moveTo>
                <a:lnTo>
                  <a:pt x="0" y="162000"/>
                </a:lnTo>
                <a:lnTo>
                  <a:pt x="252000" y="0"/>
                </a:lnTo>
                <a:lnTo>
                  <a:pt x="504000" y="162000"/>
                </a:lnTo>
                <a:lnTo>
                  <a:pt x="504000" y="666000"/>
                </a:lnTo>
                <a:lnTo>
                  <a:pt x="0" y="666000"/>
                </a:lnTo>
                <a:close/>
              </a:path>
            </a:pathLst>
          </a:custGeom>
          <a:noFill/>
          <a:ln w="17780">
            <a:solidFill>
              <a:srgbClr val="E2C8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4000" y="2160000"/>
            <a:ext cx="8640000" cy="252000"/>
          </a:xfrm>
          <a:prstGeom prst="rect">
            <a:avLst/>
          </a:prstGeom>
          <a:noFill/>
        </p:spPr>
        <p:txBody>
          <a:bodyPr wrap="square" anchor="t" lIns="0" rIns="0" tIns="0" bIns="0">
            <a:spAutoFit/>
          </a:bodyPr>
          <a:lstStyle/>
          <a:p>
            <a:pPr algn="l">
              <a:lnSpc>
                <a:spcPct val="125000"/>
              </a:lnSpc>
            </a:pPr>
            <a:r>
              <a:rPr sz="1050" b="0" spc="400">
                <a:solidFill>
                  <a:srgbClr val="E2C88A"/>
                </a:solidFill>
                <a:latin typeface="Yu Gothic"/>
                <a:ea typeface="游ゴシック"/>
              </a:rPr>
              <a:t>人材紹介エージェント様向け ご提案資料</a:t>
            </a:r>
          </a:p>
        </p:txBody>
      </p:sp>
      <p:sp>
        <p:nvSpPr>
          <p:cNvPr id="5" name="TextBox 4"/>
          <p:cNvSpPr txBox="1"/>
          <p:nvPr/>
        </p:nvSpPr>
        <p:spPr>
          <a:xfrm>
            <a:off x="864000" y="2592000"/>
            <a:ext cx="9000000" cy="1512000"/>
          </a:xfrm>
          <a:prstGeom prst="rect">
            <a:avLst/>
          </a:prstGeom>
          <a:noFill/>
        </p:spPr>
        <p:txBody>
          <a:bodyPr wrap="square" anchor="t" lIns="0" rIns="0" tIns="0" bIns="0">
            <a:spAutoFit/>
          </a:bodyPr>
          <a:lstStyle/>
          <a:p>
            <a:pPr algn="l">
              <a:lnSpc>
                <a:spcPct val="125000"/>
              </a:lnSpc>
            </a:pPr>
            <a:r>
              <a:rPr sz="3300" b="1">
                <a:solidFill>
                  <a:srgbClr val="FFFFFF"/>
                </a:solidFill>
                <a:latin typeface="Garamond"/>
                <a:ea typeface="游明朝"/>
              </a:rPr>
              <a:t>貴社のエースが、</a:t>
            </a:r>
          </a:p>
          <a:p>
            <a:pPr algn="l">
              <a:lnSpc>
                <a:spcPct val="125000"/>
              </a:lnSpc>
            </a:pPr>
            <a:r>
              <a:rPr sz="3300" b="1">
                <a:solidFill>
                  <a:srgbClr val="E2C88A"/>
                </a:solidFill>
                <a:latin typeface="Garamond"/>
                <a:ea typeface="游明朝"/>
              </a:rPr>
              <a:t>“指名される”</a:t>
            </a:r>
            <a:r>
              <a:rPr sz="3300" b="1">
                <a:solidFill>
                  <a:srgbClr val="FFFFFF"/>
                </a:solidFill>
                <a:latin typeface="Garamond"/>
                <a:ea typeface="游明朝"/>
              </a:rPr>
              <a:t>時代へ。</a:t>
            </a:r>
          </a:p>
        </p:txBody>
      </p:sp>
      <p:sp>
        <p:nvSpPr>
          <p:cNvPr id="6" name="TextBox 5"/>
          <p:cNvSpPr txBox="1"/>
          <p:nvPr/>
        </p:nvSpPr>
        <p:spPr>
          <a:xfrm>
            <a:off x="864000" y="4248000"/>
            <a:ext cx="9000000" cy="648000"/>
          </a:xfrm>
          <a:prstGeom prst="rect">
            <a:avLst/>
          </a:prstGeom>
          <a:noFill/>
        </p:spPr>
        <p:txBody>
          <a:bodyPr wrap="square" anchor="t" lIns="0" rIns="0" tIns="0" bIns="0">
            <a:spAutoFit/>
          </a:bodyPr>
          <a:lstStyle/>
          <a:p>
            <a:pPr algn="l">
              <a:lnSpc>
                <a:spcPct val="150000"/>
              </a:lnSpc>
            </a:pPr>
            <a:r>
              <a:rPr sz="1150" b="0">
                <a:solidFill>
                  <a:srgbClr val="D5D9E2"/>
                </a:solidFill>
                <a:latin typeface="Yu Gothic"/>
                <a:ea typeface="游ゴシック"/>
              </a:rPr>
              <a:t>トップキャリアアドバイザーだけが登録できる、</a:t>
            </a:r>
          </a:p>
          <a:p>
            <a:pPr algn="l">
              <a:lnSpc>
                <a:spcPct val="150000"/>
              </a:lnSpc>
            </a:pPr>
            <a:r>
              <a:rPr sz="1150" b="0">
                <a:solidFill>
                  <a:srgbClr val="D5D9E2"/>
                </a:solidFill>
                <a:latin typeface="Yu Gothic"/>
                <a:ea typeface="游ゴシック"/>
              </a:rPr>
              <a:t>ハイクラス特化の指名型転職プラットフォーム「MarkGate」のご案内</a:t>
            </a:r>
          </a:p>
        </p:txBody>
      </p:sp>
      <p:sp>
        <p:nvSpPr>
          <p:cNvPr id="7" name="TextBox 6"/>
          <p:cNvSpPr txBox="1"/>
          <p:nvPr/>
        </p:nvSpPr>
        <p:spPr>
          <a:xfrm>
            <a:off x="864000" y="5400000"/>
            <a:ext cx="9000000" cy="324000"/>
          </a:xfrm>
          <a:prstGeom prst="rect">
            <a:avLst/>
          </a:prstGeom>
          <a:noFill/>
        </p:spPr>
        <p:txBody>
          <a:bodyPr wrap="square" anchor="t" lIns="0" rIns="0" tIns="0" bIns="0">
            <a:spAutoFit/>
          </a:bodyPr>
          <a:lstStyle/>
          <a:p>
            <a:pPr algn="l">
              <a:lnSpc>
                <a:spcPct val="125000"/>
              </a:lnSpc>
            </a:pPr>
            <a:r>
              <a:rPr sz="1400" b="1">
                <a:solidFill>
                  <a:srgbClr val="FFFFFF"/>
                </a:solidFill>
                <a:latin typeface="Garamond"/>
                <a:ea typeface="游明朝"/>
              </a:rPr>
              <a:t>MarkGate</a:t>
            </a:r>
            <a:r>
              <a:rPr sz="900" b="0">
                <a:solidFill>
                  <a:srgbClr val="C6A15B"/>
                </a:solidFill>
                <a:latin typeface="Yu Gothic"/>
                <a:ea typeface="游ゴシック"/>
              </a:rPr>
              <a:t>　／　</a:t>
            </a:r>
            <a:r>
              <a:rPr sz="900" b="0" spc="100">
                <a:solidFill>
                  <a:srgbClr val="B9BFCC"/>
                </a:solidFill>
                <a:latin typeface="Yu Gothic"/>
                <a:ea typeface="游ゴシック"/>
              </a:rPr>
              <a:t>MarkGate株式会社</a:t>
            </a:r>
            <a:r>
              <a:rPr sz="900" b="0">
                <a:solidFill>
                  <a:srgbClr val="C6A15B"/>
                </a:solidFill>
                <a:latin typeface="Yu Gothic"/>
                <a:ea typeface="游ゴシック"/>
              </a:rPr>
              <a:t>　／　</a:t>
            </a:r>
            <a:r>
              <a:rPr sz="900" b="0" spc="100">
                <a:solidFill>
                  <a:srgbClr val="B9BFCC"/>
                </a:solidFill>
                <a:latin typeface="Yu Gothic"/>
                <a:ea typeface="游ゴシック"/>
              </a:rPr>
              <a:t>2026年7月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92000" cy="7560000"/>
          </a:xfrm>
          <a:prstGeom prst="rect">
            <a:avLst/>
          </a:prstGeom>
          <a:solidFill>
            <a:srgbClr val="F8F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84000" y="432000"/>
            <a:ext cx="720000" cy="360000"/>
          </a:xfrm>
          <a:prstGeom prst="rect">
            <a:avLst/>
          </a:prstGeom>
          <a:noFill/>
        </p:spPr>
        <p:txBody>
          <a:bodyPr wrap="square" anchor="t" lIns="0" rIns="0" tIns="0" bIns="0">
            <a:spAutoFit/>
          </a:bodyPr>
          <a:lstStyle/>
          <a:p>
            <a:pPr algn="l">
              <a:lnSpc>
                <a:spcPct val="125000"/>
              </a:lnSpc>
            </a:pPr>
            <a:r>
              <a:rPr sz="1700" b="0">
                <a:solidFill>
                  <a:srgbClr val="C6A15B"/>
                </a:solidFill>
                <a:latin typeface="Garamond"/>
                <a:ea typeface="游明朝"/>
              </a:rPr>
              <a:t>01</a:t>
            </a:r>
          </a:p>
        </p:txBody>
      </p:sp>
      <p:sp>
        <p:nvSpPr>
          <p:cNvPr id="4" name="TextBox 3"/>
          <p:cNvSpPr txBox="1"/>
          <p:nvPr/>
        </p:nvSpPr>
        <p:spPr>
          <a:xfrm>
            <a:off x="1188000" y="547200"/>
            <a:ext cx="7200000" cy="216000"/>
          </a:xfrm>
          <a:prstGeom prst="rect">
            <a:avLst/>
          </a:prstGeom>
          <a:noFill/>
        </p:spPr>
        <p:txBody>
          <a:bodyPr wrap="square" anchor="t" lIns="0" rIns="0" tIns="0" bIns="0">
            <a:spAutoFit/>
          </a:bodyPr>
          <a:lstStyle/>
          <a:p>
            <a:pPr algn="l">
              <a:lnSpc>
                <a:spcPct val="125000"/>
              </a:lnSpc>
            </a:pPr>
            <a:r>
              <a:rPr sz="750" b="0" spc="300">
                <a:solidFill>
                  <a:srgbClr val="7A6030"/>
                </a:solidFill>
                <a:latin typeface="Yu Gothic"/>
                <a:ea typeface="游ゴシック"/>
              </a:rPr>
              <a:t>EXECUTIVE SUMMARY</a:t>
            </a:r>
          </a:p>
        </p:txBody>
      </p:sp>
      <p:sp>
        <p:nvSpPr>
          <p:cNvPr id="5" name="TextBox 4"/>
          <p:cNvSpPr txBox="1"/>
          <p:nvPr/>
        </p:nvSpPr>
        <p:spPr>
          <a:xfrm>
            <a:off x="684000" y="792000"/>
            <a:ext cx="9324000" cy="432000"/>
          </a:xfrm>
          <a:prstGeom prst="rect">
            <a:avLst/>
          </a:prstGeom>
          <a:noFill/>
        </p:spPr>
        <p:txBody>
          <a:bodyPr wrap="square" anchor="t" lIns="0" rIns="0" tIns="0" bIns="0">
            <a:spAutoFit/>
          </a:bodyPr>
          <a:lstStyle/>
          <a:p>
            <a:pPr algn="l">
              <a:lnSpc>
                <a:spcPct val="120000"/>
              </a:lnSpc>
            </a:pPr>
            <a:r>
              <a:rPr sz="2200" b="1">
                <a:solidFill>
                  <a:srgbClr val="1A1D29"/>
                </a:solidFill>
                <a:latin typeface="Garamond"/>
                <a:ea typeface="游明朝"/>
              </a:rPr>
              <a:t>本日お伝えしたい、3つのこと。</a:t>
            </a:r>
          </a:p>
        </p:txBody>
      </p:sp>
      <p:sp>
        <p:nvSpPr>
          <p:cNvPr id="6" name="Rectangle 5"/>
          <p:cNvSpPr/>
          <p:nvPr/>
        </p:nvSpPr>
        <p:spPr>
          <a:xfrm>
            <a:off x="684000" y="1296000"/>
            <a:ext cx="504000" cy="252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4000" y="1656000"/>
            <a:ext cx="2962800" cy="3168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84000" y="1656000"/>
            <a:ext cx="2962800" cy="324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36000" y="1908000"/>
            <a:ext cx="2458800" cy="2664000"/>
          </a:xfrm>
          <a:prstGeom prst="rect">
            <a:avLst/>
          </a:prstGeom>
          <a:noFill/>
        </p:spPr>
        <p:txBody>
          <a:bodyPr wrap="square" anchor="t" lIns="0" rIns="0" tIns="0" bIns="0">
            <a:spAutoFit/>
          </a:bodyPr>
          <a:lstStyle/>
          <a:p>
            <a:pPr algn="l">
              <a:lnSpc>
                <a:spcPct val="125000"/>
              </a:lnSpc>
              <a:spcAft>
                <a:spcPts val="600"/>
              </a:spcAft>
            </a:pPr>
            <a:r>
              <a:rPr sz="1500" b="0">
                <a:solidFill>
                  <a:srgbClr val="C6A15B"/>
                </a:solidFill>
                <a:latin typeface="Garamond"/>
                <a:ea typeface="游明朝"/>
              </a:rPr>
              <a:t>Ⅰ</a:t>
            </a:r>
          </a:p>
          <a:p>
            <a:pPr algn="l">
              <a:lnSpc>
                <a:spcPct val="130000"/>
              </a:lnSpc>
            </a:pPr>
            <a:r>
              <a:rPr sz="1250" b="1">
                <a:solidFill>
                  <a:srgbClr val="1A1D29"/>
                </a:solidFill>
                <a:latin typeface="Garamond"/>
                <a:ea typeface="游明朝"/>
              </a:rPr>
              <a:t>MarkGateは</a:t>
            </a:r>
          </a:p>
          <a:p>
            <a:pPr algn="l">
              <a:lnSpc>
                <a:spcPct val="130000"/>
              </a:lnSpc>
            </a:pPr>
            <a:r>
              <a:rPr sz="1250" b="1">
                <a:solidFill>
                  <a:srgbClr val="1A1D29"/>
                </a:solidFill>
                <a:latin typeface="Garamond"/>
                <a:ea typeface="游明朝"/>
              </a:rPr>
              <a:t>トップアドバイザー限定の</a:t>
            </a:r>
          </a:p>
          <a:p>
            <a:pPr algn="l">
              <a:lnSpc>
                <a:spcPct val="130000"/>
              </a:lnSpc>
            </a:pPr>
            <a:r>
              <a:rPr sz="1250" b="1">
                <a:solidFill>
                  <a:srgbClr val="1A1D29"/>
                </a:solidFill>
                <a:latin typeface="Garamond"/>
                <a:ea typeface="游明朝"/>
              </a:rPr>
              <a:t>指名型プラットフォーム</a:t>
            </a:r>
          </a:p>
          <a:p>
            <a:pPr algn="l">
              <a:lnSpc>
                <a:spcPct val="145000"/>
              </a:lnSpc>
              <a:spcBef>
                <a:spcPts val="700"/>
              </a:spcBef>
            </a:pPr>
            <a:r>
              <a:rPr sz="850" b="0">
                <a:solidFill>
                  <a:srgbClr val="3A3F4D"/>
                </a:solidFill>
                <a:latin typeface="Yu Gothic"/>
                <a:ea typeface="游ゴシック"/>
              </a:rPr>
              <a:t>各エージェントの実績上位アドバイザーのみが審査制で登録できる、ハイクラス・エグゼクティブ特化の転職プラットフォームです。</a:t>
            </a:r>
          </a:p>
        </p:txBody>
      </p:sp>
      <p:sp>
        <p:nvSpPr>
          <p:cNvPr id="10" name="Rectangle 9"/>
          <p:cNvSpPr/>
          <p:nvPr/>
        </p:nvSpPr>
        <p:spPr>
          <a:xfrm>
            <a:off x="3862800" y="1656000"/>
            <a:ext cx="2962800" cy="3168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3862800" y="1656000"/>
            <a:ext cx="2962800" cy="324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114800" y="1908000"/>
            <a:ext cx="2458800" cy="2664000"/>
          </a:xfrm>
          <a:prstGeom prst="rect">
            <a:avLst/>
          </a:prstGeom>
          <a:noFill/>
        </p:spPr>
        <p:txBody>
          <a:bodyPr wrap="square" anchor="t" lIns="0" rIns="0" tIns="0" bIns="0">
            <a:spAutoFit/>
          </a:bodyPr>
          <a:lstStyle/>
          <a:p>
            <a:pPr algn="l">
              <a:lnSpc>
                <a:spcPct val="125000"/>
              </a:lnSpc>
              <a:spcAft>
                <a:spcPts val="600"/>
              </a:spcAft>
            </a:pPr>
            <a:r>
              <a:rPr sz="1500" b="0">
                <a:solidFill>
                  <a:srgbClr val="C6A15B"/>
                </a:solidFill>
                <a:latin typeface="Garamond"/>
                <a:ea typeface="游明朝"/>
              </a:rPr>
              <a:t>Ⅱ</a:t>
            </a:r>
          </a:p>
          <a:p>
            <a:pPr algn="l">
              <a:lnSpc>
                <a:spcPct val="130000"/>
              </a:lnSpc>
            </a:pPr>
            <a:r>
              <a:rPr sz="1250" b="1">
                <a:solidFill>
                  <a:srgbClr val="1A1D29"/>
                </a:solidFill>
                <a:latin typeface="Garamond"/>
                <a:ea typeface="游明朝"/>
              </a:rPr>
              <a:t>ハイクラス求職者からの</a:t>
            </a:r>
          </a:p>
          <a:p>
            <a:pPr algn="l">
              <a:lnSpc>
                <a:spcPct val="130000"/>
              </a:lnSpc>
            </a:pPr>
            <a:r>
              <a:rPr sz="1250" b="1">
                <a:solidFill>
                  <a:srgbClr val="1A1D29"/>
                </a:solidFill>
                <a:latin typeface="Garamond"/>
                <a:ea typeface="游明朝"/>
              </a:rPr>
              <a:t>「指名」が、貴社に</a:t>
            </a:r>
          </a:p>
          <a:p>
            <a:pPr algn="l">
              <a:lnSpc>
                <a:spcPct val="130000"/>
              </a:lnSpc>
            </a:pPr>
            <a:r>
              <a:rPr sz="1250" b="1">
                <a:solidFill>
                  <a:srgbClr val="1A1D29"/>
                </a:solidFill>
                <a:latin typeface="Garamond"/>
                <a:ea typeface="游明朝"/>
              </a:rPr>
              <a:t>直接届く仕組み</a:t>
            </a:r>
          </a:p>
          <a:p>
            <a:pPr algn="l">
              <a:lnSpc>
                <a:spcPct val="145000"/>
              </a:lnSpc>
              <a:spcBef>
                <a:spcPts val="700"/>
              </a:spcBef>
            </a:pPr>
            <a:r>
              <a:rPr sz="850" b="0">
                <a:solidFill>
                  <a:srgbClr val="3A3F4D"/>
                </a:solidFill>
                <a:latin typeface="Yu Gothic"/>
                <a:ea typeface="游ゴシック"/>
              </a:rPr>
              <a:t>求職者がアドバイザーの実績・専門領域を比較して指名する“指名型（プル型）”モデル。温度感の高い接点が、スカウト送信なしで生まれる設計です。</a:t>
            </a:r>
          </a:p>
        </p:txBody>
      </p:sp>
      <p:sp>
        <p:nvSpPr>
          <p:cNvPr id="13" name="Rectangle 12"/>
          <p:cNvSpPr/>
          <p:nvPr/>
        </p:nvSpPr>
        <p:spPr>
          <a:xfrm>
            <a:off x="7041600" y="1656000"/>
            <a:ext cx="2962800" cy="3168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041600" y="1656000"/>
            <a:ext cx="2962800" cy="324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293600" y="1908000"/>
            <a:ext cx="2458800" cy="2664000"/>
          </a:xfrm>
          <a:prstGeom prst="rect">
            <a:avLst/>
          </a:prstGeom>
          <a:noFill/>
        </p:spPr>
        <p:txBody>
          <a:bodyPr wrap="square" anchor="t" lIns="0" rIns="0" tIns="0" bIns="0">
            <a:spAutoFit/>
          </a:bodyPr>
          <a:lstStyle/>
          <a:p>
            <a:pPr algn="l">
              <a:lnSpc>
                <a:spcPct val="125000"/>
              </a:lnSpc>
              <a:spcAft>
                <a:spcPts val="600"/>
              </a:spcAft>
            </a:pPr>
            <a:r>
              <a:rPr sz="1500" b="0">
                <a:solidFill>
                  <a:srgbClr val="C6A15B"/>
                </a:solidFill>
                <a:latin typeface="Garamond"/>
                <a:ea typeface="游明朝"/>
              </a:rPr>
              <a:t>Ⅲ</a:t>
            </a:r>
          </a:p>
          <a:p>
            <a:pPr algn="l">
              <a:lnSpc>
                <a:spcPct val="130000"/>
              </a:lnSpc>
            </a:pPr>
            <a:r>
              <a:rPr sz="1250" b="1">
                <a:solidFill>
                  <a:srgbClr val="1A1D29"/>
                </a:solidFill>
                <a:latin typeface="Garamond"/>
                <a:ea typeface="游明朝"/>
              </a:rPr>
              <a:t>審査通過そのものが、</a:t>
            </a:r>
          </a:p>
          <a:p>
            <a:pPr algn="l">
              <a:lnSpc>
                <a:spcPct val="130000"/>
              </a:lnSpc>
            </a:pPr>
            <a:r>
              <a:rPr sz="1250" b="1">
                <a:solidFill>
                  <a:srgbClr val="1A1D29"/>
                </a:solidFill>
                <a:latin typeface="Garamond"/>
                <a:ea typeface="游明朝"/>
              </a:rPr>
              <a:t>貴社とエースの</a:t>
            </a:r>
          </a:p>
          <a:p>
            <a:pPr algn="l">
              <a:lnSpc>
                <a:spcPct val="130000"/>
              </a:lnSpc>
            </a:pPr>
            <a:r>
              <a:rPr sz="1250" b="1">
                <a:solidFill>
                  <a:srgbClr val="1A1D29"/>
                </a:solidFill>
                <a:latin typeface="Garamond"/>
                <a:ea typeface="游明朝"/>
              </a:rPr>
              <a:t>ブランドに</a:t>
            </a:r>
          </a:p>
          <a:p>
            <a:pPr algn="l">
              <a:lnSpc>
                <a:spcPct val="145000"/>
              </a:lnSpc>
              <a:spcBef>
                <a:spcPts val="700"/>
              </a:spcBef>
            </a:pPr>
            <a:r>
              <a:rPr sz="850" b="0">
                <a:solidFill>
                  <a:srgbClr val="3A3F4D"/>
                </a:solidFill>
                <a:latin typeface="Yu Gothic"/>
                <a:ea typeface="游ゴシック"/>
              </a:rPr>
              <a:t>「Mark＝一流の証」を掲げる審査制の場に立つこと自体が、アドバイザー個人と貴社の信頼の可視化につながります。</a:t>
            </a:r>
          </a:p>
        </p:txBody>
      </p:sp>
      <p:sp>
        <p:nvSpPr>
          <p:cNvPr id="16" name="Rectangle 15"/>
          <p:cNvSpPr/>
          <p:nvPr/>
        </p:nvSpPr>
        <p:spPr>
          <a:xfrm>
            <a:off x="684000" y="5076000"/>
            <a:ext cx="9324000" cy="612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972000" y="5263200"/>
            <a:ext cx="864000" cy="237600"/>
          </a:xfrm>
          <a:prstGeom prst="rect">
            <a:avLst/>
          </a:prstGeom>
          <a:noFill/>
          <a:ln w="9525">
            <a:solidFill>
              <a:srgbClr val="E2C88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72000" y="5313600"/>
            <a:ext cx="864000" cy="144000"/>
          </a:xfrm>
          <a:prstGeom prst="rect">
            <a:avLst/>
          </a:prstGeom>
          <a:noFill/>
        </p:spPr>
        <p:txBody>
          <a:bodyPr wrap="square" anchor="t" lIns="0" rIns="0" tIns="0" bIns="0">
            <a:spAutoFit/>
          </a:bodyPr>
          <a:lstStyle/>
          <a:p>
            <a:pPr algn="ctr">
              <a:lnSpc>
                <a:spcPct val="125000"/>
              </a:lnSpc>
            </a:pPr>
            <a:r>
              <a:rPr sz="700" b="0" spc="200">
                <a:solidFill>
                  <a:srgbClr val="E2C88A"/>
                </a:solidFill>
                <a:latin typeface="Yu Gothic"/>
                <a:ea typeface="游ゴシック"/>
              </a:rPr>
              <a:t>本日のご提案</a:t>
            </a:r>
          </a:p>
        </p:txBody>
      </p:sp>
      <p:sp>
        <p:nvSpPr>
          <p:cNvPr id="19" name="TextBox 18"/>
          <p:cNvSpPr txBox="1"/>
          <p:nvPr/>
        </p:nvSpPr>
        <p:spPr>
          <a:xfrm>
            <a:off x="2052000" y="5076000"/>
            <a:ext cx="7704000" cy="612000"/>
          </a:xfrm>
          <a:prstGeom prst="rect">
            <a:avLst/>
          </a:prstGeom>
          <a:noFill/>
        </p:spPr>
        <p:txBody>
          <a:bodyPr wrap="square" anchor="ctr" lIns="0" rIns="0" tIns="0" bIns="0">
            <a:spAutoFit/>
          </a:bodyPr>
          <a:lstStyle/>
          <a:p>
            <a:pPr algn="l">
              <a:lnSpc>
                <a:spcPct val="125000"/>
              </a:lnSpc>
            </a:pPr>
            <a:r>
              <a:rPr sz="1200" b="0">
                <a:solidFill>
                  <a:srgbClr val="FFFFFF"/>
                </a:solidFill>
                <a:latin typeface="Garamond"/>
                <a:ea typeface="游明朝"/>
              </a:rPr>
              <a:t>貴社の</a:t>
            </a:r>
            <a:r>
              <a:rPr sz="1200" b="0">
                <a:solidFill>
                  <a:srgbClr val="E2C88A"/>
                </a:solidFill>
                <a:latin typeface="Garamond"/>
                <a:ea typeface="游明朝"/>
              </a:rPr>
              <a:t>トップキャリアアドバイザー</a:t>
            </a:r>
            <a:r>
              <a:rPr sz="1200" b="0">
                <a:solidFill>
                  <a:srgbClr val="FFFFFF"/>
                </a:solidFill>
                <a:latin typeface="Garamond"/>
                <a:ea typeface="游明朝"/>
              </a:rPr>
              <a:t>の、MarkGateへのご登録（審査制）をご検討ください。</a:t>
            </a:r>
          </a:p>
        </p:txBody>
      </p:sp>
      <p:sp>
        <p:nvSpPr>
          <p:cNvPr id="20" name="TextBox 19"/>
          <p:cNvSpPr txBox="1"/>
          <p:nvPr/>
        </p:nvSpPr>
        <p:spPr>
          <a:xfrm>
            <a:off x="684000" y="7182000"/>
            <a:ext cx="7200000" cy="216000"/>
          </a:xfrm>
          <a:prstGeom prst="rect">
            <a:avLst/>
          </a:prstGeom>
          <a:noFill/>
        </p:spPr>
        <p:txBody>
          <a:bodyPr wrap="square" anchor="t" lIns="0" rIns="0" tIns="0" bIns="0">
            <a:spAutoFit/>
          </a:bodyPr>
          <a:lstStyle/>
          <a:p>
            <a:pPr algn="l">
              <a:lnSpc>
                <a:spcPct val="125000"/>
              </a:lnSpc>
            </a:pPr>
            <a:r>
              <a:rPr sz="900" b="1">
                <a:solidFill>
                  <a:srgbClr val="7A6030"/>
                </a:solidFill>
                <a:latin typeface="Garamond"/>
                <a:ea typeface="游明朝"/>
              </a:rPr>
              <a:t>MarkGate</a:t>
            </a:r>
            <a:r>
              <a:rPr sz="700" b="0">
                <a:solidFill>
                  <a:srgbClr val="5F6672"/>
                </a:solidFill>
                <a:latin typeface="Yu Gothic"/>
                <a:ea typeface="游ゴシック"/>
              </a:rPr>
              <a:t>　人材紹介エージェント様向けご提案資料</a:t>
            </a:r>
          </a:p>
        </p:txBody>
      </p:sp>
      <p:sp>
        <p:nvSpPr>
          <p:cNvPr id="21" name="TextBox 20"/>
          <p:cNvSpPr txBox="1"/>
          <p:nvPr/>
        </p:nvSpPr>
        <p:spPr>
          <a:xfrm>
            <a:off x="9000000" y="7182000"/>
            <a:ext cx="1008000" cy="216000"/>
          </a:xfrm>
          <a:prstGeom prst="rect">
            <a:avLst/>
          </a:prstGeom>
          <a:noFill/>
        </p:spPr>
        <p:txBody>
          <a:bodyPr wrap="square" anchor="t" lIns="0" rIns="0" tIns="0" bIns="0">
            <a:spAutoFit/>
          </a:bodyPr>
          <a:lstStyle/>
          <a:p>
            <a:pPr algn="r">
              <a:lnSpc>
                <a:spcPct val="125000"/>
              </a:lnSpc>
            </a:pPr>
            <a:r>
              <a:rPr sz="900" b="0" spc="100">
                <a:solidFill>
                  <a:srgbClr val="5F6672"/>
                </a:solidFill>
                <a:latin typeface="Garamond"/>
                <a:ea typeface="游明朝"/>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92000" cy="7560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84000" y="432000"/>
            <a:ext cx="720000" cy="360000"/>
          </a:xfrm>
          <a:prstGeom prst="rect">
            <a:avLst/>
          </a:prstGeom>
          <a:noFill/>
        </p:spPr>
        <p:txBody>
          <a:bodyPr wrap="square" anchor="t" lIns="0" rIns="0" tIns="0" bIns="0">
            <a:spAutoFit/>
          </a:bodyPr>
          <a:lstStyle/>
          <a:p>
            <a:pPr algn="l">
              <a:lnSpc>
                <a:spcPct val="125000"/>
              </a:lnSpc>
            </a:pPr>
            <a:r>
              <a:rPr sz="1700" b="0">
                <a:solidFill>
                  <a:srgbClr val="C6A15B"/>
                </a:solidFill>
                <a:latin typeface="Garamond"/>
                <a:ea typeface="游明朝"/>
              </a:rPr>
              <a:t>02</a:t>
            </a:r>
          </a:p>
        </p:txBody>
      </p:sp>
      <p:sp>
        <p:nvSpPr>
          <p:cNvPr id="4" name="TextBox 3"/>
          <p:cNvSpPr txBox="1"/>
          <p:nvPr/>
        </p:nvSpPr>
        <p:spPr>
          <a:xfrm>
            <a:off x="1188000" y="547200"/>
            <a:ext cx="7200000" cy="216000"/>
          </a:xfrm>
          <a:prstGeom prst="rect">
            <a:avLst/>
          </a:prstGeom>
          <a:noFill/>
        </p:spPr>
        <p:txBody>
          <a:bodyPr wrap="square" anchor="t" lIns="0" rIns="0" tIns="0" bIns="0">
            <a:spAutoFit/>
          </a:bodyPr>
          <a:lstStyle/>
          <a:p>
            <a:pPr algn="l">
              <a:lnSpc>
                <a:spcPct val="125000"/>
              </a:lnSpc>
            </a:pPr>
            <a:r>
              <a:rPr sz="750" b="0" spc="300">
                <a:solidFill>
                  <a:srgbClr val="E2C88A"/>
                </a:solidFill>
                <a:latin typeface="Yu Gothic"/>
                <a:ea typeface="游ゴシック"/>
              </a:rPr>
              <a:t>BACKGROUND</a:t>
            </a:r>
          </a:p>
        </p:txBody>
      </p:sp>
      <p:sp>
        <p:nvSpPr>
          <p:cNvPr id="5" name="TextBox 4"/>
          <p:cNvSpPr txBox="1"/>
          <p:nvPr/>
        </p:nvSpPr>
        <p:spPr>
          <a:xfrm>
            <a:off x="684000" y="792000"/>
            <a:ext cx="9324000" cy="864000"/>
          </a:xfrm>
          <a:prstGeom prst="rect">
            <a:avLst/>
          </a:prstGeom>
          <a:noFill/>
        </p:spPr>
        <p:txBody>
          <a:bodyPr wrap="square" anchor="t" lIns="0" rIns="0" tIns="0" bIns="0">
            <a:spAutoFit/>
          </a:bodyPr>
          <a:lstStyle/>
          <a:p>
            <a:pPr algn="l">
              <a:lnSpc>
                <a:spcPct val="120000"/>
              </a:lnSpc>
            </a:pPr>
            <a:r>
              <a:rPr sz="2200" b="1">
                <a:solidFill>
                  <a:srgbClr val="FFFFFF"/>
                </a:solidFill>
                <a:latin typeface="Garamond"/>
                <a:ea typeface="游明朝"/>
              </a:rPr>
              <a:t>ハイクラス紹介の現場で、</a:t>
            </a:r>
          </a:p>
          <a:p>
            <a:pPr algn="l">
              <a:lnSpc>
                <a:spcPct val="120000"/>
              </a:lnSpc>
            </a:pPr>
            <a:r>
              <a:rPr sz="2200" b="1">
                <a:solidFill>
                  <a:srgbClr val="FFFFFF"/>
                </a:solidFill>
                <a:latin typeface="Garamond"/>
                <a:ea typeface="游明朝"/>
              </a:rPr>
              <a:t>いま起きていること。</a:t>
            </a:r>
          </a:p>
        </p:txBody>
      </p:sp>
      <p:sp>
        <p:nvSpPr>
          <p:cNvPr id="6" name="Rectangle 5"/>
          <p:cNvSpPr/>
          <p:nvPr/>
        </p:nvSpPr>
        <p:spPr>
          <a:xfrm>
            <a:off x="684000" y="1728000"/>
            <a:ext cx="504000" cy="252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4000" y="2088000"/>
            <a:ext cx="4554000" cy="1584000"/>
          </a:xfrm>
          <a:prstGeom prst="rect">
            <a:avLst/>
          </a:prstGeom>
          <a:solidFill>
            <a:srgbClr val="131A30"/>
          </a:solidFill>
          <a:ln w="6350">
            <a:solidFill>
              <a:srgbClr val="4A453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36000" y="2304000"/>
            <a:ext cx="360000" cy="360000"/>
          </a:xfrm>
          <a:prstGeom prst="rect">
            <a:avLst/>
          </a:prstGeom>
          <a:noFill/>
        </p:spPr>
        <p:txBody>
          <a:bodyPr wrap="square" anchor="t" lIns="0" rIns="0" tIns="0" bIns="0">
            <a:spAutoFit/>
          </a:bodyPr>
          <a:lstStyle/>
          <a:p>
            <a:pPr algn="l">
              <a:lnSpc>
                <a:spcPct val="125000"/>
              </a:lnSpc>
            </a:pPr>
            <a:r>
              <a:rPr sz="1400" b="0">
                <a:solidFill>
                  <a:srgbClr val="E2C88A"/>
                </a:solidFill>
                <a:latin typeface="Garamond"/>
                <a:ea typeface="游明朝"/>
              </a:rPr>
              <a:t>Ⅰ</a:t>
            </a:r>
          </a:p>
        </p:txBody>
      </p:sp>
      <p:sp>
        <p:nvSpPr>
          <p:cNvPr id="9" name="TextBox 8"/>
          <p:cNvSpPr txBox="1"/>
          <p:nvPr/>
        </p:nvSpPr>
        <p:spPr>
          <a:xfrm>
            <a:off x="1368000" y="2304000"/>
            <a:ext cx="3618000" cy="1152000"/>
          </a:xfrm>
          <a:prstGeom prst="rect">
            <a:avLst/>
          </a:prstGeom>
          <a:noFill/>
        </p:spPr>
        <p:txBody>
          <a:bodyPr wrap="square" anchor="t" lIns="0" rIns="0" tIns="0" bIns="0">
            <a:spAutoFit/>
          </a:bodyPr>
          <a:lstStyle/>
          <a:p>
            <a:pPr algn="l">
              <a:lnSpc>
                <a:spcPct val="125000"/>
              </a:lnSpc>
              <a:spcAft>
                <a:spcPts val="300"/>
              </a:spcAft>
            </a:pPr>
            <a:r>
              <a:rPr sz="1150" b="1">
                <a:solidFill>
                  <a:srgbClr val="FFFFFF"/>
                </a:solidFill>
                <a:latin typeface="Garamond"/>
                <a:ea typeface="游明朝"/>
              </a:rPr>
              <a:t>スカウト依存の消耗戦</a:t>
            </a:r>
          </a:p>
          <a:p>
            <a:pPr algn="l">
              <a:lnSpc>
                <a:spcPct val="140000"/>
              </a:lnSpc>
            </a:pPr>
            <a:r>
              <a:rPr sz="850" b="0">
                <a:solidFill>
                  <a:srgbClr val="B9BFCC"/>
                </a:solidFill>
                <a:latin typeface="Yu Gothic"/>
                <a:ea typeface="游ゴシック"/>
              </a:rPr>
              <a:t>各社が同じデータベースへ大量のスカウトを送り合い、候補者の受信箱は飽和。送信量を増やしても、返信は容易に増えない構造になりつつあります。</a:t>
            </a:r>
          </a:p>
        </p:txBody>
      </p:sp>
      <p:sp>
        <p:nvSpPr>
          <p:cNvPr id="10" name="Rectangle 9"/>
          <p:cNvSpPr/>
          <p:nvPr/>
        </p:nvSpPr>
        <p:spPr>
          <a:xfrm>
            <a:off x="5454000" y="2088000"/>
            <a:ext cx="4554000" cy="1584000"/>
          </a:xfrm>
          <a:prstGeom prst="rect">
            <a:avLst/>
          </a:prstGeom>
          <a:solidFill>
            <a:srgbClr val="131A30"/>
          </a:solidFill>
          <a:ln w="6350">
            <a:solidFill>
              <a:srgbClr val="4A453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06000" y="2304000"/>
            <a:ext cx="360000" cy="360000"/>
          </a:xfrm>
          <a:prstGeom prst="rect">
            <a:avLst/>
          </a:prstGeom>
          <a:noFill/>
        </p:spPr>
        <p:txBody>
          <a:bodyPr wrap="square" anchor="t" lIns="0" rIns="0" tIns="0" bIns="0">
            <a:spAutoFit/>
          </a:bodyPr>
          <a:lstStyle/>
          <a:p>
            <a:pPr algn="l">
              <a:lnSpc>
                <a:spcPct val="125000"/>
              </a:lnSpc>
            </a:pPr>
            <a:r>
              <a:rPr sz="1400" b="0">
                <a:solidFill>
                  <a:srgbClr val="E2C88A"/>
                </a:solidFill>
                <a:latin typeface="Garamond"/>
                <a:ea typeface="游明朝"/>
              </a:rPr>
              <a:t>Ⅱ</a:t>
            </a:r>
          </a:p>
        </p:txBody>
      </p:sp>
      <p:sp>
        <p:nvSpPr>
          <p:cNvPr id="12" name="TextBox 11"/>
          <p:cNvSpPr txBox="1"/>
          <p:nvPr/>
        </p:nvSpPr>
        <p:spPr>
          <a:xfrm>
            <a:off x="6138000" y="2304000"/>
            <a:ext cx="3618000" cy="1152000"/>
          </a:xfrm>
          <a:prstGeom prst="rect">
            <a:avLst/>
          </a:prstGeom>
          <a:noFill/>
        </p:spPr>
        <p:txBody>
          <a:bodyPr wrap="square" anchor="t" lIns="0" rIns="0" tIns="0" bIns="0">
            <a:spAutoFit/>
          </a:bodyPr>
          <a:lstStyle/>
          <a:p>
            <a:pPr algn="l">
              <a:lnSpc>
                <a:spcPct val="125000"/>
              </a:lnSpc>
              <a:spcAft>
                <a:spcPts val="300"/>
              </a:spcAft>
            </a:pPr>
            <a:r>
              <a:rPr sz="1150" b="1">
                <a:solidFill>
                  <a:srgbClr val="FFFFFF"/>
                </a:solidFill>
                <a:latin typeface="Garamond"/>
                <a:ea typeface="游明朝"/>
              </a:rPr>
              <a:t>ハイクラス層ほど“売り込み”に反応しない</a:t>
            </a:r>
          </a:p>
          <a:p>
            <a:pPr algn="l">
              <a:lnSpc>
                <a:spcPct val="140000"/>
              </a:lnSpc>
            </a:pPr>
            <a:r>
              <a:rPr sz="850" b="0">
                <a:solidFill>
                  <a:srgbClr val="B9BFCC"/>
                </a:solidFill>
                <a:latin typeface="Yu Gothic"/>
                <a:ea typeface="游ゴシック"/>
              </a:rPr>
              <a:t>経営幹部・高度専門職ほど、届く連絡の量ではなく「誰からの連絡か」で動きます。選ぶ立場の求職者に対して、“選ばれるための接点”が不足しています。</a:t>
            </a:r>
          </a:p>
        </p:txBody>
      </p:sp>
      <p:sp>
        <p:nvSpPr>
          <p:cNvPr id="13" name="Rectangle 12"/>
          <p:cNvSpPr/>
          <p:nvPr/>
        </p:nvSpPr>
        <p:spPr>
          <a:xfrm>
            <a:off x="684000" y="3888000"/>
            <a:ext cx="4554000" cy="1584000"/>
          </a:xfrm>
          <a:prstGeom prst="rect">
            <a:avLst/>
          </a:prstGeom>
          <a:solidFill>
            <a:srgbClr val="131A30"/>
          </a:solidFill>
          <a:ln w="6350">
            <a:solidFill>
              <a:srgbClr val="4A453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36000" y="4104000"/>
            <a:ext cx="360000" cy="360000"/>
          </a:xfrm>
          <a:prstGeom prst="rect">
            <a:avLst/>
          </a:prstGeom>
          <a:noFill/>
        </p:spPr>
        <p:txBody>
          <a:bodyPr wrap="square" anchor="t" lIns="0" rIns="0" tIns="0" bIns="0">
            <a:spAutoFit/>
          </a:bodyPr>
          <a:lstStyle/>
          <a:p>
            <a:pPr algn="l">
              <a:lnSpc>
                <a:spcPct val="125000"/>
              </a:lnSpc>
            </a:pPr>
            <a:r>
              <a:rPr sz="1400" b="0">
                <a:solidFill>
                  <a:srgbClr val="E2C88A"/>
                </a:solidFill>
                <a:latin typeface="Garamond"/>
                <a:ea typeface="游明朝"/>
              </a:rPr>
              <a:t>Ⅲ</a:t>
            </a:r>
          </a:p>
        </p:txBody>
      </p:sp>
      <p:sp>
        <p:nvSpPr>
          <p:cNvPr id="15" name="TextBox 14"/>
          <p:cNvSpPr txBox="1"/>
          <p:nvPr/>
        </p:nvSpPr>
        <p:spPr>
          <a:xfrm>
            <a:off x="1368000" y="4104000"/>
            <a:ext cx="3618000" cy="1152000"/>
          </a:xfrm>
          <a:prstGeom prst="rect">
            <a:avLst/>
          </a:prstGeom>
          <a:noFill/>
        </p:spPr>
        <p:txBody>
          <a:bodyPr wrap="square" anchor="t" lIns="0" rIns="0" tIns="0" bIns="0">
            <a:spAutoFit/>
          </a:bodyPr>
          <a:lstStyle/>
          <a:p>
            <a:pPr algn="l">
              <a:lnSpc>
                <a:spcPct val="125000"/>
              </a:lnSpc>
              <a:spcAft>
                <a:spcPts val="300"/>
              </a:spcAft>
            </a:pPr>
            <a:r>
              <a:rPr sz="1150" b="1">
                <a:solidFill>
                  <a:srgbClr val="FFFFFF"/>
                </a:solidFill>
                <a:latin typeface="Garamond"/>
                <a:ea typeface="游明朝"/>
              </a:rPr>
              <a:t>エースの実績が、社外から見えない</a:t>
            </a:r>
          </a:p>
          <a:p>
            <a:pPr algn="l">
              <a:lnSpc>
                <a:spcPct val="140000"/>
              </a:lnSpc>
            </a:pPr>
            <a:r>
              <a:rPr sz="850" b="0">
                <a:solidFill>
                  <a:srgbClr val="B9BFCC"/>
                </a:solidFill>
                <a:latin typeface="Yu Gothic"/>
                <a:ea typeface="游ゴシック"/>
              </a:rPr>
              <a:t>どれほど成約実績を積み上げても、トップアドバイザー個人の信頼は社外に可視化されにくく、個人の実力が新しい出会いにつながりません。</a:t>
            </a:r>
          </a:p>
        </p:txBody>
      </p:sp>
      <p:sp>
        <p:nvSpPr>
          <p:cNvPr id="16" name="Rectangle 15"/>
          <p:cNvSpPr/>
          <p:nvPr/>
        </p:nvSpPr>
        <p:spPr>
          <a:xfrm>
            <a:off x="5454000" y="3888000"/>
            <a:ext cx="4554000" cy="1584000"/>
          </a:xfrm>
          <a:prstGeom prst="rect">
            <a:avLst/>
          </a:prstGeom>
          <a:solidFill>
            <a:srgbClr val="131A30"/>
          </a:solidFill>
          <a:ln w="6350">
            <a:solidFill>
              <a:srgbClr val="4A453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706000" y="4104000"/>
            <a:ext cx="360000" cy="360000"/>
          </a:xfrm>
          <a:prstGeom prst="rect">
            <a:avLst/>
          </a:prstGeom>
          <a:noFill/>
        </p:spPr>
        <p:txBody>
          <a:bodyPr wrap="square" anchor="t" lIns="0" rIns="0" tIns="0" bIns="0">
            <a:spAutoFit/>
          </a:bodyPr>
          <a:lstStyle/>
          <a:p>
            <a:pPr algn="l">
              <a:lnSpc>
                <a:spcPct val="125000"/>
              </a:lnSpc>
            </a:pPr>
            <a:r>
              <a:rPr sz="1400" b="0">
                <a:solidFill>
                  <a:srgbClr val="E2C88A"/>
                </a:solidFill>
                <a:latin typeface="Garamond"/>
                <a:ea typeface="游明朝"/>
              </a:rPr>
              <a:t>Ⅳ</a:t>
            </a:r>
          </a:p>
        </p:txBody>
      </p:sp>
      <p:sp>
        <p:nvSpPr>
          <p:cNvPr id="18" name="TextBox 17"/>
          <p:cNvSpPr txBox="1"/>
          <p:nvPr/>
        </p:nvSpPr>
        <p:spPr>
          <a:xfrm>
            <a:off x="6138000" y="4104000"/>
            <a:ext cx="3618000" cy="1152000"/>
          </a:xfrm>
          <a:prstGeom prst="rect">
            <a:avLst/>
          </a:prstGeom>
          <a:noFill/>
        </p:spPr>
        <p:txBody>
          <a:bodyPr wrap="square" anchor="t" lIns="0" rIns="0" tIns="0" bIns="0">
            <a:spAutoFit/>
          </a:bodyPr>
          <a:lstStyle/>
          <a:p>
            <a:pPr algn="l">
              <a:lnSpc>
                <a:spcPct val="125000"/>
              </a:lnSpc>
              <a:spcAft>
                <a:spcPts val="300"/>
              </a:spcAft>
            </a:pPr>
            <a:r>
              <a:rPr sz="1150" b="1">
                <a:solidFill>
                  <a:srgbClr val="FFFFFF"/>
                </a:solidFill>
                <a:latin typeface="Garamond"/>
                <a:ea typeface="游明朝"/>
              </a:rPr>
              <a:t>集客コストの上昇</a:t>
            </a:r>
          </a:p>
          <a:p>
            <a:pPr algn="l">
              <a:lnSpc>
                <a:spcPct val="140000"/>
              </a:lnSpc>
            </a:pPr>
            <a:r>
              <a:rPr sz="850" b="0">
                <a:solidFill>
                  <a:srgbClr val="B9BFCC"/>
                </a:solidFill>
                <a:latin typeface="Yu Gothic"/>
                <a:ea typeface="游ゴシック"/>
              </a:rPr>
              <a:t>媒体掲載費・スカウト課金・広告費は上昇傾向にあり、決定単価の高いハイクラス領域でも、集客コストが利益を圧迫し始めています。</a:t>
            </a:r>
          </a:p>
        </p:txBody>
      </p:sp>
      <p:sp>
        <p:nvSpPr>
          <p:cNvPr id="19" name="TextBox 18"/>
          <p:cNvSpPr txBox="1"/>
          <p:nvPr/>
        </p:nvSpPr>
        <p:spPr>
          <a:xfrm>
            <a:off x="684000" y="5760000"/>
            <a:ext cx="9324000" cy="216000"/>
          </a:xfrm>
          <a:prstGeom prst="rect">
            <a:avLst/>
          </a:prstGeom>
          <a:noFill/>
        </p:spPr>
        <p:txBody>
          <a:bodyPr wrap="square" anchor="t" lIns="0" rIns="0" tIns="0" bIns="0">
            <a:spAutoFit/>
          </a:bodyPr>
          <a:lstStyle/>
          <a:p>
            <a:pPr algn="l">
              <a:lnSpc>
                <a:spcPct val="125000"/>
              </a:lnSpc>
            </a:pPr>
            <a:r>
              <a:rPr sz="750" b="0">
                <a:solidFill>
                  <a:srgbClr val="8E96A8"/>
                </a:solidFill>
                <a:latin typeface="Yu Gothic"/>
                <a:ea typeface="游ゴシック"/>
              </a:rPr>
              <a:t>※ 本ページは業界環境に関する当社の課題認識を整理したものです。</a:t>
            </a:r>
          </a:p>
        </p:txBody>
      </p:sp>
      <p:sp>
        <p:nvSpPr>
          <p:cNvPr id="20" name="TextBox 19"/>
          <p:cNvSpPr txBox="1"/>
          <p:nvPr/>
        </p:nvSpPr>
        <p:spPr>
          <a:xfrm>
            <a:off x="684000" y="7182000"/>
            <a:ext cx="7200000" cy="216000"/>
          </a:xfrm>
          <a:prstGeom prst="rect">
            <a:avLst/>
          </a:prstGeom>
          <a:noFill/>
        </p:spPr>
        <p:txBody>
          <a:bodyPr wrap="square" anchor="t" lIns="0" rIns="0" tIns="0" bIns="0">
            <a:spAutoFit/>
          </a:bodyPr>
          <a:lstStyle/>
          <a:p>
            <a:pPr algn="l">
              <a:lnSpc>
                <a:spcPct val="125000"/>
              </a:lnSpc>
            </a:pPr>
            <a:r>
              <a:rPr sz="900" b="1">
                <a:solidFill>
                  <a:srgbClr val="E2C88A"/>
                </a:solidFill>
                <a:latin typeface="Garamond"/>
                <a:ea typeface="游明朝"/>
              </a:rPr>
              <a:t>MarkGate</a:t>
            </a:r>
            <a:r>
              <a:rPr sz="700" b="0">
                <a:solidFill>
                  <a:srgbClr val="8E96A8"/>
                </a:solidFill>
                <a:latin typeface="Yu Gothic"/>
                <a:ea typeface="游ゴシック"/>
              </a:rPr>
              <a:t>　人材紹介エージェント様向けご提案資料</a:t>
            </a:r>
          </a:p>
        </p:txBody>
      </p:sp>
      <p:sp>
        <p:nvSpPr>
          <p:cNvPr id="21" name="TextBox 20"/>
          <p:cNvSpPr txBox="1"/>
          <p:nvPr/>
        </p:nvSpPr>
        <p:spPr>
          <a:xfrm>
            <a:off x="9000000" y="7182000"/>
            <a:ext cx="1008000" cy="216000"/>
          </a:xfrm>
          <a:prstGeom prst="rect">
            <a:avLst/>
          </a:prstGeom>
          <a:noFill/>
        </p:spPr>
        <p:txBody>
          <a:bodyPr wrap="square" anchor="t" lIns="0" rIns="0" tIns="0" bIns="0">
            <a:spAutoFit/>
          </a:bodyPr>
          <a:lstStyle/>
          <a:p>
            <a:pPr algn="r">
              <a:lnSpc>
                <a:spcPct val="125000"/>
              </a:lnSpc>
            </a:pPr>
            <a:r>
              <a:rPr sz="900" b="0" spc="100">
                <a:solidFill>
                  <a:srgbClr val="8E96A8"/>
                </a:solidFill>
                <a:latin typeface="Garamond"/>
                <a:ea typeface="游明朝"/>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92000" cy="7560000"/>
          </a:xfrm>
          <a:prstGeom prst="rect">
            <a:avLst/>
          </a:prstGeom>
          <a:solidFill>
            <a:srgbClr val="F8F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84000" y="432000"/>
            <a:ext cx="720000" cy="360000"/>
          </a:xfrm>
          <a:prstGeom prst="rect">
            <a:avLst/>
          </a:prstGeom>
          <a:noFill/>
        </p:spPr>
        <p:txBody>
          <a:bodyPr wrap="square" anchor="t" lIns="0" rIns="0" tIns="0" bIns="0">
            <a:spAutoFit/>
          </a:bodyPr>
          <a:lstStyle/>
          <a:p>
            <a:pPr algn="l">
              <a:lnSpc>
                <a:spcPct val="125000"/>
              </a:lnSpc>
            </a:pPr>
            <a:r>
              <a:rPr sz="1700" b="0">
                <a:solidFill>
                  <a:srgbClr val="C6A15B"/>
                </a:solidFill>
                <a:latin typeface="Garamond"/>
                <a:ea typeface="游明朝"/>
              </a:rPr>
              <a:t>03</a:t>
            </a:r>
          </a:p>
        </p:txBody>
      </p:sp>
      <p:sp>
        <p:nvSpPr>
          <p:cNvPr id="4" name="TextBox 3"/>
          <p:cNvSpPr txBox="1"/>
          <p:nvPr/>
        </p:nvSpPr>
        <p:spPr>
          <a:xfrm>
            <a:off x="1188000" y="547200"/>
            <a:ext cx="7200000" cy="216000"/>
          </a:xfrm>
          <a:prstGeom prst="rect">
            <a:avLst/>
          </a:prstGeom>
          <a:noFill/>
        </p:spPr>
        <p:txBody>
          <a:bodyPr wrap="square" anchor="t" lIns="0" rIns="0" tIns="0" bIns="0">
            <a:spAutoFit/>
          </a:bodyPr>
          <a:lstStyle/>
          <a:p>
            <a:pPr algn="l">
              <a:lnSpc>
                <a:spcPct val="125000"/>
              </a:lnSpc>
            </a:pPr>
            <a:r>
              <a:rPr sz="750" b="0" spc="300">
                <a:solidFill>
                  <a:srgbClr val="7A6030"/>
                </a:solidFill>
                <a:latin typeface="Yu Gothic"/>
                <a:ea typeface="游ゴシック"/>
              </a:rPr>
              <a:t>PARADIGM SHIFT</a:t>
            </a:r>
          </a:p>
        </p:txBody>
      </p:sp>
      <p:sp>
        <p:nvSpPr>
          <p:cNvPr id="5" name="TextBox 4"/>
          <p:cNvSpPr txBox="1"/>
          <p:nvPr/>
        </p:nvSpPr>
        <p:spPr>
          <a:xfrm>
            <a:off x="684000" y="792000"/>
            <a:ext cx="9324000" cy="432000"/>
          </a:xfrm>
          <a:prstGeom prst="rect">
            <a:avLst/>
          </a:prstGeom>
          <a:noFill/>
        </p:spPr>
        <p:txBody>
          <a:bodyPr wrap="square" anchor="t" lIns="0" rIns="0" tIns="0" bIns="0">
            <a:spAutoFit/>
          </a:bodyPr>
          <a:lstStyle/>
          <a:p>
            <a:pPr algn="l">
              <a:lnSpc>
                <a:spcPct val="120000"/>
              </a:lnSpc>
            </a:pPr>
            <a:r>
              <a:rPr sz="2200" b="1">
                <a:solidFill>
                  <a:srgbClr val="1A1D29"/>
                </a:solidFill>
                <a:latin typeface="Garamond"/>
                <a:ea typeface="游明朝"/>
              </a:rPr>
              <a:t>「探して、送る」から、</a:t>
            </a:r>
            <a:r>
              <a:rPr sz="2200" b="1">
                <a:solidFill>
                  <a:srgbClr val="7A6030"/>
                </a:solidFill>
                <a:latin typeface="Garamond"/>
                <a:ea typeface="游明朝"/>
              </a:rPr>
              <a:t>「選ばれて、届く」</a:t>
            </a:r>
            <a:r>
              <a:rPr sz="2200" b="1">
                <a:solidFill>
                  <a:srgbClr val="1A1D29"/>
                </a:solidFill>
                <a:latin typeface="Garamond"/>
                <a:ea typeface="游明朝"/>
              </a:rPr>
              <a:t>へ。</a:t>
            </a:r>
          </a:p>
        </p:txBody>
      </p:sp>
      <p:sp>
        <p:nvSpPr>
          <p:cNvPr id="6" name="Rectangle 5"/>
          <p:cNvSpPr/>
          <p:nvPr/>
        </p:nvSpPr>
        <p:spPr>
          <a:xfrm>
            <a:off x="684000" y="1296000"/>
            <a:ext cx="504000" cy="252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4000" y="1728000"/>
            <a:ext cx="4284000" cy="3312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5724000" y="1728000"/>
            <a:ext cx="4284000" cy="3312000"/>
          </a:xfrm>
          <a:prstGeom prst="rect">
            <a:avLst/>
          </a:prstGeom>
          <a:solidFill>
            <a:srgbClr val="FDF9F0"/>
          </a:solidFill>
          <a:ln w="12700">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040000" y="1728000"/>
            <a:ext cx="612000" cy="3312000"/>
          </a:xfrm>
          <a:prstGeom prst="rect">
            <a:avLst/>
          </a:prstGeom>
          <a:noFill/>
        </p:spPr>
        <p:txBody>
          <a:bodyPr wrap="square" anchor="ctr" lIns="0" rIns="0" tIns="0" bIns="0">
            <a:spAutoFit/>
          </a:bodyPr>
          <a:lstStyle/>
          <a:p>
            <a:pPr algn="ctr">
              <a:lnSpc>
                <a:spcPct val="125000"/>
              </a:lnSpc>
            </a:pPr>
            <a:r>
              <a:rPr sz="2000" b="0">
                <a:solidFill>
                  <a:srgbClr val="C6A15B"/>
                </a:solidFill>
                <a:latin typeface="Garamond"/>
                <a:ea typeface="游明朝"/>
              </a:rPr>
              <a:t>→</a:t>
            </a:r>
          </a:p>
        </p:txBody>
      </p:sp>
      <p:sp>
        <p:nvSpPr>
          <p:cNvPr id="10" name="Rectangle 9"/>
          <p:cNvSpPr/>
          <p:nvPr/>
        </p:nvSpPr>
        <p:spPr>
          <a:xfrm>
            <a:off x="936000" y="1944000"/>
            <a:ext cx="1080000" cy="230400"/>
          </a:xfrm>
          <a:prstGeom prst="rect">
            <a:avLst/>
          </a:prstGeom>
          <a:solidFill>
            <a:srgbClr val="F1ED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36000" y="1998000"/>
            <a:ext cx="1080000" cy="144000"/>
          </a:xfrm>
          <a:prstGeom prst="rect">
            <a:avLst/>
          </a:prstGeom>
          <a:noFill/>
        </p:spPr>
        <p:txBody>
          <a:bodyPr wrap="square" anchor="t" lIns="0" rIns="0" tIns="0" bIns="0">
            <a:spAutoFit/>
          </a:bodyPr>
          <a:lstStyle/>
          <a:p>
            <a:pPr algn="ctr">
              <a:lnSpc>
                <a:spcPct val="125000"/>
              </a:lnSpc>
            </a:pPr>
            <a:r>
              <a:rPr sz="700" b="0" spc="150">
                <a:solidFill>
                  <a:srgbClr val="5F6672"/>
                </a:solidFill>
                <a:latin typeface="Yu Gothic"/>
                <a:ea typeface="游ゴシック"/>
              </a:rPr>
              <a:t>従来のスカウト型</a:t>
            </a:r>
          </a:p>
        </p:txBody>
      </p:sp>
      <p:sp>
        <p:nvSpPr>
          <p:cNvPr id="12" name="TextBox 11"/>
          <p:cNvSpPr txBox="1"/>
          <p:nvPr/>
        </p:nvSpPr>
        <p:spPr>
          <a:xfrm>
            <a:off x="936000" y="2268000"/>
            <a:ext cx="3780000" cy="288000"/>
          </a:xfrm>
          <a:prstGeom prst="rect">
            <a:avLst/>
          </a:prstGeom>
          <a:noFill/>
        </p:spPr>
        <p:txBody>
          <a:bodyPr wrap="square" anchor="t" lIns="0" rIns="0" tIns="0" bIns="0">
            <a:spAutoFit/>
          </a:bodyPr>
          <a:lstStyle/>
          <a:p>
            <a:pPr algn="l">
              <a:lnSpc>
                <a:spcPct val="125000"/>
              </a:lnSpc>
            </a:pPr>
            <a:r>
              <a:rPr sz="1300" b="1">
                <a:solidFill>
                  <a:srgbClr val="1A1D29"/>
                </a:solidFill>
                <a:latin typeface="Garamond"/>
                <a:ea typeface="游明朝"/>
              </a:rPr>
              <a:t>エージェントが、求職者を探す</a:t>
            </a:r>
          </a:p>
        </p:txBody>
      </p:sp>
      <p:sp>
        <p:nvSpPr>
          <p:cNvPr id="13" name="Rectangle 12"/>
          <p:cNvSpPr/>
          <p:nvPr/>
        </p:nvSpPr>
        <p:spPr>
          <a:xfrm>
            <a:off x="936000" y="2628000"/>
            <a:ext cx="1195200" cy="306000"/>
          </a:xfrm>
          <a:prstGeom prst="rect">
            <a:avLst/>
          </a:prstGeom>
          <a:solidFill>
            <a:srgbClr val="F8F6F1"/>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36000" y="2671200"/>
            <a:ext cx="1195200" cy="216000"/>
          </a:xfrm>
          <a:prstGeom prst="rect">
            <a:avLst/>
          </a:prstGeom>
          <a:noFill/>
        </p:spPr>
        <p:txBody>
          <a:bodyPr wrap="square" anchor="t" lIns="0" rIns="0" tIns="0" bIns="0">
            <a:spAutoFit/>
          </a:bodyPr>
          <a:lstStyle/>
          <a:p>
            <a:pPr algn="ctr">
              <a:lnSpc>
                <a:spcPct val="125000"/>
              </a:lnSpc>
            </a:pPr>
            <a:r>
              <a:rPr sz="850" b="0">
                <a:solidFill>
                  <a:srgbClr val="1A1D29"/>
                </a:solidFill>
                <a:latin typeface="Yu Gothic"/>
                <a:ea typeface="游ゴシック"/>
              </a:rPr>
              <a:t>アドバイザー</a:t>
            </a:r>
          </a:p>
        </p:txBody>
      </p:sp>
      <p:sp>
        <p:nvSpPr>
          <p:cNvPr id="15" name="TextBox 14"/>
          <p:cNvSpPr txBox="1"/>
          <p:nvPr/>
        </p:nvSpPr>
        <p:spPr>
          <a:xfrm>
            <a:off x="2167200" y="2678400"/>
            <a:ext cx="216000" cy="216000"/>
          </a:xfrm>
          <a:prstGeom prst="rect">
            <a:avLst/>
          </a:prstGeom>
          <a:noFill/>
        </p:spPr>
        <p:txBody>
          <a:bodyPr wrap="square" anchor="t" lIns="0" rIns="0" tIns="0" bIns="0">
            <a:spAutoFit/>
          </a:bodyPr>
          <a:lstStyle/>
          <a:p>
            <a:pPr algn="l">
              <a:lnSpc>
                <a:spcPct val="125000"/>
              </a:lnSpc>
            </a:pPr>
            <a:r>
              <a:rPr sz="900" b="0">
                <a:solidFill>
                  <a:srgbClr val="7A6030"/>
                </a:solidFill>
                <a:latin typeface="Yu Gothic"/>
                <a:ea typeface="游ゴシック"/>
              </a:rPr>
              <a:t>→</a:t>
            </a:r>
          </a:p>
        </p:txBody>
      </p:sp>
      <p:sp>
        <p:nvSpPr>
          <p:cNvPr id="16" name="Rectangle 15"/>
          <p:cNvSpPr/>
          <p:nvPr/>
        </p:nvSpPr>
        <p:spPr>
          <a:xfrm>
            <a:off x="2383200" y="2628000"/>
            <a:ext cx="1195200" cy="306000"/>
          </a:xfrm>
          <a:prstGeom prst="rect">
            <a:avLst/>
          </a:prstGeom>
          <a:solidFill>
            <a:srgbClr val="F8F6F1"/>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383200" y="2671200"/>
            <a:ext cx="1195200" cy="216000"/>
          </a:xfrm>
          <a:prstGeom prst="rect">
            <a:avLst/>
          </a:prstGeom>
          <a:noFill/>
        </p:spPr>
        <p:txBody>
          <a:bodyPr wrap="square" anchor="t" lIns="0" rIns="0" tIns="0" bIns="0">
            <a:spAutoFit/>
          </a:bodyPr>
          <a:lstStyle/>
          <a:p>
            <a:pPr algn="ctr">
              <a:lnSpc>
                <a:spcPct val="125000"/>
              </a:lnSpc>
            </a:pPr>
            <a:r>
              <a:rPr sz="850" b="0">
                <a:solidFill>
                  <a:srgbClr val="1A1D29"/>
                </a:solidFill>
                <a:latin typeface="Yu Gothic"/>
                <a:ea typeface="游ゴシック"/>
              </a:rPr>
              <a:t>スカウト送信</a:t>
            </a:r>
          </a:p>
        </p:txBody>
      </p:sp>
      <p:sp>
        <p:nvSpPr>
          <p:cNvPr id="18" name="TextBox 17"/>
          <p:cNvSpPr txBox="1"/>
          <p:nvPr/>
        </p:nvSpPr>
        <p:spPr>
          <a:xfrm>
            <a:off x="3614400" y="2678400"/>
            <a:ext cx="216000" cy="216000"/>
          </a:xfrm>
          <a:prstGeom prst="rect">
            <a:avLst/>
          </a:prstGeom>
          <a:noFill/>
        </p:spPr>
        <p:txBody>
          <a:bodyPr wrap="square" anchor="t" lIns="0" rIns="0" tIns="0" bIns="0">
            <a:spAutoFit/>
          </a:bodyPr>
          <a:lstStyle/>
          <a:p>
            <a:pPr algn="l">
              <a:lnSpc>
                <a:spcPct val="125000"/>
              </a:lnSpc>
            </a:pPr>
            <a:r>
              <a:rPr sz="900" b="0">
                <a:solidFill>
                  <a:srgbClr val="7A6030"/>
                </a:solidFill>
                <a:latin typeface="Yu Gothic"/>
                <a:ea typeface="游ゴシック"/>
              </a:rPr>
              <a:t>→</a:t>
            </a:r>
          </a:p>
        </p:txBody>
      </p:sp>
      <p:sp>
        <p:nvSpPr>
          <p:cNvPr id="19" name="Rectangle 18"/>
          <p:cNvSpPr/>
          <p:nvPr/>
        </p:nvSpPr>
        <p:spPr>
          <a:xfrm>
            <a:off x="3830400" y="2628000"/>
            <a:ext cx="741600" cy="306000"/>
          </a:xfrm>
          <a:prstGeom prst="rect">
            <a:avLst/>
          </a:prstGeom>
          <a:solidFill>
            <a:srgbClr val="F8F6F1"/>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830400" y="2671200"/>
            <a:ext cx="741600" cy="216000"/>
          </a:xfrm>
          <a:prstGeom prst="rect">
            <a:avLst/>
          </a:prstGeom>
          <a:noFill/>
        </p:spPr>
        <p:txBody>
          <a:bodyPr wrap="square" anchor="t" lIns="0" rIns="0" tIns="0" bIns="0">
            <a:spAutoFit/>
          </a:bodyPr>
          <a:lstStyle/>
          <a:p>
            <a:pPr algn="ctr">
              <a:lnSpc>
                <a:spcPct val="125000"/>
              </a:lnSpc>
            </a:pPr>
            <a:r>
              <a:rPr sz="850" b="0">
                <a:solidFill>
                  <a:srgbClr val="1A1D29"/>
                </a:solidFill>
                <a:latin typeface="Yu Gothic"/>
                <a:ea typeface="游ゴシック"/>
              </a:rPr>
              <a:t>求職者</a:t>
            </a:r>
          </a:p>
        </p:txBody>
      </p:sp>
      <p:sp>
        <p:nvSpPr>
          <p:cNvPr id="21" name="TextBox 20"/>
          <p:cNvSpPr txBox="1"/>
          <p:nvPr/>
        </p:nvSpPr>
        <p:spPr>
          <a:xfrm>
            <a:off x="936000" y="3060000"/>
            <a:ext cx="3780000" cy="504000"/>
          </a:xfrm>
          <a:prstGeom prst="rect">
            <a:avLst/>
          </a:prstGeom>
          <a:noFill/>
        </p:spPr>
        <p:txBody>
          <a:bodyPr wrap="square" anchor="t" lIns="0" rIns="0" tIns="0" bIns="0">
            <a:spAutoFit/>
          </a:bodyPr>
          <a:lstStyle/>
          <a:p>
            <a:pPr algn="l">
              <a:lnSpc>
                <a:spcPct val="140000"/>
              </a:lnSpc>
            </a:pPr>
            <a:r>
              <a:rPr sz="850" b="0">
                <a:solidFill>
                  <a:srgbClr val="3A3F4D"/>
                </a:solidFill>
                <a:latin typeface="Yu Gothic"/>
                <a:ea typeface="游ゴシック"/>
              </a:rPr>
              <a:t>送信の「量」が接点を左右するプッシュ型。返信率に左右され、面談開始時点の温度感も読みにくい構造です。</a:t>
            </a:r>
          </a:p>
        </p:txBody>
      </p:sp>
      <p:sp>
        <p:nvSpPr>
          <p:cNvPr id="22" name="TextBox 21"/>
          <p:cNvSpPr txBox="1"/>
          <p:nvPr/>
        </p:nvSpPr>
        <p:spPr>
          <a:xfrm>
            <a:off x="936000" y="3708000"/>
            <a:ext cx="3780000" cy="1080000"/>
          </a:xfrm>
          <a:prstGeom prst="rect">
            <a:avLst/>
          </a:prstGeom>
          <a:noFill/>
        </p:spPr>
        <p:txBody>
          <a:bodyPr wrap="square" anchor="t" lIns="0" rIns="0" tIns="0" bIns="0">
            <a:spAutoFit/>
          </a:bodyPr>
          <a:lstStyle/>
          <a:p>
            <a:pPr algn="l">
              <a:lnSpc>
                <a:spcPct val="150000"/>
              </a:lnSpc>
            </a:pPr>
            <a:r>
              <a:rPr sz="850" b="0">
                <a:solidFill>
                  <a:srgbClr val="5F6672"/>
                </a:solidFill>
                <a:latin typeface="Yu Gothic"/>
                <a:ea typeface="游ゴシック"/>
              </a:rPr>
              <a:t>－ </a:t>
            </a:r>
            <a:r>
              <a:rPr sz="850" b="0">
                <a:solidFill>
                  <a:srgbClr val="3A3F4D"/>
                </a:solidFill>
                <a:latin typeface="Yu Gothic"/>
                <a:ea typeface="游ゴシック"/>
              </a:rPr>
              <a:t>大量送信・文面作成の工数が常時発生</a:t>
            </a:r>
          </a:p>
          <a:p>
            <a:pPr algn="l">
              <a:lnSpc>
                <a:spcPct val="150000"/>
              </a:lnSpc>
            </a:pPr>
            <a:r>
              <a:rPr sz="850" b="0">
                <a:solidFill>
                  <a:srgbClr val="5F6672"/>
                </a:solidFill>
                <a:latin typeface="Yu Gothic"/>
                <a:ea typeface="游ゴシック"/>
              </a:rPr>
              <a:t>－ </a:t>
            </a:r>
            <a:r>
              <a:rPr sz="850" b="0">
                <a:solidFill>
                  <a:srgbClr val="3A3F4D"/>
                </a:solidFill>
                <a:latin typeface="Yu Gothic"/>
                <a:ea typeface="游ゴシック"/>
              </a:rPr>
              <a:t>候補者は比較検討前で、温度感が低いことも</a:t>
            </a:r>
          </a:p>
          <a:p>
            <a:pPr algn="l">
              <a:lnSpc>
                <a:spcPct val="150000"/>
              </a:lnSpc>
            </a:pPr>
            <a:r>
              <a:rPr sz="850" b="0">
                <a:solidFill>
                  <a:srgbClr val="5F6672"/>
                </a:solidFill>
                <a:latin typeface="Yu Gothic"/>
                <a:ea typeface="游ゴシック"/>
              </a:rPr>
              <a:t>－ </a:t>
            </a:r>
            <a:r>
              <a:rPr sz="850" b="0">
                <a:solidFill>
                  <a:srgbClr val="3A3F4D"/>
                </a:solidFill>
                <a:latin typeface="Yu Gothic"/>
                <a:ea typeface="游ゴシック"/>
              </a:rPr>
              <a:t>成果が送信量と媒体費に依存</a:t>
            </a:r>
          </a:p>
        </p:txBody>
      </p:sp>
      <p:sp>
        <p:nvSpPr>
          <p:cNvPr id="23" name="Rectangle 22"/>
          <p:cNvSpPr/>
          <p:nvPr/>
        </p:nvSpPr>
        <p:spPr>
          <a:xfrm>
            <a:off x="5976000" y="1944000"/>
            <a:ext cx="1224000" cy="2304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976000" y="1998000"/>
            <a:ext cx="1224000" cy="144000"/>
          </a:xfrm>
          <a:prstGeom prst="rect">
            <a:avLst/>
          </a:prstGeom>
          <a:noFill/>
        </p:spPr>
        <p:txBody>
          <a:bodyPr wrap="square" anchor="t" lIns="0" rIns="0" tIns="0" bIns="0">
            <a:spAutoFit/>
          </a:bodyPr>
          <a:lstStyle/>
          <a:p>
            <a:pPr algn="ctr">
              <a:lnSpc>
                <a:spcPct val="125000"/>
              </a:lnSpc>
            </a:pPr>
            <a:r>
              <a:rPr sz="700" b="0" spc="150">
                <a:solidFill>
                  <a:srgbClr val="E2C88A"/>
                </a:solidFill>
                <a:latin typeface="Yu Gothic"/>
                <a:ea typeface="游ゴシック"/>
              </a:rPr>
              <a:t>MarkGateの指名型</a:t>
            </a:r>
          </a:p>
        </p:txBody>
      </p:sp>
      <p:sp>
        <p:nvSpPr>
          <p:cNvPr id="25" name="TextBox 24"/>
          <p:cNvSpPr txBox="1"/>
          <p:nvPr/>
        </p:nvSpPr>
        <p:spPr>
          <a:xfrm>
            <a:off x="5976000" y="2268000"/>
            <a:ext cx="3780000" cy="288000"/>
          </a:xfrm>
          <a:prstGeom prst="rect">
            <a:avLst/>
          </a:prstGeom>
          <a:noFill/>
        </p:spPr>
        <p:txBody>
          <a:bodyPr wrap="square" anchor="t" lIns="0" rIns="0" tIns="0" bIns="0">
            <a:spAutoFit/>
          </a:bodyPr>
          <a:lstStyle/>
          <a:p>
            <a:pPr algn="l">
              <a:lnSpc>
                <a:spcPct val="125000"/>
              </a:lnSpc>
            </a:pPr>
            <a:r>
              <a:rPr sz="1300" b="1">
                <a:solidFill>
                  <a:srgbClr val="1A1D29"/>
                </a:solidFill>
                <a:latin typeface="Garamond"/>
                <a:ea typeface="游明朝"/>
              </a:rPr>
              <a:t>求職者が、アドバイザーを選ぶ</a:t>
            </a:r>
          </a:p>
        </p:txBody>
      </p:sp>
      <p:sp>
        <p:nvSpPr>
          <p:cNvPr id="26" name="Rectangle 25"/>
          <p:cNvSpPr/>
          <p:nvPr/>
        </p:nvSpPr>
        <p:spPr>
          <a:xfrm>
            <a:off x="5976000" y="2628000"/>
            <a:ext cx="741600" cy="306000"/>
          </a:xfrm>
          <a:prstGeom prst="rect">
            <a:avLst/>
          </a:prstGeom>
          <a:solidFill>
            <a:srgbClr val="F8F6F1"/>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976000" y="2671200"/>
            <a:ext cx="741600" cy="216000"/>
          </a:xfrm>
          <a:prstGeom prst="rect">
            <a:avLst/>
          </a:prstGeom>
          <a:noFill/>
        </p:spPr>
        <p:txBody>
          <a:bodyPr wrap="square" anchor="t" lIns="0" rIns="0" tIns="0" bIns="0">
            <a:spAutoFit/>
          </a:bodyPr>
          <a:lstStyle/>
          <a:p>
            <a:pPr algn="ctr">
              <a:lnSpc>
                <a:spcPct val="125000"/>
              </a:lnSpc>
            </a:pPr>
            <a:r>
              <a:rPr sz="850" b="0">
                <a:solidFill>
                  <a:srgbClr val="1A1D29"/>
                </a:solidFill>
                <a:latin typeface="Yu Gothic"/>
                <a:ea typeface="游ゴシック"/>
              </a:rPr>
              <a:t>求職者</a:t>
            </a:r>
          </a:p>
        </p:txBody>
      </p:sp>
      <p:sp>
        <p:nvSpPr>
          <p:cNvPr id="28" name="TextBox 27"/>
          <p:cNvSpPr txBox="1"/>
          <p:nvPr/>
        </p:nvSpPr>
        <p:spPr>
          <a:xfrm>
            <a:off x="6753600" y="2678400"/>
            <a:ext cx="216000" cy="216000"/>
          </a:xfrm>
          <a:prstGeom prst="rect">
            <a:avLst/>
          </a:prstGeom>
          <a:noFill/>
        </p:spPr>
        <p:txBody>
          <a:bodyPr wrap="square" anchor="t" lIns="0" rIns="0" tIns="0" bIns="0">
            <a:spAutoFit/>
          </a:bodyPr>
          <a:lstStyle/>
          <a:p>
            <a:pPr algn="l">
              <a:lnSpc>
                <a:spcPct val="125000"/>
              </a:lnSpc>
            </a:pPr>
            <a:r>
              <a:rPr sz="900" b="0">
                <a:solidFill>
                  <a:srgbClr val="7A6030"/>
                </a:solidFill>
                <a:latin typeface="Yu Gothic"/>
                <a:ea typeface="游ゴシック"/>
              </a:rPr>
              <a:t>→</a:t>
            </a:r>
          </a:p>
        </p:txBody>
      </p:sp>
      <p:sp>
        <p:nvSpPr>
          <p:cNvPr id="29" name="Rectangle 28"/>
          <p:cNvSpPr/>
          <p:nvPr/>
        </p:nvSpPr>
        <p:spPr>
          <a:xfrm>
            <a:off x="6969600" y="2628000"/>
            <a:ext cx="1497600" cy="306000"/>
          </a:xfrm>
          <a:prstGeom prst="rect">
            <a:avLst/>
          </a:prstGeom>
          <a:solidFill>
            <a:srgbClr val="0A0E1A"/>
          </a:solidFill>
          <a:ln w="6350">
            <a:solidFill>
              <a:srgbClr val="0A0E1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969600" y="2671200"/>
            <a:ext cx="1497600" cy="216000"/>
          </a:xfrm>
          <a:prstGeom prst="rect">
            <a:avLst/>
          </a:prstGeom>
          <a:noFill/>
        </p:spPr>
        <p:txBody>
          <a:bodyPr wrap="square" anchor="t" lIns="0" rIns="0" tIns="0" bIns="0">
            <a:spAutoFit/>
          </a:bodyPr>
          <a:lstStyle/>
          <a:p>
            <a:pPr algn="ctr">
              <a:lnSpc>
                <a:spcPct val="125000"/>
              </a:lnSpc>
            </a:pPr>
            <a:r>
              <a:rPr sz="850" b="0">
                <a:solidFill>
                  <a:srgbClr val="E2C88A"/>
                </a:solidFill>
                <a:latin typeface="Garamond"/>
                <a:ea typeface="游明朝"/>
              </a:rPr>
              <a:t>MarkGate</a:t>
            </a:r>
          </a:p>
        </p:txBody>
      </p:sp>
      <p:sp>
        <p:nvSpPr>
          <p:cNvPr id="31" name="TextBox 30"/>
          <p:cNvSpPr txBox="1"/>
          <p:nvPr/>
        </p:nvSpPr>
        <p:spPr>
          <a:xfrm>
            <a:off x="8503200" y="2678400"/>
            <a:ext cx="216000" cy="216000"/>
          </a:xfrm>
          <a:prstGeom prst="rect">
            <a:avLst/>
          </a:prstGeom>
          <a:noFill/>
        </p:spPr>
        <p:txBody>
          <a:bodyPr wrap="square" anchor="t" lIns="0" rIns="0" tIns="0" bIns="0">
            <a:spAutoFit/>
          </a:bodyPr>
          <a:lstStyle/>
          <a:p>
            <a:pPr algn="l">
              <a:lnSpc>
                <a:spcPct val="125000"/>
              </a:lnSpc>
            </a:pPr>
            <a:r>
              <a:rPr sz="900" b="0">
                <a:solidFill>
                  <a:srgbClr val="7A6030"/>
                </a:solidFill>
                <a:latin typeface="Yu Gothic"/>
                <a:ea typeface="游ゴシック"/>
              </a:rPr>
              <a:t>→</a:t>
            </a:r>
          </a:p>
        </p:txBody>
      </p:sp>
      <p:sp>
        <p:nvSpPr>
          <p:cNvPr id="32" name="Rectangle 31"/>
          <p:cNvSpPr/>
          <p:nvPr/>
        </p:nvSpPr>
        <p:spPr>
          <a:xfrm>
            <a:off x="8719200" y="2628000"/>
            <a:ext cx="1044000" cy="306000"/>
          </a:xfrm>
          <a:prstGeom prst="rect">
            <a:avLst/>
          </a:prstGeom>
          <a:solidFill>
            <a:srgbClr val="F8F6F1"/>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719200" y="2671200"/>
            <a:ext cx="1044000" cy="216000"/>
          </a:xfrm>
          <a:prstGeom prst="rect">
            <a:avLst/>
          </a:prstGeom>
          <a:noFill/>
        </p:spPr>
        <p:txBody>
          <a:bodyPr wrap="square" anchor="t" lIns="0" rIns="0" tIns="0" bIns="0">
            <a:spAutoFit/>
          </a:bodyPr>
          <a:lstStyle/>
          <a:p>
            <a:pPr algn="ctr">
              <a:lnSpc>
                <a:spcPct val="125000"/>
              </a:lnSpc>
            </a:pPr>
            <a:r>
              <a:rPr sz="850" b="0">
                <a:solidFill>
                  <a:srgbClr val="1A1D29"/>
                </a:solidFill>
                <a:latin typeface="Yu Gothic"/>
                <a:ea typeface="游ゴシック"/>
              </a:rPr>
              <a:t>指名が届く</a:t>
            </a:r>
          </a:p>
        </p:txBody>
      </p:sp>
      <p:sp>
        <p:nvSpPr>
          <p:cNvPr id="34" name="TextBox 33"/>
          <p:cNvSpPr txBox="1"/>
          <p:nvPr/>
        </p:nvSpPr>
        <p:spPr>
          <a:xfrm>
            <a:off x="5976000" y="3060000"/>
            <a:ext cx="3780000" cy="504000"/>
          </a:xfrm>
          <a:prstGeom prst="rect">
            <a:avLst/>
          </a:prstGeom>
          <a:noFill/>
        </p:spPr>
        <p:txBody>
          <a:bodyPr wrap="square" anchor="t" lIns="0" rIns="0" tIns="0" bIns="0">
            <a:spAutoFit/>
          </a:bodyPr>
          <a:lstStyle/>
          <a:p>
            <a:pPr algn="l">
              <a:lnSpc>
                <a:spcPct val="140000"/>
              </a:lnSpc>
            </a:pPr>
            <a:r>
              <a:rPr sz="850" b="0">
                <a:solidFill>
                  <a:srgbClr val="3A3F4D"/>
                </a:solidFill>
                <a:latin typeface="Yu Gothic"/>
                <a:ea typeface="游ゴシック"/>
              </a:rPr>
              <a:t>求職者が実績・専門領域を比較したうえで指名するプル型。「あなたに任せたい」という状態から支援が始まります。</a:t>
            </a:r>
          </a:p>
        </p:txBody>
      </p:sp>
      <p:sp>
        <p:nvSpPr>
          <p:cNvPr id="35" name="TextBox 34"/>
          <p:cNvSpPr txBox="1"/>
          <p:nvPr/>
        </p:nvSpPr>
        <p:spPr>
          <a:xfrm>
            <a:off x="5976000" y="3708000"/>
            <a:ext cx="3780000" cy="1152000"/>
          </a:xfrm>
          <a:prstGeom prst="rect">
            <a:avLst/>
          </a:prstGeom>
          <a:noFill/>
        </p:spPr>
        <p:txBody>
          <a:bodyPr wrap="square" anchor="t" lIns="0" rIns="0" tIns="0" bIns="0">
            <a:spAutoFit/>
          </a:bodyPr>
          <a:lstStyle/>
          <a:p>
            <a:pPr algn="l">
              <a:lnSpc>
                <a:spcPct val="150000"/>
              </a:lnSpc>
            </a:pPr>
            <a:r>
              <a:rPr sz="850" b="0">
                <a:solidFill>
                  <a:srgbClr val="7A6030"/>
                </a:solidFill>
                <a:latin typeface="Yu Gothic"/>
                <a:ea typeface="游ゴシック"/>
              </a:rPr>
              <a:t>－ </a:t>
            </a:r>
            <a:r>
              <a:rPr sz="850" b="0">
                <a:solidFill>
                  <a:srgbClr val="3A3F4D"/>
                </a:solidFill>
                <a:latin typeface="Yu Gothic"/>
                <a:ea typeface="游ゴシック"/>
              </a:rPr>
              <a:t>指名＝比較検討を終えた、温度感の高い接点</a:t>
            </a:r>
          </a:p>
          <a:p>
            <a:pPr algn="l">
              <a:lnSpc>
                <a:spcPct val="150000"/>
              </a:lnSpc>
            </a:pPr>
            <a:r>
              <a:rPr sz="850" b="0">
                <a:solidFill>
                  <a:srgbClr val="7A6030"/>
                </a:solidFill>
                <a:latin typeface="Yu Gothic"/>
                <a:ea typeface="游ゴシック"/>
              </a:rPr>
              <a:t>－ </a:t>
            </a:r>
            <a:r>
              <a:rPr sz="850" b="0">
                <a:solidFill>
                  <a:srgbClr val="3A3F4D"/>
                </a:solidFill>
                <a:latin typeface="Yu Gothic"/>
                <a:ea typeface="游ゴシック"/>
              </a:rPr>
              <a:t>プロフィールが、貴社エースの常設の窓口として機能する設計</a:t>
            </a:r>
          </a:p>
          <a:p>
            <a:pPr algn="l">
              <a:lnSpc>
                <a:spcPct val="150000"/>
              </a:lnSpc>
            </a:pPr>
            <a:r>
              <a:rPr sz="850" b="0">
                <a:solidFill>
                  <a:srgbClr val="7A6030"/>
                </a:solidFill>
                <a:latin typeface="Yu Gothic"/>
                <a:ea typeface="游ゴシック"/>
              </a:rPr>
              <a:t>－ </a:t>
            </a:r>
            <a:r>
              <a:rPr sz="850" b="0">
                <a:solidFill>
                  <a:srgbClr val="3A3F4D"/>
                </a:solidFill>
                <a:latin typeface="Yu Gothic"/>
                <a:ea typeface="游ゴシック"/>
              </a:rPr>
              <a:t>実力と専門性が、そのまま機会に変わる</a:t>
            </a:r>
          </a:p>
        </p:txBody>
      </p:sp>
      <p:sp>
        <p:nvSpPr>
          <p:cNvPr id="36" name="TextBox 35"/>
          <p:cNvSpPr txBox="1"/>
          <p:nvPr/>
        </p:nvSpPr>
        <p:spPr>
          <a:xfrm>
            <a:off x="684000" y="7182000"/>
            <a:ext cx="7200000" cy="216000"/>
          </a:xfrm>
          <a:prstGeom prst="rect">
            <a:avLst/>
          </a:prstGeom>
          <a:noFill/>
        </p:spPr>
        <p:txBody>
          <a:bodyPr wrap="square" anchor="t" lIns="0" rIns="0" tIns="0" bIns="0">
            <a:spAutoFit/>
          </a:bodyPr>
          <a:lstStyle/>
          <a:p>
            <a:pPr algn="l">
              <a:lnSpc>
                <a:spcPct val="125000"/>
              </a:lnSpc>
            </a:pPr>
            <a:r>
              <a:rPr sz="900" b="1">
                <a:solidFill>
                  <a:srgbClr val="7A6030"/>
                </a:solidFill>
                <a:latin typeface="Garamond"/>
                <a:ea typeface="游明朝"/>
              </a:rPr>
              <a:t>MarkGate</a:t>
            </a:r>
            <a:r>
              <a:rPr sz="700" b="0">
                <a:solidFill>
                  <a:srgbClr val="5F6672"/>
                </a:solidFill>
                <a:latin typeface="Yu Gothic"/>
                <a:ea typeface="游ゴシック"/>
              </a:rPr>
              <a:t>　人材紹介エージェント様向けご提案資料</a:t>
            </a:r>
          </a:p>
        </p:txBody>
      </p:sp>
      <p:sp>
        <p:nvSpPr>
          <p:cNvPr id="37" name="TextBox 36"/>
          <p:cNvSpPr txBox="1"/>
          <p:nvPr/>
        </p:nvSpPr>
        <p:spPr>
          <a:xfrm>
            <a:off x="9000000" y="7182000"/>
            <a:ext cx="1008000" cy="216000"/>
          </a:xfrm>
          <a:prstGeom prst="rect">
            <a:avLst/>
          </a:prstGeom>
          <a:noFill/>
        </p:spPr>
        <p:txBody>
          <a:bodyPr wrap="square" anchor="t" lIns="0" rIns="0" tIns="0" bIns="0">
            <a:spAutoFit/>
          </a:bodyPr>
          <a:lstStyle/>
          <a:p>
            <a:pPr algn="r">
              <a:lnSpc>
                <a:spcPct val="125000"/>
              </a:lnSpc>
            </a:pPr>
            <a:r>
              <a:rPr sz="900" b="0" spc="100">
                <a:solidFill>
                  <a:srgbClr val="5F6672"/>
                </a:solidFill>
                <a:latin typeface="Garamond"/>
                <a:ea typeface="游明朝"/>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92000" cy="7560000"/>
          </a:xfrm>
          <a:prstGeom prst="rect">
            <a:avLst/>
          </a:prstGeom>
          <a:solidFill>
            <a:srgbClr val="F8F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84000" y="432000"/>
            <a:ext cx="720000" cy="360000"/>
          </a:xfrm>
          <a:prstGeom prst="rect">
            <a:avLst/>
          </a:prstGeom>
          <a:noFill/>
        </p:spPr>
        <p:txBody>
          <a:bodyPr wrap="square" anchor="t" lIns="0" rIns="0" tIns="0" bIns="0">
            <a:spAutoFit/>
          </a:bodyPr>
          <a:lstStyle/>
          <a:p>
            <a:pPr algn="l">
              <a:lnSpc>
                <a:spcPct val="125000"/>
              </a:lnSpc>
            </a:pPr>
            <a:r>
              <a:rPr sz="1700" b="0">
                <a:solidFill>
                  <a:srgbClr val="C6A15B"/>
                </a:solidFill>
                <a:latin typeface="Garamond"/>
                <a:ea typeface="游明朝"/>
              </a:rPr>
              <a:t>04</a:t>
            </a:r>
          </a:p>
        </p:txBody>
      </p:sp>
      <p:sp>
        <p:nvSpPr>
          <p:cNvPr id="4" name="TextBox 3"/>
          <p:cNvSpPr txBox="1"/>
          <p:nvPr/>
        </p:nvSpPr>
        <p:spPr>
          <a:xfrm>
            <a:off x="1188000" y="547200"/>
            <a:ext cx="7200000" cy="216000"/>
          </a:xfrm>
          <a:prstGeom prst="rect">
            <a:avLst/>
          </a:prstGeom>
          <a:noFill/>
        </p:spPr>
        <p:txBody>
          <a:bodyPr wrap="square" anchor="t" lIns="0" rIns="0" tIns="0" bIns="0">
            <a:spAutoFit/>
          </a:bodyPr>
          <a:lstStyle/>
          <a:p>
            <a:pPr algn="l">
              <a:lnSpc>
                <a:spcPct val="125000"/>
              </a:lnSpc>
            </a:pPr>
            <a:r>
              <a:rPr sz="750" b="0" spc="300">
                <a:solidFill>
                  <a:srgbClr val="7A6030"/>
                </a:solidFill>
                <a:latin typeface="Yu Gothic"/>
                <a:ea typeface="游ゴシック"/>
              </a:rPr>
              <a:t>ABOUT MARKGATE</a:t>
            </a:r>
          </a:p>
        </p:txBody>
      </p:sp>
      <p:sp>
        <p:nvSpPr>
          <p:cNvPr id="5" name="TextBox 4"/>
          <p:cNvSpPr txBox="1"/>
          <p:nvPr/>
        </p:nvSpPr>
        <p:spPr>
          <a:xfrm>
            <a:off x="684000" y="792000"/>
            <a:ext cx="9324000" cy="432000"/>
          </a:xfrm>
          <a:prstGeom prst="rect">
            <a:avLst/>
          </a:prstGeom>
          <a:noFill/>
        </p:spPr>
        <p:txBody>
          <a:bodyPr wrap="square" anchor="t" lIns="0" rIns="0" tIns="0" bIns="0">
            <a:spAutoFit/>
          </a:bodyPr>
          <a:lstStyle/>
          <a:p>
            <a:pPr algn="l">
              <a:lnSpc>
                <a:spcPct val="120000"/>
              </a:lnSpc>
            </a:pPr>
            <a:r>
              <a:rPr sz="2200" b="1">
                <a:solidFill>
                  <a:srgbClr val="1A1D29"/>
                </a:solidFill>
                <a:latin typeface="Garamond"/>
                <a:ea typeface="游明朝"/>
              </a:rPr>
              <a:t>MarkGateとは。</a:t>
            </a:r>
          </a:p>
        </p:txBody>
      </p:sp>
      <p:sp>
        <p:nvSpPr>
          <p:cNvPr id="6" name="TextBox 5"/>
          <p:cNvSpPr txBox="1"/>
          <p:nvPr/>
        </p:nvSpPr>
        <p:spPr>
          <a:xfrm>
            <a:off x="684000" y="1260000"/>
            <a:ext cx="9000000" cy="360000"/>
          </a:xfrm>
          <a:prstGeom prst="rect">
            <a:avLst/>
          </a:prstGeom>
          <a:noFill/>
        </p:spPr>
        <p:txBody>
          <a:bodyPr wrap="square" anchor="t" lIns="0" rIns="0" tIns="0" bIns="0">
            <a:spAutoFit/>
          </a:bodyPr>
          <a:lstStyle/>
          <a:p>
            <a:pPr algn="l">
              <a:lnSpc>
                <a:spcPct val="140000"/>
              </a:lnSpc>
            </a:pPr>
            <a:r>
              <a:rPr sz="1000" b="0">
                <a:solidFill>
                  <a:srgbClr val="3A3F4D"/>
                </a:solidFill>
                <a:latin typeface="Yu Gothic"/>
                <a:ea typeface="游ゴシック"/>
              </a:rPr>
              <a:t>各人材紹介エージェントの実績トップクラスのキャリアアドバイザーだけが集う、ハイクラス層のための転職プラットフォームです。</a:t>
            </a:r>
          </a:p>
        </p:txBody>
      </p:sp>
      <p:sp>
        <p:nvSpPr>
          <p:cNvPr id="7" name="Rectangle 6"/>
          <p:cNvSpPr/>
          <p:nvPr/>
        </p:nvSpPr>
        <p:spPr>
          <a:xfrm>
            <a:off x="684000" y="1656000"/>
            <a:ext cx="504000" cy="252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84000" y="1980000"/>
            <a:ext cx="2962800" cy="2664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936000" y="4600800"/>
            <a:ext cx="2458800" cy="28800"/>
          </a:xfrm>
          <a:prstGeom prst="rect">
            <a:avLst/>
          </a:prstGeom>
          <a:solidFill>
            <a:srgbClr val="E2C8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36000" y="2196000"/>
            <a:ext cx="2458800" cy="2232000"/>
          </a:xfrm>
          <a:prstGeom prst="rect">
            <a:avLst/>
          </a:prstGeom>
          <a:noFill/>
        </p:spPr>
        <p:txBody>
          <a:bodyPr wrap="square" anchor="t" lIns="0" rIns="0" tIns="0" bIns="0">
            <a:spAutoFit/>
          </a:bodyPr>
          <a:lstStyle/>
          <a:p>
            <a:pPr algn="l">
              <a:lnSpc>
                <a:spcPct val="125000"/>
              </a:lnSpc>
              <a:spcAft>
                <a:spcPts val="400"/>
              </a:spcAft>
            </a:pPr>
            <a:r>
              <a:rPr sz="1500" b="0">
                <a:solidFill>
                  <a:srgbClr val="C6A15B"/>
                </a:solidFill>
                <a:latin typeface="Garamond"/>
                <a:ea typeface="游明朝"/>
              </a:rPr>
              <a:t>01</a:t>
            </a:r>
          </a:p>
          <a:p>
            <a:pPr algn="l">
              <a:lnSpc>
                <a:spcPct val="130000"/>
              </a:lnSpc>
            </a:pPr>
            <a:r>
              <a:rPr sz="1200" b="1">
                <a:solidFill>
                  <a:srgbClr val="1A1D29"/>
                </a:solidFill>
                <a:latin typeface="Garamond"/>
                <a:ea typeface="游明朝"/>
              </a:rPr>
              <a:t>トップアドバイザー限定</a:t>
            </a:r>
          </a:p>
          <a:p>
            <a:pPr algn="l">
              <a:lnSpc>
                <a:spcPct val="130000"/>
              </a:lnSpc>
            </a:pPr>
            <a:r>
              <a:rPr sz="1200" b="1">
                <a:solidFill>
                  <a:srgbClr val="1A1D29"/>
                </a:solidFill>
                <a:latin typeface="Garamond"/>
                <a:ea typeface="游明朝"/>
              </a:rPr>
              <a:t>（審査制）</a:t>
            </a:r>
          </a:p>
          <a:p>
            <a:pPr algn="l">
              <a:lnSpc>
                <a:spcPct val="145000"/>
              </a:lnSpc>
              <a:spcBef>
                <a:spcPts val="500"/>
              </a:spcBef>
            </a:pPr>
            <a:r>
              <a:rPr sz="850" b="0">
                <a:solidFill>
                  <a:srgbClr val="3A3F4D"/>
                </a:solidFill>
                <a:latin typeface="Yu Gothic"/>
                <a:ea typeface="游ゴシック"/>
              </a:rPr>
              <a:t>各エージェントの実績上位者のみが、経歴・成約実績・専門性を基準とした独自審査を通過して登録。一定水準のアドバイザーだけが集う環境を担保します。</a:t>
            </a:r>
          </a:p>
        </p:txBody>
      </p:sp>
      <p:sp>
        <p:nvSpPr>
          <p:cNvPr id="11" name="Rectangle 10"/>
          <p:cNvSpPr/>
          <p:nvPr/>
        </p:nvSpPr>
        <p:spPr>
          <a:xfrm>
            <a:off x="3862800" y="1980000"/>
            <a:ext cx="2962800" cy="2664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114800" y="4600800"/>
            <a:ext cx="2458800" cy="28800"/>
          </a:xfrm>
          <a:prstGeom prst="rect">
            <a:avLst/>
          </a:prstGeom>
          <a:solidFill>
            <a:srgbClr val="E2C8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114800" y="2196000"/>
            <a:ext cx="2458800" cy="2232000"/>
          </a:xfrm>
          <a:prstGeom prst="rect">
            <a:avLst/>
          </a:prstGeom>
          <a:noFill/>
        </p:spPr>
        <p:txBody>
          <a:bodyPr wrap="square" anchor="t" lIns="0" rIns="0" tIns="0" bIns="0">
            <a:spAutoFit/>
          </a:bodyPr>
          <a:lstStyle/>
          <a:p>
            <a:pPr algn="l">
              <a:lnSpc>
                <a:spcPct val="125000"/>
              </a:lnSpc>
              <a:spcAft>
                <a:spcPts val="400"/>
              </a:spcAft>
            </a:pPr>
            <a:r>
              <a:rPr sz="1500" b="0">
                <a:solidFill>
                  <a:srgbClr val="C6A15B"/>
                </a:solidFill>
                <a:latin typeface="Garamond"/>
                <a:ea typeface="游明朝"/>
              </a:rPr>
              <a:t>02</a:t>
            </a:r>
          </a:p>
          <a:p>
            <a:pPr algn="l">
              <a:lnSpc>
                <a:spcPct val="130000"/>
              </a:lnSpc>
            </a:pPr>
            <a:r>
              <a:rPr sz="1200" b="1">
                <a:solidFill>
                  <a:srgbClr val="1A1D29"/>
                </a:solidFill>
                <a:latin typeface="Garamond"/>
                <a:ea typeface="游明朝"/>
              </a:rPr>
              <a:t>ハイクラス・</a:t>
            </a:r>
          </a:p>
          <a:p>
            <a:pPr algn="l">
              <a:lnSpc>
                <a:spcPct val="130000"/>
              </a:lnSpc>
            </a:pPr>
            <a:r>
              <a:rPr sz="1200" b="1">
                <a:solidFill>
                  <a:srgbClr val="1A1D29"/>
                </a:solidFill>
                <a:latin typeface="Garamond"/>
                <a:ea typeface="游明朝"/>
              </a:rPr>
              <a:t>エグゼクティブ特化</a:t>
            </a:r>
          </a:p>
          <a:p>
            <a:pPr algn="l">
              <a:lnSpc>
                <a:spcPct val="145000"/>
              </a:lnSpc>
              <a:spcBef>
                <a:spcPts val="500"/>
              </a:spcBef>
            </a:pPr>
            <a:r>
              <a:rPr sz="850" b="0">
                <a:solidFill>
                  <a:srgbClr val="3A3F4D"/>
                </a:solidFill>
                <a:latin typeface="Yu Gothic"/>
                <a:ea typeface="游ゴシック"/>
              </a:rPr>
              <a:t>経営幹部・管理職・高度専門職、年収800万円以上のハイクラス層に特化。決定単価の高い領域に絞った、質の高いマッチングの場です。</a:t>
            </a:r>
          </a:p>
        </p:txBody>
      </p:sp>
      <p:sp>
        <p:nvSpPr>
          <p:cNvPr id="14" name="Rectangle 13"/>
          <p:cNvSpPr/>
          <p:nvPr/>
        </p:nvSpPr>
        <p:spPr>
          <a:xfrm>
            <a:off x="7041600" y="1980000"/>
            <a:ext cx="2962800" cy="2664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7293600" y="4600800"/>
            <a:ext cx="2458800" cy="28800"/>
          </a:xfrm>
          <a:prstGeom prst="rect">
            <a:avLst/>
          </a:prstGeom>
          <a:solidFill>
            <a:srgbClr val="E2C8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293600" y="2196000"/>
            <a:ext cx="2458800" cy="2232000"/>
          </a:xfrm>
          <a:prstGeom prst="rect">
            <a:avLst/>
          </a:prstGeom>
          <a:noFill/>
        </p:spPr>
        <p:txBody>
          <a:bodyPr wrap="square" anchor="t" lIns="0" rIns="0" tIns="0" bIns="0">
            <a:spAutoFit/>
          </a:bodyPr>
          <a:lstStyle/>
          <a:p>
            <a:pPr algn="l">
              <a:lnSpc>
                <a:spcPct val="125000"/>
              </a:lnSpc>
              <a:spcAft>
                <a:spcPts val="400"/>
              </a:spcAft>
            </a:pPr>
            <a:r>
              <a:rPr sz="1500" b="0">
                <a:solidFill>
                  <a:srgbClr val="C6A15B"/>
                </a:solidFill>
                <a:latin typeface="Garamond"/>
                <a:ea typeface="游明朝"/>
              </a:rPr>
              <a:t>03</a:t>
            </a:r>
          </a:p>
          <a:p>
            <a:pPr algn="l">
              <a:lnSpc>
                <a:spcPct val="130000"/>
              </a:lnSpc>
            </a:pPr>
            <a:r>
              <a:rPr sz="1200" b="1">
                <a:solidFill>
                  <a:srgbClr val="1A1D29"/>
                </a:solidFill>
                <a:latin typeface="Garamond"/>
                <a:ea typeface="游明朝"/>
              </a:rPr>
              <a:t>アドバイザーを</a:t>
            </a:r>
          </a:p>
          <a:p>
            <a:pPr algn="l">
              <a:lnSpc>
                <a:spcPct val="130000"/>
              </a:lnSpc>
            </a:pPr>
            <a:r>
              <a:rPr sz="1200" b="1">
                <a:solidFill>
                  <a:srgbClr val="1A1D29"/>
                </a:solidFill>
                <a:latin typeface="Garamond"/>
                <a:ea typeface="游明朝"/>
              </a:rPr>
              <a:t>“選べる・指名できる”</a:t>
            </a:r>
          </a:p>
          <a:p>
            <a:pPr algn="l">
              <a:lnSpc>
                <a:spcPct val="145000"/>
              </a:lnSpc>
              <a:spcBef>
                <a:spcPts val="500"/>
              </a:spcBef>
            </a:pPr>
            <a:r>
              <a:rPr sz="850" b="0">
                <a:solidFill>
                  <a:srgbClr val="3A3F4D"/>
                </a:solidFill>
                <a:latin typeface="Yu Gothic"/>
                <a:ea typeface="游ゴシック"/>
              </a:rPr>
              <a:t>求職者はアドバイザーの専門領域・実績・支援スタンスを比較し、自分に最適な伴走者を指名。指名はアドバイザーへ直接届きます。</a:t>
            </a:r>
          </a:p>
        </p:txBody>
      </p:sp>
      <p:sp>
        <p:nvSpPr>
          <p:cNvPr id="17" name="Rectangle 16"/>
          <p:cNvSpPr/>
          <p:nvPr/>
        </p:nvSpPr>
        <p:spPr>
          <a:xfrm>
            <a:off x="684000" y="4896000"/>
            <a:ext cx="9324000" cy="792000"/>
          </a:xfrm>
          <a:prstGeom prst="rect">
            <a:avLst/>
          </a:prstGeom>
          <a:solidFill>
            <a:srgbClr val="F1ED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84000" y="4896000"/>
            <a:ext cx="43200" cy="792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72000" y="4896000"/>
            <a:ext cx="8820000" cy="792000"/>
          </a:xfrm>
          <a:prstGeom prst="rect">
            <a:avLst/>
          </a:prstGeom>
          <a:noFill/>
        </p:spPr>
        <p:txBody>
          <a:bodyPr wrap="square" anchor="ctr" lIns="0" rIns="0" tIns="0" bIns="0">
            <a:spAutoFit/>
          </a:bodyPr>
          <a:lstStyle/>
          <a:p>
            <a:pPr algn="l">
              <a:lnSpc>
                <a:spcPct val="150000"/>
              </a:lnSpc>
            </a:pPr>
            <a:r>
              <a:rPr sz="1150" b="0">
                <a:solidFill>
                  <a:srgbClr val="1A1D29"/>
                </a:solidFill>
                <a:latin typeface="Garamond"/>
                <a:ea typeface="游明朝"/>
              </a:rPr>
              <a:t>“</a:t>
            </a:r>
            <a:r>
              <a:rPr sz="1150" b="1">
                <a:solidFill>
                  <a:srgbClr val="7A6030"/>
                </a:solidFill>
                <a:latin typeface="Garamond"/>
                <a:ea typeface="游明朝"/>
              </a:rPr>
              <a:t>Mark</a:t>
            </a:r>
            <a:r>
              <a:rPr sz="1150" b="0">
                <a:solidFill>
                  <a:srgbClr val="1A1D29"/>
                </a:solidFill>
                <a:latin typeface="Garamond"/>
                <a:ea typeface="游明朝"/>
              </a:rPr>
              <a:t>（一流の証）”を持つ者だけが立つ、キャリアの“</a:t>
            </a:r>
            <a:r>
              <a:rPr sz="1150" b="1">
                <a:solidFill>
                  <a:srgbClr val="7A6030"/>
                </a:solidFill>
                <a:latin typeface="Garamond"/>
                <a:ea typeface="游明朝"/>
              </a:rPr>
              <a:t>Gate</a:t>
            </a:r>
            <a:r>
              <a:rPr sz="1150" b="0">
                <a:solidFill>
                  <a:srgbClr val="1A1D29"/>
                </a:solidFill>
                <a:latin typeface="Garamond"/>
                <a:ea typeface="游明朝"/>
              </a:rPr>
              <a:t>（門）”。</a:t>
            </a:r>
          </a:p>
          <a:p>
            <a:pPr algn="l">
              <a:lnSpc>
                <a:spcPct val="150000"/>
              </a:lnSpc>
            </a:pPr>
            <a:r>
              <a:rPr sz="1150" b="0">
                <a:solidFill>
                  <a:srgbClr val="1A1D29"/>
                </a:solidFill>
                <a:latin typeface="Garamond"/>
                <a:ea typeface="游明朝"/>
              </a:rPr>
              <a:t>—— 私たちは、実力あるアドバイザーが正当に選ばれる市場をつくります。</a:t>
            </a:r>
          </a:p>
        </p:txBody>
      </p:sp>
      <p:sp>
        <p:nvSpPr>
          <p:cNvPr id="20" name="TextBox 19"/>
          <p:cNvSpPr txBox="1"/>
          <p:nvPr/>
        </p:nvSpPr>
        <p:spPr>
          <a:xfrm>
            <a:off x="684000" y="7182000"/>
            <a:ext cx="7200000" cy="216000"/>
          </a:xfrm>
          <a:prstGeom prst="rect">
            <a:avLst/>
          </a:prstGeom>
          <a:noFill/>
        </p:spPr>
        <p:txBody>
          <a:bodyPr wrap="square" anchor="t" lIns="0" rIns="0" tIns="0" bIns="0">
            <a:spAutoFit/>
          </a:bodyPr>
          <a:lstStyle/>
          <a:p>
            <a:pPr algn="l">
              <a:lnSpc>
                <a:spcPct val="125000"/>
              </a:lnSpc>
            </a:pPr>
            <a:r>
              <a:rPr sz="900" b="1">
                <a:solidFill>
                  <a:srgbClr val="7A6030"/>
                </a:solidFill>
                <a:latin typeface="Garamond"/>
                <a:ea typeface="游明朝"/>
              </a:rPr>
              <a:t>MarkGate</a:t>
            </a:r>
            <a:r>
              <a:rPr sz="700" b="0">
                <a:solidFill>
                  <a:srgbClr val="5F6672"/>
                </a:solidFill>
                <a:latin typeface="Yu Gothic"/>
                <a:ea typeface="游ゴシック"/>
              </a:rPr>
              <a:t>　人材紹介エージェント様向けご提案資料</a:t>
            </a:r>
          </a:p>
        </p:txBody>
      </p:sp>
      <p:sp>
        <p:nvSpPr>
          <p:cNvPr id="21" name="TextBox 20"/>
          <p:cNvSpPr txBox="1"/>
          <p:nvPr/>
        </p:nvSpPr>
        <p:spPr>
          <a:xfrm>
            <a:off x="9000000" y="7182000"/>
            <a:ext cx="1008000" cy="216000"/>
          </a:xfrm>
          <a:prstGeom prst="rect">
            <a:avLst/>
          </a:prstGeom>
          <a:noFill/>
        </p:spPr>
        <p:txBody>
          <a:bodyPr wrap="square" anchor="t" lIns="0" rIns="0" tIns="0" bIns="0">
            <a:spAutoFit/>
          </a:bodyPr>
          <a:lstStyle/>
          <a:p>
            <a:pPr algn="r">
              <a:lnSpc>
                <a:spcPct val="125000"/>
              </a:lnSpc>
            </a:pPr>
            <a:r>
              <a:rPr sz="900" b="0" spc="100">
                <a:solidFill>
                  <a:srgbClr val="5F6672"/>
                </a:solidFill>
                <a:latin typeface="Garamond"/>
                <a:ea typeface="游明朝"/>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92000" cy="7560000"/>
          </a:xfrm>
          <a:prstGeom prst="rect">
            <a:avLst/>
          </a:prstGeom>
          <a:solidFill>
            <a:srgbClr val="F8F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84000" y="432000"/>
            <a:ext cx="720000" cy="360000"/>
          </a:xfrm>
          <a:prstGeom prst="rect">
            <a:avLst/>
          </a:prstGeom>
          <a:noFill/>
        </p:spPr>
        <p:txBody>
          <a:bodyPr wrap="square" anchor="t" lIns="0" rIns="0" tIns="0" bIns="0">
            <a:spAutoFit/>
          </a:bodyPr>
          <a:lstStyle/>
          <a:p>
            <a:pPr algn="l">
              <a:lnSpc>
                <a:spcPct val="125000"/>
              </a:lnSpc>
            </a:pPr>
            <a:r>
              <a:rPr sz="1700" b="0">
                <a:solidFill>
                  <a:srgbClr val="C6A15B"/>
                </a:solidFill>
                <a:latin typeface="Garamond"/>
                <a:ea typeface="游明朝"/>
              </a:rPr>
              <a:t>05</a:t>
            </a:r>
          </a:p>
        </p:txBody>
      </p:sp>
      <p:sp>
        <p:nvSpPr>
          <p:cNvPr id="4" name="TextBox 3"/>
          <p:cNvSpPr txBox="1"/>
          <p:nvPr/>
        </p:nvSpPr>
        <p:spPr>
          <a:xfrm>
            <a:off x="1188000" y="547200"/>
            <a:ext cx="7200000" cy="216000"/>
          </a:xfrm>
          <a:prstGeom prst="rect">
            <a:avLst/>
          </a:prstGeom>
          <a:noFill/>
        </p:spPr>
        <p:txBody>
          <a:bodyPr wrap="square" anchor="t" lIns="0" rIns="0" tIns="0" bIns="0">
            <a:spAutoFit/>
          </a:bodyPr>
          <a:lstStyle/>
          <a:p>
            <a:pPr algn="l">
              <a:lnSpc>
                <a:spcPct val="125000"/>
              </a:lnSpc>
            </a:pPr>
            <a:r>
              <a:rPr sz="750" b="0" spc="300">
                <a:solidFill>
                  <a:srgbClr val="7A6030"/>
                </a:solidFill>
                <a:latin typeface="Yu Gothic"/>
                <a:ea typeface="游ゴシック"/>
              </a:rPr>
              <a:t>HOW IT WORKS</a:t>
            </a:r>
          </a:p>
        </p:txBody>
      </p:sp>
      <p:sp>
        <p:nvSpPr>
          <p:cNvPr id="5" name="TextBox 4"/>
          <p:cNvSpPr txBox="1"/>
          <p:nvPr/>
        </p:nvSpPr>
        <p:spPr>
          <a:xfrm>
            <a:off x="684000" y="792000"/>
            <a:ext cx="9324000" cy="432000"/>
          </a:xfrm>
          <a:prstGeom prst="rect">
            <a:avLst/>
          </a:prstGeom>
          <a:noFill/>
        </p:spPr>
        <p:txBody>
          <a:bodyPr wrap="square" anchor="t" lIns="0" rIns="0" tIns="0" bIns="0">
            <a:spAutoFit/>
          </a:bodyPr>
          <a:lstStyle/>
          <a:p>
            <a:pPr algn="l">
              <a:lnSpc>
                <a:spcPct val="120000"/>
              </a:lnSpc>
            </a:pPr>
            <a:r>
              <a:rPr sz="2200" b="1">
                <a:solidFill>
                  <a:srgbClr val="1A1D29"/>
                </a:solidFill>
                <a:latin typeface="Garamond"/>
                <a:ea typeface="游明朝"/>
              </a:rPr>
              <a:t>サービスの仕組み。</a:t>
            </a:r>
          </a:p>
        </p:txBody>
      </p:sp>
      <p:sp>
        <p:nvSpPr>
          <p:cNvPr id="6" name="Rectangle 5"/>
          <p:cNvSpPr/>
          <p:nvPr/>
        </p:nvSpPr>
        <p:spPr>
          <a:xfrm>
            <a:off x="684000" y="1296000"/>
            <a:ext cx="504000" cy="252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4000" y="1584000"/>
            <a:ext cx="1080000" cy="2304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4000" y="1638000"/>
            <a:ext cx="1080000" cy="144000"/>
          </a:xfrm>
          <a:prstGeom prst="rect">
            <a:avLst/>
          </a:prstGeom>
          <a:noFill/>
        </p:spPr>
        <p:txBody>
          <a:bodyPr wrap="square" anchor="t" lIns="0" rIns="0" tIns="0" bIns="0">
            <a:spAutoFit/>
          </a:bodyPr>
          <a:lstStyle/>
          <a:p>
            <a:pPr algn="ctr">
              <a:lnSpc>
                <a:spcPct val="125000"/>
              </a:lnSpc>
            </a:pPr>
            <a:r>
              <a:rPr sz="700" b="0" spc="150">
                <a:solidFill>
                  <a:srgbClr val="E2C88A"/>
                </a:solidFill>
                <a:latin typeface="Yu Gothic"/>
                <a:ea typeface="游ゴシック"/>
              </a:rPr>
              <a:t>求職者の動き</a:t>
            </a:r>
          </a:p>
        </p:txBody>
      </p:sp>
      <p:sp>
        <p:nvSpPr>
          <p:cNvPr id="9" name="Rectangle 8"/>
          <p:cNvSpPr/>
          <p:nvPr/>
        </p:nvSpPr>
        <p:spPr>
          <a:xfrm>
            <a:off x="684000" y="1908000"/>
            <a:ext cx="1778400" cy="1080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8000" y="2016000"/>
            <a:ext cx="1490400" cy="864000"/>
          </a:xfrm>
          <a:prstGeom prst="rect">
            <a:avLst/>
          </a:prstGeom>
          <a:noFill/>
        </p:spPr>
        <p:txBody>
          <a:bodyPr wrap="square" anchor="t" lIns="0" rIns="0" tIns="0" bIns="0">
            <a:spAutoFit/>
          </a:bodyPr>
          <a:lstStyle/>
          <a:p>
            <a:pPr algn="l">
              <a:lnSpc>
                <a:spcPct val="125000"/>
              </a:lnSpc>
              <a:spcAft>
                <a:spcPts val="200"/>
              </a:spcAft>
            </a:pPr>
            <a:r>
              <a:rPr sz="750" b="0" spc="100">
                <a:solidFill>
                  <a:srgbClr val="7A6030"/>
                </a:solidFill>
                <a:latin typeface="Garamond"/>
                <a:ea typeface="游明朝"/>
              </a:rPr>
              <a:t>STEP 01</a:t>
            </a:r>
          </a:p>
          <a:p>
            <a:pPr algn="l">
              <a:lnSpc>
                <a:spcPct val="120000"/>
              </a:lnSpc>
              <a:spcAft>
                <a:spcPts val="150"/>
              </a:spcAft>
            </a:pPr>
            <a:r>
              <a:rPr sz="950" b="1">
                <a:solidFill>
                  <a:srgbClr val="1A1D29"/>
                </a:solidFill>
                <a:latin typeface="Garamond"/>
                <a:ea typeface="游明朝"/>
              </a:rPr>
              <a:t>会員登録（審査制）</a:t>
            </a:r>
          </a:p>
          <a:p>
            <a:pPr algn="l">
              <a:lnSpc>
                <a:spcPct val="135000"/>
              </a:lnSpc>
            </a:pPr>
            <a:r>
              <a:rPr sz="720" b="0">
                <a:solidFill>
                  <a:srgbClr val="3A3F4D"/>
                </a:solidFill>
                <a:latin typeface="Yu Gothic"/>
                <a:ea typeface="游ゴシック"/>
              </a:rPr>
              <a:t>ハイクラス特化のため、経歴をもとに審査を実施。</a:t>
            </a:r>
          </a:p>
        </p:txBody>
      </p:sp>
      <p:sp>
        <p:nvSpPr>
          <p:cNvPr id="11" name="TextBox 10"/>
          <p:cNvSpPr txBox="1"/>
          <p:nvPr/>
        </p:nvSpPr>
        <p:spPr>
          <a:xfrm>
            <a:off x="2419200" y="2340000"/>
            <a:ext cx="216000" cy="216000"/>
          </a:xfrm>
          <a:prstGeom prst="rect">
            <a:avLst/>
          </a:prstGeom>
          <a:noFill/>
        </p:spPr>
        <p:txBody>
          <a:bodyPr wrap="square" anchor="t" lIns="0" rIns="0" tIns="0" bIns="0">
            <a:spAutoFit/>
          </a:bodyPr>
          <a:lstStyle/>
          <a:p>
            <a:pPr algn="l">
              <a:lnSpc>
                <a:spcPct val="125000"/>
              </a:lnSpc>
            </a:pPr>
            <a:r>
              <a:rPr sz="1200" b="0">
                <a:solidFill>
                  <a:srgbClr val="C6A15B"/>
                </a:solidFill>
                <a:latin typeface="Yu Gothic"/>
                <a:ea typeface="游ゴシック"/>
              </a:rPr>
              <a:t>›</a:t>
            </a:r>
          </a:p>
        </p:txBody>
      </p:sp>
      <p:sp>
        <p:nvSpPr>
          <p:cNvPr id="12" name="Rectangle 11"/>
          <p:cNvSpPr/>
          <p:nvPr/>
        </p:nvSpPr>
        <p:spPr>
          <a:xfrm>
            <a:off x="2570400" y="1908000"/>
            <a:ext cx="1778400" cy="1080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714400" y="2016000"/>
            <a:ext cx="1490400" cy="864000"/>
          </a:xfrm>
          <a:prstGeom prst="rect">
            <a:avLst/>
          </a:prstGeom>
          <a:noFill/>
        </p:spPr>
        <p:txBody>
          <a:bodyPr wrap="square" anchor="t" lIns="0" rIns="0" tIns="0" bIns="0">
            <a:spAutoFit/>
          </a:bodyPr>
          <a:lstStyle/>
          <a:p>
            <a:pPr algn="l">
              <a:lnSpc>
                <a:spcPct val="125000"/>
              </a:lnSpc>
              <a:spcAft>
                <a:spcPts val="200"/>
              </a:spcAft>
            </a:pPr>
            <a:r>
              <a:rPr sz="750" b="0" spc="100">
                <a:solidFill>
                  <a:srgbClr val="7A6030"/>
                </a:solidFill>
                <a:latin typeface="Garamond"/>
                <a:ea typeface="游明朝"/>
              </a:rPr>
              <a:t>STEP 02</a:t>
            </a:r>
          </a:p>
          <a:p>
            <a:pPr algn="l">
              <a:lnSpc>
                <a:spcPct val="120000"/>
              </a:lnSpc>
              <a:spcAft>
                <a:spcPts val="150"/>
              </a:spcAft>
            </a:pPr>
            <a:r>
              <a:rPr sz="950" b="1">
                <a:solidFill>
                  <a:srgbClr val="1A1D29"/>
                </a:solidFill>
                <a:latin typeface="Garamond"/>
                <a:ea typeface="游明朝"/>
              </a:rPr>
              <a:t>アドバイザーを検索・比較</a:t>
            </a:r>
          </a:p>
          <a:p>
            <a:pPr algn="l">
              <a:lnSpc>
                <a:spcPct val="135000"/>
              </a:lnSpc>
            </a:pPr>
            <a:r>
              <a:rPr sz="720" b="0">
                <a:solidFill>
                  <a:srgbClr val="3A3F4D"/>
                </a:solidFill>
                <a:latin typeface="Yu Gothic"/>
                <a:ea typeface="游ゴシック"/>
              </a:rPr>
              <a:t>業界・職種・対応年収・支援スタンスで絞り込み。</a:t>
            </a:r>
          </a:p>
        </p:txBody>
      </p:sp>
      <p:sp>
        <p:nvSpPr>
          <p:cNvPr id="14" name="TextBox 13"/>
          <p:cNvSpPr txBox="1"/>
          <p:nvPr/>
        </p:nvSpPr>
        <p:spPr>
          <a:xfrm>
            <a:off x="4305600" y="2340000"/>
            <a:ext cx="216000" cy="216000"/>
          </a:xfrm>
          <a:prstGeom prst="rect">
            <a:avLst/>
          </a:prstGeom>
          <a:noFill/>
        </p:spPr>
        <p:txBody>
          <a:bodyPr wrap="square" anchor="t" lIns="0" rIns="0" tIns="0" bIns="0">
            <a:spAutoFit/>
          </a:bodyPr>
          <a:lstStyle/>
          <a:p>
            <a:pPr algn="l">
              <a:lnSpc>
                <a:spcPct val="125000"/>
              </a:lnSpc>
            </a:pPr>
            <a:r>
              <a:rPr sz="1200" b="0">
                <a:solidFill>
                  <a:srgbClr val="C6A15B"/>
                </a:solidFill>
                <a:latin typeface="Yu Gothic"/>
                <a:ea typeface="游ゴシック"/>
              </a:rPr>
              <a:t>›</a:t>
            </a:r>
          </a:p>
        </p:txBody>
      </p:sp>
      <p:sp>
        <p:nvSpPr>
          <p:cNvPr id="15" name="Rectangle 14"/>
          <p:cNvSpPr/>
          <p:nvPr/>
        </p:nvSpPr>
        <p:spPr>
          <a:xfrm>
            <a:off x="4456800" y="1908000"/>
            <a:ext cx="1778400" cy="1080000"/>
          </a:xfrm>
          <a:prstGeom prst="rect">
            <a:avLst/>
          </a:prstGeom>
          <a:solidFill>
            <a:srgbClr val="FBF4E6"/>
          </a:solidFill>
          <a:ln w="9525">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00800" y="2016000"/>
            <a:ext cx="1490400" cy="864000"/>
          </a:xfrm>
          <a:prstGeom prst="rect">
            <a:avLst/>
          </a:prstGeom>
          <a:noFill/>
        </p:spPr>
        <p:txBody>
          <a:bodyPr wrap="square" anchor="t" lIns="0" rIns="0" tIns="0" bIns="0">
            <a:spAutoFit/>
          </a:bodyPr>
          <a:lstStyle/>
          <a:p>
            <a:pPr algn="l">
              <a:lnSpc>
                <a:spcPct val="125000"/>
              </a:lnSpc>
              <a:spcAft>
                <a:spcPts val="200"/>
              </a:spcAft>
            </a:pPr>
            <a:r>
              <a:rPr sz="750" b="0" spc="100">
                <a:solidFill>
                  <a:srgbClr val="7A6030"/>
                </a:solidFill>
                <a:latin typeface="Garamond"/>
                <a:ea typeface="游明朝"/>
              </a:rPr>
              <a:t>STEP 03</a:t>
            </a:r>
          </a:p>
          <a:p>
            <a:pPr algn="l">
              <a:lnSpc>
                <a:spcPct val="120000"/>
              </a:lnSpc>
              <a:spcAft>
                <a:spcPts val="150"/>
              </a:spcAft>
            </a:pPr>
            <a:r>
              <a:rPr sz="950" b="1">
                <a:solidFill>
                  <a:srgbClr val="1A1D29"/>
                </a:solidFill>
                <a:latin typeface="Garamond"/>
                <a:ea typeface="游明朝"/>
              </a:rPr>
              <a:t>“この人”を指名</a:t>
            </a:r>
          </a:p>
          <a:p>
            <a:pPr algn="l">
              <a:lnSpc>
                <a:spcPct val="135000"/>
              </a:lnSpc>
            </a:pPr>
            <a:r>
              <a:rPr sz="720" b="0">
                <a:solidFill>
                  <a:srgbClr val="3A3F4D"/>
                </a:solidFill>
                <a:latin typeface="Yu Gothic"/>
                <a:ea typeface="游ゴシック"/>
              </a:rPr>
              <a:t>実績・専門領域に納得したうえで、指名メッセージを送信。</a:t>
            </a:r>
          </a:p>
        </p:txBody>
      </p:sp>
      <p:sp>
        <p:nvSpPr>
          <p:cNvPr id="17" name="TextBox 16"/>
          <p:cNvSpPr txBox="1"/>
          <p:nvPr/>
        </p:nvSpPr>
        <p:spPr>
          <a:xfrm>
            <a:off x="6192000" y="2340000"/>
            <a:ext cx="216000" cy="216000"/>
          </a:xfrm>
          <a:prstGeom prst="rect">
            <a:avLst/>
          </a:prstGeom>
          <a:noFill/>
        </p:spPr>
        <p:txBody>
          <a:bodyPr wrap="square" anchor="t" lIns="0" rIns="0" tIns="0" bIns="0">
            <a:spAutoFit/>
          </a:bodyPr>
          <a:lstStyle/>
          <a:p>
            <a:pPr algn="l">
              <a:lnSpc>
                <a:spcPct val="125000"/>
              </a:lnSpc>
            </a:pPr>
            <a:r>
              <a:rPr sz="1200" b="0">
                <a:solidFill>
                  <a:srgbClr val="C6A15B"/>
                </a:solidFill>
                <a:latin typeface="Yu Gothic"/>
                <a:ea typeface="游ゴシック"/>
              </a:rPr>
              <a:t>›</a:t>
            </a:r>
          </a:p>
        </p:txBody>
      </p:sp>
      <p:sp>
        <p:nvSpPr>
          <p:cNvPr id="18" name="Rectangle 17"/>
          <p:cNvSpPr/>
          <p:nvPr/>
        </p:nvSpPr>
        <p:spPr>
          <a:xfrm>
            <a:off x="6343200" y="1908000"/>
            <a:ext cx="1778400" cy="1080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87200" y="2016000"/>
            <a:ext cx="1490400" cy="864000"/>
          </a:xfrm>
          <a:prstGeom prst="rect">
            <a:avLst/>
          </a:prstGeom>
          <a:noFill/>
        </p:spPr>
        <p:txBody>
          <a:bodyPr wrap="square" anchor="t" lIns="0" rIns="0" tIns="0" bIns="0">
            <a:spAutoFit/>
          </a:bodyPr>
          <a:lstStyle/>
          <a:p>
            <a:pPr algn="l">
              <a:lnSpc>
                <a:spcPct val="125000"/>
              </a:lnSpc>
              <a:spcAft>
                <a:spcPts val="200"/>
              </a:spcAft>
            </a:pPr>
            <a:r>
              <a:rPr sz="750" b="0" spc="100">
                <a:solidFill>
                  <a:srgbClr val="7A6030"/>
                </a:solidFill>
                <a:latin typeface="Garamond"/>
                <a:ea typeface="游明朝"/>
              </a:rPr>
              <a:t>STEP 04</a:t>
            </a:r>
          </a:p>
          <a:p>
            <a:pPr algn="l">
              <a:lnSpc>
                <a:spcPct val="120000"/>
              </a:lnSpc>
              <a:spcAft>
                <a:spcPts val="150"/>
              </a:spcAft>
            </a:pPr>
            <a:r>
              <a:rPr sz="950" b="1">
                <a:solidFill>
                  <a:srgbClr val="1A1D29"/>
                </a:solidFill>
                <a:latin typeface="Garamond"/>
                <a:ea typeface="游明朝"/>
              </a:rPr>
              <a:t>面談・求人提案</a:t>
            </a:r>
          </a:p>
          <a:p>
            <a:pPr algn="l">
              <a:lnSpc>
                <a:spcPct val="135000"/>
              </a:lnSpc>
            </a:pPr>
            <a:r>
              <a:rPr sz="720" b="0">
                <a:solidFill>
                  <a:srgbClr val="3A3F4D"/>
                </a:solidFill>
                <a:latin typeface="Yu Gothic"/>
                <a:ea typeface="游ゴシック"/>
              </a:rPr>
              <a:t>市場価値の見極めと、上位ポジションの提案。</a:t>
            </a:r>
          </a:p>
        </p:txBody>
      </p:sp>
      <p:sp>
        <p:nvSpPr>
          <p:cNvPr id="20" name="TextBox 19"/>
          <p:cNvSpPr txBox="1"/>
          <p:nvPr/>
        </p:nvSpPr>
        <p:spPr>
          <a:xfrm>
            <a:off x="8078400" y="2340000"/>
            <a:ext cx="216000" cy="216000"/>
          </a:xfrm>
          <a:prstGeom prst="rect">
            <a:avLst/>
          </a:prstGeom>
          <a:noFill/>
        </p:spPr>
        <p:txBody>
          <a:bodyPr wrap="square" anchor="t" lIns="0" rIns="0" tIns="0" bIns="0">
            <a:spAutoFit/>
          </a:bodyPr>
          <a:lstStyle/>
          <a:p>
            <a:pPr algn="l">
              <a:lnSpc>
                <a:spcPct val="125000"/>
              </a:lnSpc>
            </a:pPr>
            <a:r>
              <a:rPr sz="1200" b="0">
                <a:solidFill>
                  <a:srgbClr val="C6A15B"/>
                </a:solidFill>
                <a:latin typeface="Yu Gothic"/>
                <a:ea typeface="游ゴシック"/>
              </a:rPr>
              <a:t>›</a:t>
            </a:r>
          </a:p>
        </p:txBody>
      </p:sp>
      <p:sp>
        <p:nvSpPr>
          <p:cNvPr id="21" name="Rectangle 20"/>
          <p:cNvSpPr/>
          <p:nvPr/>
        </p:nvSpPr>
        <p:spPr>
          <a:xfrm>
            <a:off x="8229600" y="1908000"/>
            <a:ext cx="1778400" cy="1080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73600" y="2016000"/>
            <a:ext cx="1490400" cy="864000"/>
          </a:xfrm>
          <a:prstGeom prst="rect">
            <a:avLst/>
          </a:prstGeom>
          <a:noFill/>
        </p:spPr>
        <p:txBody>
          <a:bodyPr wrap="square" anchor="t" lIns="0" rIns="0" tIns="0" bIns="0">
            <a:spAutoFit/>
          </a:bodyPr>
          <a:lstStyle/>
          <a:p>
            <a:pPr algn="l">
              <a:lnSpc>
                <a:spcPct val="125000"/>
              </a:lnSpc>
              <a:spcAft>
                <a:spcPts val="200"/>
              </a:spcAft>
            </a:pPr>
            <a:r>
              <a:rPr sz="750" b="0" spc="100">
                <a:solidFill>
                  <a:srgbClr val="7A6030"/>
                </a:solidFill>
                <a:latin typeface="Garamond"/>
                <a:ea typeface="游明朝"/>
              </a:rPr>
              <a:t>STEP 05</a:t>
            </a:r>
          </a:p>
          <a:p>
            <a:pPr algn="l">
              <a:lnSpc>
                <a:spcPct val="120000"/>
              </a:lnSpc>
              <a:spcAft>
                <a:spcPts val="150"/>
              </a:spcAft>
            </a:pPr>
            <a:r>
              <a:rPr sz="950" b="1">
                <a:solidFill>
                  <a:srgbClr val="1A1D29"/>
                </a:solidFill>
                <a:latin typeface="Garamond"/>
                <a:ea typeface="游明朝"/>
              </a:rPr>
              <a:t>選考・内定・入社</a:t>
            </a:r>
          </a:p>
          <a:p>
            <a:pPr algn="l">
              <a:lnSpc>
                <a:spcPct val="135000"/>
              </a:lnSpc>
            </a:pPr>
            <a:r>
              <a:rPr sz="720" b="0">
                <a:solidFill>
                  <a:srgbClr val="3A3F4D"/>
                </a:solidFill>
                <a:latin typeface="Yu Gothic"/>
                <a:ea typeface="游ゴシック"/>
              </a:rPr>
              <a:t>書類・面接対策から条件交渉まで一気通貫。</a:t>
            </a:r>
          </a:p>
        </p:txBody>
      </p:sp>
      <p:sp>
        <p:nvSpPr>
          <p:cNvPr id="23" name="Rectangle 22"/>
          <p:cNvSpPr/>
          <p:nvPr/>
        </p:nvSpPr>
        <p:spPr>
          <a:xfrm>
            <a:off x="684000" y="3312000"/>
            <a:ext cx="1440000" cy="230400"/>
          </a:xfrm>
          <a:prstGeom prst="rect">
            <a:avLst/>
          </a:prstGeom>
          <a:solidFill>
            <a:srgbClr val="F1EDE3"/>
          </a:solidFill>
          <a:ln w="6350">
            <a:solidFill>
              <a:srgbClr val="DECBA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84000" y="3366000"/>
            <a:ext cx="1440000" cy="144000"/>
          </a:xfrm>
          <a:prstGeom prst="rect">
            <a:avLst/>
          </a:prstGeom>
          <a:noFill/>
        </p:spPr>
        <p:txBody>
          <a:bodyPr wrap="square" anchor="t" lIns="0" rIns="0" tIns="0" bIns="0">
            <a:spAutoFit/>
          </a:bodyPr>
          <a:lstStyle/>
          <a:p>
            <a:pPr algn="ctr">
              <a:lnSpc>
                <a:spcPct val="125000"/>
              </a:lnSpc>
            </a:pPr>
            <a:r>
              <a:rPr sz="700" b="0" spc="150">
                <a:solidFill>
                  <a:srgbClr val="7A6030"/>
                </a:solidFill>
                <a:latin typeface="Yu Gothic"/>
                <a:ea typeface="游ゴシック"/>
              </a:rPr>
              <a:t>貴社アドバイザーの動き</a:t>
            </a:r>
          </a:p>
        </p:txBody>
      </p:sp>
      <p:sp>
        <p:nvSpPr>
          <p:cNvPr id="25" name="Rectangle 24"/>
          <p:cNvSpPr/>
          <p:nvPr/>
        </p:nvSpPr>
        <p:spPr>
          <a:xfrm>
            <a:off x="684000" y="3636000"/>
            <a:ext cx="1778400" cy="1080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28000" y="3744000"/>
            <a:ext cx="1490400" cy="864000"/>
          </a:xfrm>
          <a:prstGeom prst="rect">
            <a:avLst/>
          </a:prstGeom>
          <a:noFill/>
        </p:spPr>
        <p:txBody>
          <a:bodyPr wrap="square" anchor="t" lIns="0" rIns="0" tIns="0" bIns="0">
            <a:spAutoFit/>
          </a:bodyPr>
          <a:lstStyle/>
          <a:p>
            <a:pPr algn="l">
              <a:lnSpc>
                <a:spcPct val="125000"/>
              </a:lnSpc>
              <a:spcAft>
                <a:spcPts val="200"/>
              </a:spcAft>
            </a:pPr>
            <a:r>
              <a:rPr sz="750" b="0" spc="100">
                <a:solidFill>
                  <a:srgbClr val="7A6030"/>
                </a:solidFill>
                <a:latin typeface="Garamond"/>
                <a:ea typeface="游明朝"/>
              </a:rPr>
              <a:t>STEP 01</a:t>
            </a:r>
          </a:p>
          <a:p>
            <a:pPr algn="l">
              <a:lnSpc>
                <a:spcPct val="120000"/>
              </a:lnSpc>
              <a:spcAft>
                <a:spcPts val="150"/>
              </a:spcAft>
            </a:pPr>
            <a:r>
              <a:rPr sz="950" b="1">
                <a:solidFill>
                  <a:srgbClr val="1A1D29"/>
                </a:solidFill>
                <a:latin typeface="Garamond"/>
                <a:ea typeface="游明朝"/>
              </a:rPr>
              <a:t>登録申請</a:t>
            </a:r>
          </a:p>
          <a:p>
            <a:pPr algn="l">
              <a:lnSpc>
                <a:spcPct val="135000"/>
              </a:lnSpc>
            </a:pPr>
            <a:r>
              <a:rPr sz="720" b="0">
                <a:solidFill>
                  <a:srgbClr val="3A3F4D"/>
                </a:solidFill>
                <a:latin typeface="Yu Gothic"/>
                <a:ea typeface="游ゴシック"/>
              </a:rPr>
              <a:t>実績上位のアドバイザーを対象にご申請。</a:t>
            </a:r>
          </a:p>
        </p:txBody>
      </p:sp>
      <p:sp>
        <p:nvSpPr>
          <p:cNvPr id="27" name="TextBox 26"/>
          <p:cNvSpPr txBox="1"/>
          <p:nvPr/>
        </p:nvSpPr>
        <p:spPr>
          <a:xfrm>
            <a:off x="2419200" y="4068000"/>
            <a:ext cx="216000" cy="216000"/>
          </a:xfrm>
          <a:prstGeom prst="rect">
            <a:avLst/>
          </a:prstGeom>
          <a:noFill/>
        </p:spPr>
        <p:txBody>
          <a:bodyPr wrap="square" anchor="t" lIns="0" rIns="0" tIns="0" bIns="0">
            <a:spAutoFit/>
          </a:bodyPr>
          <a:lstStyle/>
          <a:p>
            <a:pPr algn="l">
              <a:lnSpc>
                <a:spcPct val="125000"/>
              </a:lnSpc>
            </a:pPr>
            <a:r>
              <a:rPr sz="1200" b="0">
                <a:solidFill>
                  <a:srgbClr val="C6A15B"/>
                </a:solidFill>
                <a:latin typeface="Yu Gothic"/>
                <a:ea typeface="游ゴシック"/>
              </a:rPr>
              <a:t>›</a:t>
            </a:r>
          </a:p>
        </p:txBody>
      </p:sp>
      <p:sp>
        <p:nvSpPr>
          <p:cNvPr id="28" name="Rectangle 27"/>
          <p:cNvSpPr/>
          <p:nvPr/>
        </p:nvSpPr>
        <p:spPr>
          <a:xfrm>
            <a:off x="2570400" y="3636000"/>
            <a:ext cx="1778400" cy="1080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714400" y="3744000"/>
            <a:ext cx="1490400" cy="864000"/>
          </a:xfrm>
          <a:prstGeom prst="rect">
            <a:avLst/>
          </a:prstGeom>
          <a:noFill/>
        </p:spPr>
        <p:txBody>
          <a:bodyPr wrap="square" anchor="t" lIns="0" rIns="0" tIns="0" bIns="0">
            <a:spAutoFit/>
          </a:bodyPr>
          <a:lstStyle/>
          <a:p>
            <a:pPr algn="l">
              <a:lnSpc>
                <a:spcPct val="125000"/>
              </a:lnSpc>
              <a:spcAft>
                <a:spcPts val="200"/>
              </a:spcAft>
            </a:pPr>
            <a:r>
              <a:rPr sz="750" b="0" spc="100">
                <a:solidFill>
                  <a:srgbClr val="7A6030"/>
                </a:solidFill>
                <a:latin typeface="Garamond"/>
                <a:ea typeface="游明朝"/>
              </a:rPr>
              <a:t>STEP 02</a:t>
            </a:r>
          </a:p>
          <a:p>
            <a:pPr algn="l">
              <a:lnSpc>
                <a:spcPct val="120000"/>
              </a:lnSpc>
              <a:spcAft>
                <a:spcPts val="150"/>
              </a:spcAft>
            </a:pPr>
            <a:r>
              <a:rPr sz="950" b="1">
                <a:solidFill>
                  <a:srgbClr val="1A1D29"/>
                </a:solidFill>
                <a:latin typeface="Garamond"/>
                <a:ea typeface="游明朝"/>
              </a:rPr>
              <a:t>審査</a:t>
            </a:r>
          </a:p>
          <a:p>
            <a:pPr algn="l">
              <a:lnSpc>
                <a:spcPct val="135000"/>
              </a:lnSpc>
            </a:pPr>
            <a:r>
              <a:rPr sz="720" b="0">
                <a:solidFill>
                  <a:srgbClr val="3A3F4D"/>
                </a:solidFill>
                <a:latin typeface="Yu Gothic"/>
                <a:ea typeface="游ゴシック"/>
              </a:rPr>
              <a:t>成約実績・専門性・経歴を基準に審査。</a:t>
            </a:r>
          </a:p>
        </p:txBody>
      </p:sp>
      <p:sp>
        <p:nvSpPr>
          <p:cNvPr id="30" name="TextBox 29"/>
          <p:cNvSpPr txBox="1"/>
          <p:nvPr/>
        </p:nvSpPr>
        <p:spPr>
          <a:xfrm>
            <a:off x="4305600" y="4068000"/>
            <a:ext cx="216000" cy="216000"/>
          </a:xfrm>
          <a:prstGeom prst="rect">
            <a:avLst/>
          </a:prstGeom>
          <a:noFill/>
        </p:spPr>
        <p:txBody>
          <a:bodyPr wrap="square" anchor="t" lIns="0" rIns="0" tIns="0" bIns="0">
            <a:spAutoFit/>
          </a:bodyPr>
          <a:lstStyle/>
          <a:p>
            <a:pPr algn="l">
              <a:lnSpc>
                <a:spcPct val="125000"/>
              </a:lnSpc>
            </a:pPr>
            <a:r>
              <a:rPr sz="1200" b="0">
                <a:solidFill>
                  <a:srgbClr val="C6A15B"/>
                </a:solidFill>
                <a:latin typeface="Yu Gothic"/>
                <a:ea typeface="游ゴシック"/>
              </a:rPr>
              <a:t>›</a:t>
            </a:r>
          </a:p>
        </p:txBody>
      </p:sp>
      <p:sp>
        <p:nvSpPr>
          <p:cNvPr id="31" name="Rectangle 30"/>
          <p:cNvSpPr/>
          <p:nvPr/>
        </p:nvSpPr>
        <p:spPr>
          <a:xfrm>
            <a:off x="4456800" y="3636000"/>
            <a:ext cx="1778400" cy="1080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600800" y="3744000"/>
            <a:ext cx="1490400" cy="864000"/>
          </a:xfrm>
          <a:prstGeom prst="rect">
            <a:avLst/>
          </a:prstGeom>
          <a:noFill/>
        </p:spPr>
        <p:txBody>
          <a:bodyPr wrap="square" anchor="t" lIns="0" rIns="0" tIns="0" bIns="0">
            <a:spAutoFit/>
          </a:bodyPr>
          <a:lstStyle/>
          <a:p>
            <a:pPr algn="l">
              <a:lnSpc>
                <a:spcPct val="125000"/>
              </a:lnSpc>
              <a:spcAft>
                <a:spcPts val="200"/>
              </a:spcAft>
            </a:pPr>
            <a:r>
              <a:rPr sz="750" b="0" spc="100">
                <a:solidFill>
                  <a:srgbClr val="7A6030"/>
                </a:solidFill>
                <a:latin typeface="Garamond"/>
                <a:ea typeface="游明朝"/>
              </a:rPr>
              <a:t>STEP 03</a:t>
            </a:r>
          </a:p>
          <a:p>
            <a:pPr algn="l">
              <a:lnSpc>
                <a:spcPct val="120000"/>
              </a:lnSpc>
              <a:spcAft>
                <a:spcPts val="150"/>
              </a:spcAft>
            </a:pPr>
            <a:r>
              <a:rPr sz="950" b="1">
                <a:solidFill>
                  <a:srgbClr val="1A1D29"/>
                </a:solidFill>
                <a:latin typeface="Garamond"/>
                <a:ea typeface="游明朝"/>
              </a:rPr>
              <a:t>プロフィール掲載</a:t>
            </a:r>
          </a:p>
          <a:p>
            <a:pPr algn="l">
              <a:lnSpc>
                <a:spcPct val="135000"/>
              </a:lnSpc>
            </a:pPr>
            <a:r>
              <a:rPr sz="720" b="0">
                <a:solidFill>
                  <a:srgbClr val="3A3F4D"/>
                </a:solidFill>
                <a:latin typeface="Yu Gothic"/>
                <a:ea typeface="游ゴシック"/>
              </a:rPr>
              <a:t>専門領域・実績・支援スタンスを掲載。</a:t>
            </a:r>
          </a:p>
        </p:txBody>
      </p:sp>
      <p:sp>
        <p:nvSpPr>
          <p:cNvPr id="33" name="TextBox 32"/>
          <p:cNvSpPr txBox="1"/>
          <p:nvPr/>
        </p:nvSpPr>
        <p:spPr>
          <a:xfrm>
            <a:off x="6192000" y="4068000"/>
            <a:ext cx="216000" cy="216000"/>
          </a:xfrm>
          <a:prstGeom prst="rect">
            <a:avLst/>
          </a:prstGeom>
          <a:noFill/>
        </p:spPr>
        <p:txBody>
          <a:bodyPr wrap="square" anchor="t" lIns="0" rIns="0" tIns="0" bIns="0">
            <a:spAutoFit/>
          </a:bodyPr>
          <a:lstStyle/>
          <a:p>
            <a:pPr algn="l">
              <a:lnSpc>
                <a:spcPct val="125000"/>
              </a:lnSpc>
            </a:pPr>
            <a:r>
              <a:rPr sz="1200" b="0">
                <a:solidFill>
                  <a:srgbClr val="C6A15B"/>
                </a:solidFill>
                <a:latin typeface="Yu Gothic"/>
                <a:ea typeface="游ゴシック"/>
              </a:rPr>
              <a:t>›</a:t>
            </a:r>
          </a:p>
        </p:txBody>
      </p:sp>
      <p:sp>
        <p:nvSpPr>
          <p:cNvPr id="34" name="Rectangle 33"/>
          <p:cNvSpPr/>
          <p:nvPr/>
        </p:nvSpPr>
        <p:spPr>
          <a:xfrm>
            <a:off x="6343200" y="3636000"/>
            <a:ext cx="1778400" cy="1080000"/>
          </a:xfrm>
          <a:prstGeom prst="rect">
            <a:avLst/>
          </a:prstGeom>
          <a:solidFill>
            <a:srgbClr val="FBF4E6"/>
          </a:solidFill>
          <a:ln w="9525">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87200" y="3744000"/>
            <a:ext cx="1490400" cy="864000"/>
          </a:xfrm>
          <a:prstGeom prst="rect">
            <a:avLst/>
          </a:prstGeom>
          <a:noFill/>
        </p:spPr>
        <p:txBody>
          <a:bodyPr wrap="square" anchor="t" lIns="0" rIns="0" tIns="0" bIns="0">
            <a:spAutoFit/>
          </a:bodyPr>
          <a:lstStyle/>
          <a:p>
            <a:pPr algn="l">
              <a:lnSpc>
                <a:spcPct val="125000"/>
              </a:lnSpc>
              <a:spcAft>
                <a:spcPts val="200"/>
              </a:spcAft>
            </a:pPr>
            <a:r>
              <a:rPr sz="750" b="0" spc="100">
                <a:solidFill>
                  <a:srgbClr val="7A6030"/>
                </a:solidFill>
                <a:latin typeface="Garamond"/>
                <a:ea typeface="游明朝"/>
              </a:rPr>
              <a:t>STEP 04</a:t>
            </a:r>
          </a:p>
          <a:p>
            <a:pPr algn="l">
              <a:lnSpc>
                <a:spcPct val="120000"/>
              </a:lnSpc>
              <a:spcAft>
                <a:spcPts val="150"/>
              </a:spcAft>
            </a:pPr>
            <a:r>
              <a:rPr sz="950" b="1">
                <a:solidFill>
                  <a:srgbClr val="1A1D29"/>
                </a:solidFill>
                <a:latin typeface="Garamond"/>
                <a:ea typeface="游明朝"/>
              </a:rPr>
              <a:t>指名を受領</a:t>
            </a:r>
          </a:p>
          <a:p>
            <a:pPr algn="l">
              <a:lnSpc>
                <a:spcPct val="135000"/>
              </a:lnSpc>
            </a:pPr>
            <a:r>
              <a:rPr sz="720" b="0">
                <a:solidFill>
                  <a:srgbClr val="3A3F4D"/>
                </a:solidFill>
                <a:latin typeface="Yu Gothic"/>
                <a:ea typeface="游ゴシック"/>
              </a:rPr>
              <a:t>求職者からの指名がメッセージ付きで届く。</a:t>
            </a:r>
          </a:p>
        </p:txBody>
      </p:sp>
      <p:sp>
        <p:nvSpPr>
          <p:cNvPr id="36" name="TextBox 35"/>
          <p:cNvSpPr txBox="1"/>
          <p:nvPr/>
        </p:nvSpPr>
        <p:spPr>
          <a:xfrm>
            <a:off x="8078400" y="4068000"/>
            <a:ext cx="216000" cy="216000"/>
          </a:xfrm>
          <a:prstGeom prst="rect">
            <a:avLst/>
          </a:prstGeom>
          <a:noFill/>
        </p:spPr>
        <p:txBody>
          <a:bodyPr wrap="square" anchor="t" lIns="0" rIns="0" tIns="0" bIns="0">
            <a:spAutoFit/>
          </a:bodyPr>
          <a:lstStyle/>
          <a:p>
            <a:pPr algn="l">
              <a:lnSpc>
                <a:spcPct val="125000"/>
              </a:lnSpc>
            </a:pPr>
            <a:r>
              <a:rPr sz="1200" b="0">
                <a:solidFill>
                  <a:srgbClr val="C6A15B"/>
                </a:solidFill>
                <a:latin typeface="Yu Gothic"/>
                <a:ea typeface="游ゴシック"/>
              </a:rPr>
              <a:t>›</a:t>
            </a:r>
          </a:p>
        </p:txBody>
      </p:sp>
      <p:sp>
        <p:nvSpPr>
          <p:cNvPr id="37" name="Rectangle 36"/>
          <p:cNvSpPr/>
          <p:nvPr/>
        </p:nvSpPr>
        <p:spPr>
          <a:xfrm>
            <a:off x="8229600" y="3636000"/>
            <a:ext cx="1778400" cy="1080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373600" y="3744000"/>
            <a:ext cx="1490400" cy="864000"/>
          </a:xfrm>
          <a:prstGeom prst="rect">
            <a:avLst/>
          </a:prstGeom>
          <a:noFill/>
        </p:spPr>
        <p:txBody>
          <a:bodyPr wrap="square" anchor="t" lIns="0" rIns="0" tIns="0" bIns="0">
            <a:spAutoFit/>
          </a:bodyPr>
          <a:lstStyle/>
          <a:p>
            <a:pPr algn="l">
              <a:lnSpc>
                <a:spcPct val="125000"/>
              </a:lnSpc>
              <a:spcAft>
                <a:spcPts val="200"/>
              </a:spcAft>
            </a:pPr>
            <a:r>
              <a:rPr sz="750" b="0" spc="100">
                <a:solidFill>
                  <a:srgbClr val="7A6030"/>
                </a:solidFill>
                <a:latin typeface="Garamond"/>
                <a:ea typeface="游明朝"/>
              </a:rPr>
              <a:t>STEP 05</a:t>
            </a:r>
          </a:p>
          <a:p>
            <a:pPr algn="l">
              <a:lnSpc>
                <a:spcPct val="120000"/>
              </a:lnSpc>
              <a:spcAft>
                <a:spcPts val="150"/>
              </a:spcAft>
            </a:pPr>
            <a:r>
              <a:rPr sz="950" b="1">
                <a:solidFill>
                  <a:srgbClr val="1A1D29"/>
                </a:solidFill>
                <a:latin typeface="Garamond"/>
                <a:ea typeface="游明朝"/>
              </a:rPr>
              <a:t>支援開始</a:t>
            </a:r>
          </a:p>
          <a:p>
            <a:pPr algn="l">
              <a:lnSpc>
                <a:spcPct val="135000"/>
              </a:lnSpc>
            </a:pPr>
            <a:r>
              <a:rPr sz="720" b="0">
                <a:solidFill>
                  <a:srgbClr val="3A3F4D"/>
                </a:solidFill>
                <a:latin typeface="Yu Gothic"/>
                <a:ea typeface="游ゴシック"/>
              </a:rPr>
              <a:t>面談を設定し、通常どおりの紹介業務へ。</a:t>
            </a:r>
          </a:p>
        </p:txBody>
      </p:sp>
      <p:sp>
        <p:nvSpPr>
          <p:cNvPr id="39" name="TextBox 38"/>
          <p:cNvSpPr txBox="1"/>
          <p:nvPr/>
        </p:nvSpPr>
        <p:spPr>
          <a:xfrm>
            <a:off x="684000" y="5040000"/>
            <a:ext cx="9324000" cy="360000"/>
          </a:xfrm>
          <a:prstGeom prst="rect">
            <a:avLst/>
          </a:prstGeom>
          <a:noFill/>
        </p:spPr>
        <p:txBody>
          <a:bodyPr wrap="square" anchor="t" lIns="0" rIns="0" tIns="0" bIns="0">
            <a:spAutoFit/>
          </a:bodyPr>
          <a:lstStyle/>
          <a:p>
            <a:pPr algn="l">
              <a:lnSpc>
                <a:spcPct val="140000"/>
              </a:lnSpc>
            </a:pPr>
            <a:r>
              <a:rPr sz="750" b="0">
                <a:solidFill>
                  <a:srgbClr val="5F6672"/>
                </a:solidFill>
                <a:latin typeface="Yu Gothic"/>
                <a:ea typeface="游ゴシック"/>
              </a:rPr>
              <a:t>※ 指名後の転職支援・企業への紹介は、従来どおり貴社（登録アドバイザー）の紹介業務として実施いただきます。MarkGateは求職者との質の高い接点を提供します。</a:t>
            </a:r>
          </a:p>
        </p:txBody>
      </p:sp>
      <p:sp>
        <p:nvSpPr>
          <p:cNvPr id="40" name="TextBox 39"/>
          <p:cNvSpPr txBox="1"/>
          <p:nvPr/>
        </p:nvSpPr>
        <p:spPr>
          <a:xfrm>
            <a:off x="684000" y="7182000"/>
            <a:ext cx="7200000" cy="216000"/>
          </a:xfrm>
          <a:prstGeom prst="rect">
            <a:avLst/>
          </a:prstGeom>
          <a:noFill/>
        </p:spPr>
        <p:txBody>
          <a:bodyPr wrap="square" anchor="t" lIns="0" rIns="0" tIns="0" bIns="0">
            <a:spAutoFit/>
          </a:bodyPr>
          <a:lstStyle/>
          <a:p>
            <a:pPr algn="l">
              <a:lnSpc>
                <a:spcPct val="125000"/>
              </a:lnSpc>
            </a:pPr>
            <a:r>
              <a:rPr sz="900" b="1">
                <a:solidFill>
                  <a:srgbClr val="7A6030"/>
                </a:solidFill>
                <a:latin typeface="Garamond"/>
                <a:ea typeface="游明朝"/>
              </a:rPr>
              <a:t>MarkGate</a:t>
            </a:r>
            <a:r>
              <a:rPr sz="700" b="0">
                <a:solidFill>
                  <a:srgbClr val="5F6672"/>
                </a:solidFill>
                <a:latin typeface="Yu Gothic"/>
                <a:ea typeface="游ゴシック"/>
              </a:rPr>
              <a:t>　人材紹介エージェント様向けご提案資料</a:t>
            </a:r>
          </a:p>
        </p:txBody>
      </p:sp>
      <p:sp>
        <p:nvSpPr>
          <p:cNvPr id="41" name="TextBox 40"/>
          <p:cNvSpPr txBox="1"/>
          <p:nvPr/>
        </p:nvSpPr>
        <p:spPr>
          <a:xfrm>
            <a:off x="9000000" y="7182000"/>
            <a:ext cx="1008000" cy="216000"/>
          </a:xfrm>
          <a:prstGeom prst="rect">
            <a:avLst/>
          </a:prstGeom>
          <a:noFill/>
        </p:spPr>
        <p:txBody>
          <a:bodyPr wrap="square" anchor="t" lIns="0" rIns="0" tIns="0" bIns="0">
            <a:spAutoFit/>
          </a:bodyPr>
          <a:lstStyle/>
          <a:p>
            <a:pPr algn="r">
              <a:lnSpc>
                <a:spcPct val="125000"/>
              </a:lnSpc>
            </a:pPr>
            <a:r>
              <a:rPr sz="900" b="0" spc="100">
                <a:solidFill>
                  <a:srgbClr val="5F6672"/>
                </a:solidFill>
                <a:latin typeface="Garamond"/>
                <a:ea typeface="游明朝"/>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92000" cy="7560000"/>
          </a:xfrm>
          <a:prstGeom prst="rect">
            <a:avLst/>
          </a:prstGeom>
          <a:solidFill>
            <a:srgbClr val="F8F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84000" y="432000"/>
            <a:ext cx="720000" cy="360000"/>
          </a:xfrm>
          <a:prstGeom prst="rect">
            <a:avLst/>
          </a:prstGeom>
          <a:noFill/>
        </p:spPr>
        <p:txBody>
          <a:bodyPr wrap="square" anchor="t" lIns="0" rIns="0" tIns="0" bIns="0">
            <a:spAutoFit/>
          </a:bodyPr>
          <a:lstStyle/>
          <a:p>
            <a:pPr algn="l">
              <a:lnSpc>
                <a:spcPct val="125000"/>
              </a:lnSpc>
            </a:pPr>
            <a:r>
              <a:rPr sz="1700" b="0">
                <a:solidFill>
                  <a:srgbClr val="C6A15B"/>
                </a:solidFill>
                <a:latin typeface="Garamond"/>
                <a:ea typeface="游明朝"/>
              </a:rPr>
              <a:t>06</a:t>
            </a:r>
          </a:p>
        </p:txBody>
      </p:sp>
      <p:sp>
        <p:nvSpPr>
          <p:cNvPr id="4" name="TextBox 3"/>
          <p:cNvSpPr txBox="1"/>
          <p:nvPr/>
        </p:nvSpPr>
        <p:spPr>
          <a:xfrm>
            <a:off x="1188000" y="547200"/>
            <a:ext cx="7200000" cy="216000"/>
          </a:xfrm>
          <a:prstGeom prst="rect">
            <a:avLst/>
          </a:prstGeom>
          <a:noFill/>
        </p:spPr>
        <p:txBody>
          <a:bodyPr wrap="square" anchor="t" lIns="0" rIns="0" tIns="0" bIns="0">
            <a:spAutoFit/>
          </a:bodyPr>
          <a:lstStyle/>
          <a:p>
            <a:pPr algn="l">
              <a:lnSpc>
                <a:spcPct val="125000"/>
              </a:lnSpc>
            </a:pPr>
            <a:r>
              <a:rPr sz="750" b="0" spc="300">
                <a:solidFill>
                  <a:srgbClr val="7A6030"/>
                </a:solidFill>
                <a:latin typeface="Yu Gothic"/>
                <a:ea typeface="游ゴシック"/>
              </a:rPr>
              <a:t>BENEFITS FOR AGENCIES</a:t>
            </a:r>
          </a:p>
        </p:txBody>
      </p:sp>
      <p:sp>
        <p:nvSpPr>
          <p:cNvPr id="5" name="TextBox 4"/>
          <p:cNvSpPr txBox="1"/>
          <p:nvPr/>
        </p:nvSpPr>
        <p:spPr>
          <a:xfrm>
            <a:off x="684000" y="792000"/>
            <a:ext cx="9324000" cy="432000"/>
          </a:xfrm>
          <a:prstGeom prst="rect">
            <a:avLst/>
          </a:prstGeom>
          <a:noFill/>
        </p:spPr>
        <p:txBody>
          <a:bodyPr wrap="square" anchor="t" lIns="0" rIns="0" tIns="0" bIns="0">
            <a:spAutoFit/>
          </a:bodyPr>
          <a:lstStyle/>
          <a:p>
            <a:pPr algn="l">
              <a:lnSpc>
                <a:spcPct val="120000"/>
              </a:lnSpc>
            </a:pPr>
            <a:r>
              <a:rPr sz="2200" b="1">
                <a:solidFill>
                  <a:srgbClr val="1A1D29"/>
                </a:solidFill>
                <a:latin typeface="Garamond"/>
                <a:ea typeface="游明朝"/>
              </a:rPr>
              <a:t>貴社にとっての、4つのメリット。</a:t>
            </a:r>
          </a:p>
        </p:txBody>
      </p:sp>
      <p:sp>
        <p:nvSpPr>
          <p:cNvPr id="6" name="Rectangle 5"/>
          <p:cNvSpPr/>
          <p:nvPr/>
        </p:nvSpPr>
        <p:spPr>
          <a:xfrm>
            <a:off x="684000" y="1296000"/>
            <a:ext cx="504000" cy="252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4000" y="1656000"/>
            <a:ext cx="4554000" cy="1656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900000" y="1872000"/>
            <a:ext cx="360000" cy="360000"/>
          </a:xfrm>
          <a:prstGeom prst="ellipse">
            <a:avLst/>
          </a:prstGeom>
          <a:noFill/>
          <a:ln w="9525">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00000" y="1944000"/>
            <a:ext cx="360000" cy="216000"/>
          </a:xfrm>
          <a:prstGeom prst="rect">
            <a:avLst/>
          </a:prstGeom>
          <a:noFill/>
        </p:spPr>
        <p:txBody>
          <a:bodyPr wrap="square" anchor="t" lIns="0" rIns="0" tIns="0" bIns="0">
            <a:spAutoFit/>
          </a:bodyPr>
          <a:lstStyle/>
          <a:p>
            <a:pPr algn="ctr">
              <a:lnSpc>
                <a:spcPct val="125000"/>
              </a:lnSpc>
            </a:pPr>
            <a:r>
              <a:rPr sz="1100" b="0">
                <a:solidFill>
                  <a:srgbClr val="7A6030"/>
                </a:solidFill>
                <a:latin typeface="Garamond"/>
                <a:ea typeface="游明朝"/>
              </a:rPr>
              <a:t>1</a:t>
            </a:r>
          </a:p>
        </p:txBody>
      </p:sp>
      <p:sp>
        <p:nvSpPr>
          <p:cNvPr id="10" name="TextBox 9"/>
          <p:cNvSpPr txBox="1"/>
          <p:nvPr/>
        </p:nvSpPr>
        <p:spPr>
          <a:xfrm>
            <a:off x="1404000" y="1872000"/>
            <a:ext cx="3582000" cy="1260000"/>
          </a:xfrm>
          <a:prstGeom prst="rect">
            <a:avLst/>
          </a:prstGeom>
          <a:noFill/>
        </p:spPr>
        <p:txBody>
          <a:bodyPr wrap="square" anchor="t" lIns="0" rIns="0" tIns="0" bIns="0">
            <a:spAutoFit/>
          </a:bodyPr>
          <a:lstStyle/>
          <a:p>
            <a:pPr algn="l">
              <a:lnSpc>
                <a:spcPct val="125000"/>
              </a:lnSpc>
              <a:spcAft>
                <a:spcPts val="250"/>
              </a:spcAft>
            </a:pPr>
            <a:r>
              <a:rPr sz="1150" b="1">
                <a:solidFill>
                  <a:srgbClr val="1A1D29"/>
                </a:solidFill>
                <a:latin typeface="Garamond"/>
                <a:ea typeface="游明朝"/>
              </a:rPr>
              <a:t>温度感の高い「指名」から面談が始まる</a:t>
            </a:r>
          </a:p>
          <a:p>
            <a:pPr algn="l">
              <a:lnSpc>
                <a:spcPct val="140000"/>
              </a:lnSpc>
            </a:pPr>
            <a:r>
              <a:rPr sz="850" b="0">
                <a:solidFill>
                  <a:srgbClr val="3A3F4D"/>
                </a:solidFill>
                <a:latin typeface="Yu Gothic"/>
                <a:ea typeface="游ゴシック"/>
              </a:rPr>
              <a:t>求職者は複数のアドバイザーを比較・納得したうえで指名します。「まず話を聞いてみたい」ではなく「あなたに任せたい」から始まる面談により、支援効率の向上が期待できます。</a:t>
            </a:r>
          </a:p>
        </p:txBody>
      </p:sp>
      <p:sp>
        <p:nvSpPr>
          <p:cNvPr id="11" name="Rectangle 10"/>
          <p:cNvSpPr/>
          <p:nvPr/>
        </p:nvSpPr>
        <p:spPr>
          <a:xfrm>
            <a:off x="5454000" y="1656000"/>
            <a:ext cx="4554000" cy="1656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5670000" y="1872000"/>
            <a:ext cx="360000" cy="360000"/>
          </a:xfrm>
          <a:prstGeom prst="ellipse">
            <a:avLst/>
          </a:prstGeom>
          <a:noFill/>
          <a:ln w="9525">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670000" y="1944000"/>
            <a:ext cx="360000" cy="216000"/>
          </a:xfrm>
          <a:prstGeom prst="rect">
            <a:avLst/>
          </a:prstGeom>
          <a:noFill/>
        </p:spPr>
        <p:txBody>
          <a:bodyPr wrap="square" anchor="t" lIns="0" rIns="0" tIns="0" bIns="0">
            <a:spAutoFit/>
          </a:bodyPr>
          <a:lstStyle/>
          <a:p>
            <a:pPr algn="ctr">
              <a:lnSpc>
                <a:spcPct val="125000"/>
              </a:lnSpc>
            </a:pPr>
            <a:r>
              <a:rPr sz="1100" b="0">
                <a:solidFill>
                  <a:srgbClr val="7A6030"/>
                </a:solidFill>
                <a:latin typeface="Garamond"/>
                <a:ea typeface="游明朝"/>
              </a:rPr>
              <a:t>2</a:t>
            </a:r>
          </a:p>
        </p:txBody>
      </p:sp>
      <p:sp>
        <p:nvSpPr>
          <p:cNvPr id="14" name="TextBox 13"/>
          <p:cNvSpPr txBox="1"/>
          <p:nvPr/>
        </p:nvSpPr>
        <p:spPr>
          <a:xfrm>
            <a:off x="6174000" y="1872000"/>
            <a:ext cx="3582000" cy="1260000"/>
          </a:xfrm>
          <a:prstGeom prst="rect">
            <a:avLst/>
          </a:prstGeom>
          <a:noFill/>
        </p:spPr>
        <p:txBody>
          <a:bodyPr wrap="square" anchor="t" lIns="0" rIns="0" tIns="0" bIns="0">
            <a:spAutoFit/>
          </a:bodyPr>
          <a:lstStyle/>
          <a:p>
            <a:pPr algn="l">
              <a:lnSpc>
                <a:spcPct val="125000"/>
              </a:lnSpc>
              <a:spcAft>
                <a:spcPts val="250"/>
              </a:spcAft>
            </a:pPr>
            <a:r>
              <a:rPr sz="1150" b="1">
                <a:solidFill>
                  <a:srgbClr val="1A1D29"/>
                </a:solidFill>
                <a:latin typeface="Garamond"/>
                <a:ea typeface="游明朝"/>
              </a:rPr>
              <a:t>スカウト課金に依存しない、新しい接点</a:t>
            </a:r>
          </a:p>
          <a:p>
            <a:pPr algn="l">
              <a:lnSpc>
                <a:spcPct val="140000"/>
              </a:lnSpc>
            </a:pPr>
            <a:r>
              <a:rPr sz="850" b="0">
                <a:solidFill>
                  <a:srgbClr val="3A3F4D"/>
                </a:solidFill>
                <a:latin typeface="Yu Gothic"/>
                <a:ea typeface="游ゴシック"/>
              </a:rPr>
              <a:t>登録・掲載は審査制。掲載そのものが求職者への露出となり、大量送信の工数や媒体課金に依存しない、継続的なハイクラス接点の構築を目指せます。</a:t>
            </a:r>
          </a:p>
        </p:txBody>
      </p:sp>
      <p:sp>
        <p:nvSpPr>
          <p:cNvPr id="15" name="Rectangle 14"/>
          <p:cNvSpPr/>
          <p:nvPr/>
        </p:nvSpPr>
        <p:spPr>
          <a:xfrm>
            <a:off x="684000" y="3528000"/>
            <a:ext cx="4554000" cy="1656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900000" y="3744000"/>
            <a:ext cx="360000" cy="360000"/>
          </a:xfrm>
          <a:prstGeom prst="ellipse">
            <a:avLst/>
          </a:prstGeom>
          <a:noFill/>
          <a:ln w="9525">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00000" y="3816000"/>
            <a:ext cx="360000" cy="216000"/>
          </a:xfrm>
          <a:prstGeom prst="rect">
            <a:avLst/>
          </a:prstGeom>
          <a:noFill/>
        </p:spPr>
        <p:txBody>
          <a:bodyPr wrap="square" anchor="t" lIns="0" rIns="0" tIns="0" bIns="0">
            <a:spAutoFit/>
          </a:bodyPr>
          <a:lstStyle/>
          <a:p>
            <a:pPr algn="ctr">
              <a:lnSpc>
                <a:spcPct val="125000"/>
              </a:lnSpc>
            </a:pPr>
            <a:r>
              <a:rPr sz="1100" b="0">
                <a:solidFill>
                  <a:srgbClr val="7A6030"/>
                </a:solidFill>
                <a:latin typeface="Garamond"/>
                <a:ea typeface="游明朝"/>
              </a:rPr>
              <a:t>3</a:t>
            </a:r>
          </a:p>
        </p:txBody>
      </p:sp>
      <p:sp>
        <p:nvSpPr>
          <p:cNvPr id="18" name="TextBox 17"/>
          <p:cNvSpPr txBox="1"/>
          <p:nvPr/>
        </p:nvSpPr>
        <p:spPr>
          <a:xfrm>
            <a:off x="1404000" y="3744000"/>
            <a:ext cx="3582000" cy="1260000"/>
          </a:xfrm>
          <a:prstGeom prst="rect">
            <a:avLst/>
          </a:prstGeom>
          <a:noFill/>
        </p:spPr>
        <p:txBody>
          <a:bodyPr wrap="square" anchor="t" lIns="0" rIns="0" tIns="0" bIns="0">
            <a:spAutoFit/>
          </a:bodyPr>
          <a:lstStyle/>
          <a:p>
            <a:pPr algn="l">
              <a:lnSpc>
                <a:spcPct val="125000"/>
              </a:lnSpc>
              <a:spcAft>
                <a:spcPts val="250"/>
              </a:spcAft>
            </a:pPr>
            <a:r>
              <a:rPr sz="1150" b="1">
                <a:solidFill>
                  <a:srgbClr val="1A1D29"/>
                </a:solidFill>
                <a:latin typeface="Garamond"/>
                <a:ea typeface="游明朝"/>
              </a:rPr>
              <a:t>「審査通過」が、エースと貴社の証明になる</a:t>
            </a:r>
          </a:p>
          <a:p>
            <a:pPr algn="l">
              <a:lnSpc>
                <a:spcPct val="140000"/>
              </a:lnSpc>
            </a:pPr>
            <a:r>
              <a:rPr sz="850" b="0">
                <a:solidFill>
                  <a:srgbClr val="3A3F4D"/>
                </a:solidFill>
                <a:latin typeface="Yu Gothic"/>
                <a:ea typeface="游ゴシック"/>
              </a:rPr>
              <a:t>トップアドバイザー限定の場に立つこと自体がブランドです。エース個人の市場価値の可視化は、貴社の対外的な信頼・採用力・社内のモチベーションにも波及します。</a:t>
            </a:r>
          </a:p>
        </p:txBody>
      </p:sp>
      <p:sp>
        <p:nvSpPr>
          <p:cNvPr id="19" name="Rectangle 18"/>
          <p:cNvSpPr/>
          <p:nvPr/>
        </p:nvSpPr>
        <p:spPr>
          <a:xfrm>
            <a:off x="5454000" y="3528000"/>
            <a:ext cx="4554000" cy="1656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5670000" y="3744000"/>
            <a:ext cx="360000" cy="360000"/>
          </a:xfrm>
          <a:prstGeom prst="ellipse">
            <a:avLst/>
          </a:prstGeom>
          <a:noFill/>
          <a:ln w="9525">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670000" y="3816000"/>
            <a:ext cx="360000" cy="216000"/>
          </a:xfrm>
          <a:prstGeom prst="rect">
            <a:avLst/>
          </a:prstGeom>
          <a:noFill/>
        </p:spPr>
        <p:txBody>
          <a:bodyPr wrap="square" anchor="t" lIns="0" rIns="0" tIns="0" bIns="0">
            <a:spAutoFit/>
          </a:bodyPr>
          <a:lstStyle/>
          <a:p>
            <a:pPr algn="ctr">
              <a:lnSpc>
                <a:spcPct val="125000"/>
              </a:lnSpc>
            </a:pPr>
            <a:r>
              <a:rPr sz="1100" b="0">
                <a:solidFill>
                  <a:srgbClr val="7A6030"/>
                </a:solidFill>
                <a:latin typeface="Garamond"/>
                <a:ea typeface="游明朝"/>
              </a:rPr>
              <a:t>4</a:t>
            </a:r>
          </a:p>
        </p:txBody>
      </p:sp>
      <p:sp>
        <p:nvSpPr>
          <p:cNvPr id="22" name="TextBox 21"/>
          <p:cNvSpPr txBox="1"/>
          <p:nvPr/>
        </p:nvSpPr>
        <p:spPr>
          <a:xfrm>
            <a:off x="6174000" y="3744000"/>
            <a:ext cx="3582000" cy="1260000"/>
          </a:xfrm>
          <a:prstGeom prst="rect">
            <a:avLst/>
          </a:prstGeom>
          <a:noFill/>
        </p:spPr>
        <p:txBody>
          <a:bodyPr wrap="square" anchor="t" lIns="0" rIns="0" tIns="0" bIns="0">
            <a:spAutoFit/>
          </a:bodyPr>
          <a:lstStyle/>
          <a:p>
            <a:pPr algn="l">
              <a:lnSpc>
                <a:spcPct val="125000"/>
              </a:lnSpc>
              <a:spcAft>
                <a:spcPts val="250"/>
              </a:spcAft>
            </a:pPr>
            <a:r>
              <a:rPr sz="1150" b="1">
                <a:solidFill>
                  <a:srgbClr val="1A1D29"/>
                </a:solidFill>
                <a:latin typeface="Garamond"/>
                <a:ea typeface="游明朝"/>
              </a:rPr>
              <a:t>決定単価の高い案件に集中できる</a:t>
            </a:r>
          </a:p>
          <a:p>
            <a:pPr algn="l">
              <a:lnSpc>
                <a:spcPct val="140000"/>
              </a:lnSpc>
            </a:pPr>
            <a:r>
              <a:rPr sz="850" b="0">
                <a:solidFill>
                  <a:srgbClr val="3A3F4D"/>
                </a:solidFill>
                <a:latin typeface="Yu Gothic"/>
                <a:ea typeface="游ゴシック"/>
              </a:rPr>
              <a:t>会員は年収800万円以上を想定したハイクラス・エグゼクティブ層。トップアドバイザーの時間を、最も価値の高い支援に集中させることができます。</a:t>
            </a:r>
          </a:p>
        </p:txBody>
      </p:sp>
      <p:sp>
        <p:nvSpPr>
          <p:cNvPr id="23" name="TextBox 22"/>
          <p:cNvSpPr txBox="1"/>
          <p:nvPr/>
        </p:nvSpPr>
        <p:spPr>
          <a:xfrm>
            <a:off x="684000" y="5472000"/>
            <a:ext cx="9324000" cy="216000"/>
          </a:xfrm>
          <a:prstGeom prst="rect">
            <a:avLst/>
          </a:prstGeom>
          <a:noFill/>
        </p:spPr>
        <p:txBody>
          <a:bodyPr wrap="square" anchor="t" lIns="0" rIns="0" tIns="0" bIns="0">
            <a:spAutoFit/>
          </a:bodyPr>
          <a:lstStyle/>
          <a:p>
            <a:pPr algn="l">
              <a:lnSpc>
                <a:spcPct val="125000"/>
              </a:lnSpc>
            </a:pPr>
            <a:r>
              <a:rPr sz="750" b="0">
                <a:solidFill>
                  <a:srgbClr val="5F6672"/>
                </a:solidFill>
                <a:latin typeface="Yu Gothic"/>
                <a:ea typeface="游ゴシック"/>
              </a:rPr>
              <a:t>※ 効果に関する記述はサービス設計に基づく想定であり、成果を保証するものではありません。</a:t>
            </a:r>
          </a:p>
        </p:txBody>
      </p:sp>
      <p:sp>
        <p:nvSpPr>
          <p:cNvPr id="24" name="TextBox 23"/>
          <p:cNvSpPr txBox="1"/>
          <p:nvPr/>
        </p:nvSpPr>
        <p:spPr>
          <a:xfrm>
            <a:off x="684000" y="7182000"/>
            <a:ext cx="7200000" cy="216000"/>
          </a:xfrm>
          <a:prstGeom prst="rect">
            <a:avLst/>
          </a:prstGeom>
          <a:noFill/>
        </p:spPr>
        <p:txBody>
          <a:bodyPr wrap="square" anchor="t" lIns="0" rIns="0" tIns="0" bIns="0">
            <a:spAutoFit/>
          </a:bodyPr>
          <a:lstStyle/>
          <a:p>
            <a:pPr algn="l">
              <a:lnSpc>
                <a:spcPct val="125000"/>
              </a:lnSpc>
            </a:pPr>
            <a:r>
              <a:rPr sz="900" b="1">
                <a:solidFill>
                  <a:srgbClr val="7A6030"/>
                </a:solidFill>
                <a:latin typeface="Garamond"/>
                <a:ea typeface="游明朝"/>
              </a:rPr>
              <a:t>MarkGate</a:t>
            </a:r>
            <a:r>
              <a:rPr sz="700" b="0">
                <a:solidFill>
                  <a:srgbClr val="5F6672"/>
                </a:solidFill>
                <a:latin typeface="Yu Gothic"/>
                <a:ea typeface="游ゴシック"/>
              </a:rPr>
              <a:t>　人材紹介エージェント様向けご提案資料</a:t>
            </a:r>
          </a:p>
        </p:txBody>
      </p:sp>
      <p:sp>
        <p:nvSpPr>
          <p:cNvPr id="25" name="TextBox 24"/>
          <p:cNvSpPr txBox="1"/>
          <p:nvPr/>
        </p:nvSpPr>
        <p:spPr>
          <a:xfrm>
            <a:off x="9000000" y="7182000"/>
            <a:ext cx="1008000" cy="216000"/>
          </a:xfrm>
          <a:prstGeom prst="rect">
            <a:avLst/>
          </a:prstGeom>
          <a:noFill/>
        </p:spPr>
        <p:txBody>
          <a:bodyPr wrap="square" anchor="t" lIns="0" rIns="0" tIns="0" bIns="0">
            <a:spAutoFit/>
          </a:bodyPr>
          <a:lstStyle/>
          <a:p>
            <a:pPr algn="r">
              <a:lnSpc>
                <a:spcPct val="125000"/>
              </a:lnSpc>
            </a:pPr>
            <a:r>
              <a:rPr sz="900" b="0" spc="100">
                <a:solidFill>
                  <a:srgbClr val="5F6672"/>
                </a:solidFill>
                <a:latin typeface="Garamond"/>
                <a:ea typeface="游明朝"/>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92000" cy="7560000"/>
          </a:xfrm>
          <a:prstGeom prst="rect">
            <a:avLst/>
          </a:prstGeom>
          <a:solidFill>
            <a:srgbClr val="F8F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84000" y="432000"/>
            <a:ext cx="720000" cy="360000"/>
          </a:xfrm>
          <a:prstGeom prst="rect">
            <a:avLst/>
          </a:prstGeom>
          <a:noFill/>
        </p:spPr>
        <p:txBody>
          <a:bodyPr wrap="square" anchor="t" lIns="0" rIns="0" tIns="0" bIns="0">
            <a:spAutoFit/>
          </a:bodyPr>
          <a:lstStyle/>
          <a:p>
            <a:pPr algn="l">
              <a:lnSpc>
                <a:spcPct val="125000"/>
              </a:lnSpc>
            </a:pPr>
            <a:r>
              <a:rPr sz="1700" b="0">
                <a:solidFill>
                  <a:srgbClr val="C6A15B"/>
                </a:solidFill>
                <a:latin typeface="Garamond"/>
                <a:ea typeface="游明朝"/>
              </a:rPr>
              <a:t>07</a:t>
            </a:r>
          </a:p>
        </p:txBody>
      </p:sp>
      <p:sp>
        <p:nvSpPr>
          <p:cNvPr id="4" name="TextBox 3"/>
          <p:cNvSpPr txBox="1"/>
          <p:nvPr/>
        </p:nvSpPr>
        <p:spPr>
          <a:xfrm>
            <a:off x="1188000" y="547200"/>
            <a:ext cx="7200000" cy="216000"/>
          </a:xfrm>
          <a:prstGeom prst="rect">
            <a:avLst/>
          </a:prstGeom>
          <a:noFill/>
        </p:spPr>
        <p:txBody>
          <a:bodyPr wrap="square" anchor="t" lIns="0" rIns="0" tIns="0" bIns="0">
            <a:spAutoFit/>
          </a:bodyPr>
          <a:lstStyle/>
          <a:p>
            <a:pPr algn="l">
              <a:lnSpc>
                <a:spcPct val="125000"/>
              </a:lnSpc>
            </a:pPr>
            <a:r>
              <a:rPr sz="750" b="0" spc="300">
                <a:solidFill>
                  <a:srgbClr val="7A6030"/>
                </a:solidFill>
                <a:latin typeface="Yu Gothic"/>
                <a:ea typeface="游ゴシック"/>
              </a:rPr>
              <a:t>CHANNEL COMPARISON</a:t>
            </a:r>
          </a:p>
        </p:txBody>
      </p:sp>
      <p:sp>
        <p:nvSpPr>
          <p:cNvPr id="5" name="TextBox 4"/>
          <p:cNvSpPr txBox="1"/>
          <p:nvPr/>
        </p:nvSpPr>
        <p:spPr>
          <a:xfrm>
            <a:off x="684000" y="792000"/>
            <a:ext cx="9324000" cy="432000"/>
          </a:xfrm>
          <a:prstGeom prst="rect">
            <a:avLst/>
          </a:prstGeom>
          <a:noFill/>
        </p:spPr>
        <p:txBody>
          <a:bodyPr wrap="square" anchor="t" lIns="0" rIns="0" tIns="0" bIns="0">
            <a:spAutoFit/>
          </a:bodyPr>
          <a:lstStyle/>
          <a:p>
            <a:pPr algn="l">
              <a:lnSpc>
                <a:spcPct val="120000"/>
              </a:lnSpc>
            </a:pPr>
            <a:r>
              <a:rPr sz="2200" b="1">
                <a:solidFill>
                  <a:srgbClr val="1A1D29"/>
                </a:solidFill>
                <a:latin typeface="Garamond"/>
                <a:ea typeface="游明朝"/>
              </a:rPr>
              <a:t>既存チャネルと競合せず、</a:t>
            </a:r>
            <a:r>
              <a:rPr sz="2200" b="1">
                <a:solidFill>
                  <a:srgbClr val="7A6030"/>
                </a:solidFill>
                <a:latin typeface="Garamond"/>
                <a:ea typeface="游明朝"/>
              </a:rPr>
              <a:t>補完</a:t>
            </a:r>
            <a:r>
              <a:rPr sz="2200" b="1">
                <a:solidFill>
                  <a:srgbClr val="1A1D29"/>
                </a:solidFill>
                <a:latin typeface="Garamond"/>
                <a:ea typeface="游明朝"/>
              </a:rPr>
              <a:t>します。</a:t>
            </a:r>
          </a:p>
        </p:txBody>
      </p:sp>
      <p:sp>
        <p:nvSpPr>
          <p:cNvPr id="6" name="Rectangle 5"/>
          <p:cNvSpPr/>
          <p:nvPr/>
        </p:nvSpPr>
        <p:spPr>
          <a:xfrm>
            <a:off x="684000" y="1296000"/>
            <a:ext cx="504000" cy="252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4000" y="1620000"/>
            <a:ext cx="1224000" cy="360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1908000" y="1620000"/>
            <a:ext cx="2520000" cy="360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2016000" y="1620000"/>
            <a:ext cx="2304000" cy="360000"/>
          </a:xfrm>
          <a:prstGeom prst="rect">
            <a:avLst/>
          </a:prstGeom>
          <a:noFill/>
        </p:spPr>
        <p:txBody>
          <a:bodyPr wrap="square" anchor="ctr" lIns="0" rIns="0" tIns="0" bIns="0">
            <a:spAutoFit/>
          </a:bodyPr>
          <a:lstStyle/>
          <a:p>
            <a:pPr algn="l">
              <a:lnSpc>
                <a:spcPct val="125000"/>
              </a:lnSpc>
            </a:pPr>
            <a:r>
              <a:rPr sz="950" b="1">
                <a:solidFill>
                  <a:srgbClr val="FFFFFF"/>
                </a:solidFill>
                <a:latin typeface="Garamond"/>
                <a:ea typeface="游明朝"/>
              </a:rPr>
              <a:t>スカウト媒体</a:t>
            </a:r>
          </a:p>
        </p:txBody>
      </p:sp>
      <p:sp>
        <p:nvSpPr>
          <p:cNvPr id="10" name="Rectangle 9"/>
          <p:cNvSpPr/>
          <p:nvPr/>
        </p:nvSpPr>
        <p:spPr>
          <a:xfrm>
            <a:off x="4428000" y="1620000"/>
            <a:ext cx="2520000" cy="360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36000" y="1620000"/>
            <a:ext cx="2304000" cy="360000"/>
          </a:xfrm>
          <a:prstGeom prst="rect">
            <a:avLst/>
          </a:prstGeom>
          <a:noFill/>
        </p:spPr>
        <p:txBody>
          <a:bodyPr wrap="square" anchor="ctr" lIns="0" rIns="0" tIns="0" bIns="0">
            <a:spAutoFit/>
          </a:bodyPr>
          <a:lstStyle/>
          <a:p>
            <a:pPr algn="l">
              <a:lnSpc>
                <a:spcPct val="125000"/>
              </a:lnSpc>
            </a:pPr>
            <a:r>
              <a:rPr sz="950" b="1">
                <a:solidFill>
                  <a:srgbClr val="FFFFFF"/>
                </a:solidFill>
                <a:latin typeface="Garamond"/>
                <a:ea typeface="游明朝"/>
              </a:rPr>
              <a:t>求人広告・自社集客</a:t>
            </a:r>
          </a:p>
        </p:txBody>
      </p:sp>
      <p:sp>
        <p:nvSpPr>
          <p:cNvPr id="12" name="Rectangle 11"/>
          <p:cNvSpPr/>
          <p:nvPr/>
        </p:nvSpPr>
        <p:spPr>
          <a:xfrm>
            <a:off x="6948000" y="1620000"/>
            <a:ext cx="3060000" cy="360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056000" y="1620000"/>
            <a:ext cx="2844000" cy="360000"/>
          </a:xfrm>
          <a:prstGeom prst="rect">
            <a:avLst/>
          </a:prstGeom>
          <a:noFill/>
        </p:spPr>
        <p:txBody>
          <a:bodyPr wrap="square" anchor="ctr" lIns="0" rIns="0" tIns="0" bIns="0">
            <a:spAutoFit/>
          </a:bodyPr>
          <a:lstStyle/>
          <a:p>
            <a:pPr algn="l">
              <a:lnSpc>
                <a:spcPct val="125000"/>
              </a:lnSpc>
            </a:pPr>
            <a:r>
              <a:rPr sz="950" b="1">
                <a:solidFill>
                  <a:srgbClr val="0A0E1A"/>
                </a:solidFill>
                <a:latin typeface="Garamond"/>
                <a:ea typeface="游明朝"/>
              </a:rPr>
              <a:t>MarkGate</a:t>
            </a:r>
          </a:p>
        </p:txBody>
      </p:sp>
      <p:sp>
        <p:nvSpPr>
          <p:cNvPr id="14" name="Rectangle 13"/>
          <p:cNvSpPr/>
          <p:nvPr/>
        </p:nvSpPr>
        <p:spPr>
          <a:xfrm>
            <a:off x="684000" y="1980000"/>
            <a:ext cx="1224000" cy="468000"/>
          </a:xfrm>
          <a:prstGeom prst="rect">
            <a:avLst/>
          </a:prstGeom>
          <a:solidFill>
            <a:srgbClr val="F1EDE3"/>
          </a:solidFill>
          <a:ln w="508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92000" y="1980000"/>
            <a:ext cx="1008000" cy="468000"/>
          </a:xfrm>
          <a:prstGeom prst="rect">
            <a:avLst/>
          </a:prstGeom>
          <a:noFill/>
        </p:spPr>
        <p:txBody>
          <a:bodyPr wrap="square" anchor="ctr" lIns="0" rIns="0" tIns="0" bIns="0">
            <a:spAutoFit/>
          </a:bodyPr>
          <a:lstStyle/>
          <a:p>
            <a:pPr algn="l">
              <a:lnSpc>
                <a:spcPct val="125000"/>
              </a:lnSpc>
            </a:pPr>
            <a:r>
              <a:rPr sz="850" b="1">
                <a:solidFill>
                  <a:srgbClr val="1A1D29"/>
                </a:solidFill>
                <a:latin typeface="Yu Gothic"/>
                <a:ea typeface="游ゴシック"/>
              </a:rPr>
              <a:t>接点の起点</a:t>
            </a:r>
          </a:p>
        </p:txBody>
      </p:sp>
      <p:sp>
        <p:nvSpPr>
          <p:cNvPr id="16" name="Rectangle 15"/>
          <p:cNvSpPr/>
          <p:nvPr/>
        </p:nvSpPr>
        <p:spPr>
          <a:xfrm>
            <a:off x="1908000" y="1980000"/>
            <a:ext cx="2520000" cy="468000"/>
          </a:xfrm>
          <a:prstGeom prst="rect">
            <a:avLst/>
          </a:prstGeom>
          <a:solidFill>
            <a:srgbClr val="FFFFFF"/>
          </a:solidFill>
          <a:ln w="508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016000" y="1980000"/>
            <a:ext cx="2304000" cy="468000"/>
          </a:xfrm>
          <a:prstGeom prst="rect">
            <a:avLst/>
          </a:prstGeom>
          <a:noFill/>
        </p:spPr>
        <p:txBody>
          <a:bodyPr wrap="square" anchor="ctr" lIns="0" rIns="0" tIns="0" bIns="0">
            <a:spAutoFit/>
          </a:bodyPr>
          <a:lstStyle/>
          <a:p>
            <a:pPr algn="l">
              <a:lnSpc>
                <a:spcPct val="125000"/>
              </a:lnSpc>
            </a:pPr>
            <a:r>
              <a:rPr sz="850" b="0">
                <a:solidFill>
                  <a:srgbClr val="3A3F4D"/>
                </a:solidFill>
                <a:latin typeface="Yu Gothic"/>
                <a:ea typeface="游ゴシック"/>
              </a:rPr>
              <a:t>アドバイザーからの送信（プッシュ型）</a:t>
            </a:r>
          </a:p>
        </p:txBody>
      </p:sp>
      <p:sp>
        <p:nvSpPr>
          <p:cNvPr id="18" name="Rectangle 17"/>
          <p:cNvSpPr/>
          <p:nvPr/>
        </p:nvSpPr>
        <p:spPr>
          <a:xfrm>
            <a:off x="4428000" y="1980000"/>
            <a:ext cx="2520000" cy="468000"/>
          </a:xfrm>
          <a:prstGeom prst="rect">
            <a:avLst/>
          </a:prstGeom>
          <a:solidFill>
            <a:srgbClr val="FFFFFF"/>
          </a:solidFill>
          <a:ln w="508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536000" y="1980000"/>
            <a:ext cx="2304000" cy="468000"/>
          </a:xfrm>
          <a:prstGeom prst="rect">
            <a:avLst/>
          </a:prstGeom>
          <a:noFill/>
        </p:spPr>
        <p:txBody>
          <a:bodyPr wrap="square" anchor="ctr" lIns="0" rIns="0" tIns="0" bIns="0">
            <a:spAutoFit/>
          </a:bodyPr>
          <a:lstStyle/>
          <a:p>
            <a:pPr algn="l">
              <a:lnSpc>
                <a:spcPct val="125000"/>
              </a:lnSpc>
            </a:pPr>
            <a:r>
              <a:rPr sz="850" b="0">
                <a:solidFill>
                  <a:srgbClr val="3A3F4D"/>
                </a:solidFill>
                <a:latin typeface="Yu Gothic"/>
                <a:ea typeface="游ゴシック"/>
              </a:rPr>
              <a:t>求人・企業情報への応募</a:t>
            </a:r>
          </a:p>
        </p:txBody>
      </p:sp>
      <p:sp>
        <p:nvSpPr>
          <p:cNvPr id="20" name="Rectangle 19"/>
          <p:cNvSpPr/>
          <p:nvPr/>
        </p:nvSpPr>
        <p:spPr>
          <a:xfrm>
            <a:off x="6948000" y="1980000"/>
            <a:ext cx="3060000" cy="468000"/>
          </a:xfrm>
          <a:prstGeom prst="rect">
            <a:avLst/>
          </a:prstGeom>
          <a:solidFill>
            <a:srgbClr val="FDF9F0"/>
          </a:solidFill>
          <a:ln w="508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056000" y="1980000"/>
            <a:ext cx="2844000" cy="468000"/>
          </a:xfrm>
          <a:prstGeom prst="rect">
            <a:avLst/>
          </a:prstGeom>
          <a:noFill/>
        </p:spPr>
        <p:txBody>
          <a:bodyPr wrap="square" anchor="ctr" lIns="0" rIns="0" tIns="0" bIns="0">
            <a:spAutoFit/>
          </a:bodyPr>
          <a:lstStyle/>
          <a:p>
            <a:pPr algn="l">
              <a:lnSpc>
                <a:spcPct val="125000"/>
              </a:lnSpc>
            </a:pPr>
            <a:r>
              <a:rPr sz="850" b="0">
                <a:solidFill>
                  <a:srgbClr val="1A1D29"/>
                </a:solidFill>
                <a:latin typeface="Yu Gothic"/>
                <a:ea typeface="游ゴシック"/>
              </a:rPr>
              <a:t>求職者からの「指名」（プル型）</a:t>
            </a:r>
          </a:p>
        </p:txBody>
      </p:sp>
      <p:sp>
        <p:nvSpPr>
          <p:cNvPr id="22" name="Rectangle 21"/>
          <p:cNvSpPr/>
          <p:nvPr/>
        </p:nvSpPr>
        <p:spPr>
          <a:xfrm>
            <a:off x="684000" y="2448000"/>
            <a:ext cx="1224000" cy="468000"/>
          </a:xfrm>
          <a:prstGeom prst="rect">
            <a:avLst/>
          </a:prstGeom>
          <a:solidFill>
            <a:srgbClr val="F1EDE3"/>
          </a:solidFill>
          <a:ln w="508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92000" y="2448000"/>
            <a:ext cx="1008000" cy="468000"/>
          </a:xfrm>
          <a:prstGeom prst="rect">
            <a:avLst/>
          </a:prstGeom>
          <a:noFill/>
        </p:spPr>
        <p:txBody>
          <a:bodyPr wrap="square" anchor="ctr" lIns="0" rIns="0" tIns="0" bIns="0">
            <a:spAutoFit/>
          </a:bodyPr>
          <a:lstStyle/>
          <a:p>
            <a:pPr algn="l">
              <a:lnSpc>
                <a:spcPct val="125000"/>
              </a:lnSpc>
            </a:pPr>
            <a:r>
              <a:rPr sz="850" b="1">
                <a:solidFill>
                  <a:srgbClr val="1A1D29"/>
                </a:solidFill>
                <a:latin typeface="Yu Gothic"/>
                <a:ea typeface="游ゴシック"/>
              </a:rPr>
              <a:t>求職者の温度感</a:t>
            </a:r>
          </a:p>
        </p:txBody>
      </p:sp>
      <p:sp>
        <p:nvSpPr>
          <p:cNvPr id="24" name="Rectangle 23"/>
          <p:cNvSpPr/>
          <p:nvPr/>
        </p:nvSpPr>
        <p:spPr>
          <a:xfrm>
            <a:off x="1908000" y="2448000"/>
            <a:ext cx="2520000" cy="468000"/>
          </a:xfrm>
          <a:prstGeom prst="rect">
            <a:avLst/>
          </a:prstGeom>
          <a:solidFill>
            <a:srgbClr val="FFFFFF"/>
          </a:solidFill>
          <a:ln w="508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016000" y="2448000"/>
            <a:ext cx="2304000" cy="468000"/>
          </a:xfrm>
          <a:prstGeom prst="rect">
            <a:avLst/>
          </a:prstGeom>
          <a:noFill/>
        </p:spPr>
        <p:txBody>
          <a:bodyPr wrap="square" anchor="ctr" lIns="0" rIns="0" tIns="0" bIns="0">
            <a:spAutoFit/>
          </a:bodyPr>
          <a:lstStyle/>
          <a:p>
            <a:pPr algn="l">
              <a:lnSpc>
                <a:spcPct val="125000"/>
              </a:lnSpc>
            </a:pPr>
            <a:r>
              <a:rPr sz="850" b="0">
                <a:solidFill>
                  <a:srgbClr val="3A3F4D"/>
                </a:solidFill>
                <a:latin typeface="Yu Gothic"/>
                <a:ea typeface="游ゴシック"/>
              </a:rPr>
              <a:t>比較検討前。返信後の見極めが必要</a:t>
            </a:r>
          </a:p>
        </p:txBody>
      </p:sp>
      <p:sp>
        <p:nvSpPr>
          <p:cNvPr id="26" name="Rectangle 25"/>
          <p:cNvSpPr/>
          <p:nvPr/>
        </p:nvSpPr>
        <p:spPr>
          <a:xfrm>
            <a:off x="4428000" y="2448000"/>
            <a:ext cx="2520000" cy="468000"/>
          </a:xfrm>
          <a:prstGeom prst="rect">
            <a:avLst/>
          </a:prstGeom>
          <a:solidFill>
            <a:srgbClr val="FFFFFF"/>
          </a:solidFill>
          <a:ln w="508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536000" y="2448000"/>
            <a:ext cx="2304000" cy="468000"/>
          </a:xfrm>
          <a:prstGeom prst="rect">
            <a:avLst/>
          </a:prstGeom>
          <a:noFill/>
        </p:spPr>
        <p:txBody>
          <a:bodyPr wrap="square" anchor="ctr" lIns="0" rIns="0" tIns="0" bIns="0">
            <a:spAutoFit/>
          </a:bodyPr>
          <a:lstStyle/>
          <a:p>
            <a:pPr algn="l">
              <a:lnSpc>
                <a:spcPct val="125000"/>
              </a:lnSpc>
            </a:pPr>
            <a:r>
              <a:rPr sz="850" b="0">
                <a:solidFill>
                  <a:srgbClr val="3A3F4D"/>
                </a:solidFill>
                <a:latin typeface="Yu Gothic"/>
                <a:ea typeface="游ゴシック"/>
              </a:rPr>
              <a:t>案件起点。担当者は選べない</a:t>
            </a:r>
          </a:p>
        </p:txBody>
      </p:sp>
      <p:sp>
        <p:nvSpPr>
          <p:cNvPr id="28" name="Rectangle 27"/>
          <p:cNvSpPr/>
          <p:nvPr/>
        </p:nvSpPr>
        <p:spPr>
          <a:xfrm>
            <a:off x="6948000" y="2448000"/>
            <a:ext cx="3060000" cy="468000"/>
          </a:xfrm>
          <a:prstGeom prst="rect">
            <a:avLst/>
          </a:prstGeom>
          <a:solidFill>
            <a:srgbClr val="FDF9F0"/>
          </a:solidFill>
          <a:ln w="508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056000" y="2448000"/>
            <a:ext cx="2844000" cy="468000"/>
          </a:xfrm>
          <a:prstGeom prst="rect">
            <a:avLst/>
          </a:prstGeom>
          <a:noFill/>
        </p:spPr>
        <p:txBody>
          <a:bodyPr wrap="square" anchor="ctr" lIns="0" rIns="0" tIns="0" bIns="0">
            <a:spAutoFit/>
          </a:bodyPr>
          <a:lstStyle/>
          <a:p>
            <a:pPr algn="l">
              <a:lnSpc>
                <a:spcPct val="125000"/>
              </a:lnSpc>
            </a:pPr>
            <a:r>
              <a:rPr sz="850" b="0">
                <a:solidFill>
                  <a:srgbClr val="1A1D29"/>
                </a:solidFill>
                <a:latin typeface="Yu Gothic"/>
                <a:ea typeface="游ゴシック"/>
              </a:rPr>
              <a:t>比較・納得済み。「任せたい」状態から開始</a:t>
            </a:r>
          </a:p>
        </p:txBody>
      </p:sp>
      <p:sp>
        <p:nvSpPr>
          <p:cNvPr id="30" name="Rectangle 29"/>
          <p:cNvSpPr/>
          <p:nvPr/>
        </p:nvSpPr>
        <p:spPr>
          <a:xfrm>
            <a:off x="684000" y="2916000"/>
            <a:ext cx="1224000" cy="468000"/>
          </a:xfrm>
          <a:prstGeom prst="rect">
            <a:avLst/>
          </a:prstGeom>
          <a:solidFill>
            <a:srgbClr val="F1EDE3"/>
          </a:solidFill>
          <a:ln w="508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92000" y="2916000"/>
            <a:ext cx="1008000" cy="468000"/>
          </a:xfrm>
          <a:prstGeom prst="rect">
            <a:avLst/>
          </a:prstGeom>
          <a:noFill/>
        </p:spPr>
        <p:txBody>
          <a:bodyPr wrap="square" anchor="ctr" lIns="0" rIns="0" tIns="0" bIns="0">
            <a:spAutoFit/>
          </a:bodyPr>
          <a:lstStyle/>
          <a:p>
            <a:pPr algn="l">
              <a:lnSpc>
                <a:spcPct val="125000"/>
              </a:lnSpc>
            </a:pPr>
            <a:r>
              <a:rPr sz="850" b="1">
                <a:solidFill>
                  <a:srgbClr val="1A1D29"/>
                </a:solidFill>
                <a:latin typeface="Yu Gothic"/>
                <a:ea typeface="游ゴシック"/>
              </a:rPr>
              <a:t>可視化されるもの</a:t>
            </a:r>
          </a:p>
        </p:txBody>
      </p:sp>
      <p:sp>
        <p:nvSpPr>
          <p:cNvPr id="32" name="Rectangle 31"/>
          <p:cNvSpPr/>
          <p:nvPr/>
        </p:nvSpPr>
        <p:spPr>
          <a:xfrm>
            <a:off x="1908000" y="2916000"/>
            <a:ext cx="2520000" cy="468000"/>
          </a:xfrm>
          <a:prstGeom prst="rect">
            <a:avLst/>
          </a:prstGeom>
          <a:solidFill>
            <a:srgbClr val="FFFFFF"/>
          </a:solidFill>
          <a:ln w="508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2016000" y="2916000"/>
            <a:ext cx="2304000" cy="468000"/>
          </a:xfrm>
          <a:prstGeom prst="rect">
            <a:avLst/>
          </a:prstGeom>
          <a:noFill/>
        </p:spPr>
        <p:txBody>
          <a:bodyPr wrap="square" anchor="ctr" lIns="0" rIns="0" tIns="0" bIns="0">
            <a:spAutoFit/>
          </a:bodyPr>
          <a:lstStyle/>
          <a:p>
            <a:pPr algn="l">
              <a:lnSpc>
                <a:spcPct val="125000"/>
              </a:lnSpc>
            </a:pPr>
            <a:r>
              <a:rPr sz="850" b="0">
                <a:solidFill>
                  <a:srgbClr val="3A3F4D"/>
                </a:solidFill>
                <a:latin typeface="Yu Gothic"/>
                <a:ea typeface="游ゴシック"/>
              </a:rPr>
              <a:t>求人案件・スカウト文面</a:t>
            </a:r>
          </a:p>
        </p:txBody>
      </p:sp>
      <p:sp>
        <p:nvSpPr>
          <p:cNvPr id="34" name="Rectangle 33"/>
          <p:cNvSpPr/>
          <p:nvPr/>
        </p:nvSpPr>
        <p:spPr>
          <a:xfrm>
            <a:off x="4428000" y="2916000"/>
            <a:ext cx="2520000" cy="468000"/>
          </a:xfrm>
          <a:prstGeom prst="rect">
            <a:avLst/>
          </a:prstGeom>
          <a:solidFill>
            <a:srgbClr val="FFFFFF"/>
          </a:solidFill>
          <a:ln w="508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36000" y="2916000"/>
            <a:ext cx="2304000" cy="468000"/>
          </a:xfrm>
          <a:prstGeom prst="rect">
            <a:avLst/>
          </a:prstGeom>
          <a:noFill/>
        </p:spPr>
        <p:txBody>
          <a:bodyPr wrap="square" anchor="ctr" lIns="0" rIns="0" tIns="0" bIns="0">
            <a:spAutoFit/>
          </a:bodyPr>
          <a:lstStyle/>
          <a:p>
            <a:pPr algn="l">
              <a:lnSpc>
                <a:spcPct val="125000"/>
              </a:lnSpc>
            </a:pPr>
            <a:r>
              <a:rPr sz="850" b="0">
                <a:solidFill>
                  <a:srgbClr val="3A3F4D"/>
                </a:solidFill>
                <a:latin typeface="Yu Gothic"/>
                <a:ea typeface="游ゴシック"/>
              </a:rPr>
              <a:t>会社・求人情報</a:t>
            </a:r>
          </a:p>
        </p:txBody>
      </p:sp>
      <p:sp>
        <p:nvSpPr>
          <p:cNvPr id="36" name="Rectangle 35"/>
          <p:cNvSpPr/>
          <p:nvPr/>
        </p:nvSpPr>
        <p:spPr>
          <a:xfrm>
            <a:off x="6948000" y="2916000"/>
            <a:ext cx="3060000" cy="468000"/>
          </a:xfrm>
          <a:prstGeom prst="rect">
            <a:avLst/>
          </a:prstGeom>
          <a:solidFill>
            <a:srgbClr val="FDF9F0"/>
          </a:solidFill>
          <a:ln w="508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056000" y="2916000"/>
            <a:ext cx="2844000" cy="468000"/>
          </a:xfrm>
          <a:prstGeom prst="rect">
            <a:avLst/>
          </a:prstGeom>
          <a:noFill/>
        </p:spPr>
        <p:txBody>
          <a:bodyPr wrap="square" anchor="ctr" lIns="0" rIns="0" tIns="0" bIns="0">
            <a:spAutoFit/>
          </a:bodyPr>
          <a:lstStyle/>
          <a:p>
            <a:pPr algn="l">
              <a:lnSpc>
                <a:spcPct val="125000"/>
              </a:lnSpc>
            </a:pPr>
            <a:r>
              <a:rPr sz="850" b="0">
                <a:solidFill>
                  <a:srgbClr val="1A1D29"/>
                </a:solidFill>
                <a:latin typeface="Yu Gothic"/>
                <a:ea typeface="游ゴシック"/>
              </a:rPr>
              <a:t>アドバイザー個人の実績・専門性</a:t>
            </a:r>
          </a:p>
        </p:txBody>
      </p:sp>
      <p:sp>
        <p:nvSpPr>
          <p:cNvPr id="38" name="Rectangle 37"/>
          <p:cNvSpPr/>
          <p:nvPr/>
        </p:nvSpPr>
        <p:spPr>
          <a:xfrm>
            <a:off x="684000" y="3384000"/>
            <a:ext cx="1224000" cy="540000"/>
          </a:xfrm>
          <a:prstGeom prst="rect">
            <a:avLst/>
          </a:prstGeom>
          <a:solidFill>
            <a:srgbClr val="F1EDE3"/>
          </a:solidFill>
          <a:ln w="508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92000" y="3384000"/>
            <a:ext cx="1008000" cy="540000"/>
          </a:xfrm>
          <a:prstGeom prst="rect">
            <a:avLst/>
          </a:prstGeom>
          <a:noFill/>
        </p:spPr>
        <p:txBody>
          <a:bodyPr wrap="square" anchor="ctr" lIns="0" rIns="0" tIns="0" bIns="0">
            <a:spAutoFit/>
          </a:bodyPr>
          <a:lstStyle/>
          <a:p>
            <a:pPr algn="l">
              <a:lnSpc>
                <a:spcPct val="125000"/>
              </a:lnSpc>
            </a:pPr>
            <a:r>
              <a:rPr sz="850" b="1">
                <a:solidFill>
                  <a:srgbClr val="1A1D29"/>
                </a:solidFill>
                <a:latin typeface="Yu Gothic"/>
                <a:ea typeface="游ゴシック"/>
              </a:rPr>
              <a:t>主な工数・費用</a:t>
            </a:r>
          </a:p>
        </p:txBody>
      </p:sp>
      <p:sp>
        <p:nvSpPr>
          <p:cNvPr id="40" name="Rectangle 39"/>
          <p:cNvSpPr/>
          <p:nvPr/>
        </p:nvSpPr>
        <p:spPr>
          <a:xfrm>
            <a:off x="1908000" y="3384000"/>
            <a:ext cx="2520000" cy="540000"/>
          </a:xfrm>
          <a:prstGeom prst="rect">
            <a:avLst/>
          </a:prstGeom>
          <a:solidFill>
            <a:srgbClr val="FFFFFF"/>
          </a:solidFill>
          <a:ln w="508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2016000" y="3384000"/>
            <a:ext cx="2304000" cy="540000"/>
          </a:xfrm>
          <a:prstGeom prst="rect">
            <a:avLst/>
          </a:prstGeom>
          <a:noFill/>
        </p:spPr>
        <p:txBody>
          <a:bodyPr wrap="square" anchor="ctr" lIns="0" rIns="0" tIns="0" bIns="0">
            <a:spAutoFit/>
          </a:bodyPr>
          <a:lstStyle/>
          <a:p>
            <a:pPr algn="l">
              <a:lnSpc>
                <a:spcPct val="125000"/>
              </a:lnSpc>
            </a:pPr>
            <a:r>
              <a:rPr sz="850" b="0">
                <a:solidFill>
                  <a:srgbClr val="3A3F4D"/>
                </a:solidFill>
                <a:latin typeface="Yu Gothic"/>
                <a:ea typeface="游ゴシック"/>
              </a:rPr>
              <a:t>送信工数＋データベース利用・課金</a:t>
            </a:r>
          </a:p>
        </p:txBody>
      </p:sp>
      <p:sp>
        <p:nvSpPr>
          <p:cNvPr id="42" name="Rectangle 41"/>
          <p:cNvSpPr/>
          <p:nvPr/>
        </p:nvSpPr>
        <p:spPr>
          <a:xfrm>
            <a:off x="4428000" y="3384000"/>
            <a:ext cx="2520000" cy="540000"/>
          </a:xfrm>
          <a:prstGeom prst="rect">
            <a:avLst/>
          </a:prstGeom>
          <a:solidFill>
            <a:srgbClr val="FFFFFF"/>
          </a:solidFill>
          <a:ln w="508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4536000" y="3384000"/>
            <a:ext cx="2304000" cy="540000"/>
          </a:xfrm>
          <a:prstGeom prst="rect">
            <a:avLst/>
          </a:prstGeom>
          <a:noFill/>
        </p:spPr>
        <p:txBody>
          <a:bodyPr wrap="square" anchor="ctr" lIns="0" rIns="0" tIns="0" bIns="0">
            <a:spAutoFit/>
          </a:bodyPr>
          <a:lstStyle/>
          <a:p>
            <a:pPr algn="l">
              <a:lnSpc>
                <a:spcPct val="125000"/>
              </a:lnSpc>
            </a:pPr>
            <a:r>
              <a:rPr sz="850" b="0">
                <a:solidFill>
                  <a:srgbClr val="3A3F4D"/>
                </a:solidFill>
                <a:latin typeface="Yu Gothic"/>
                <a:ea typeface="游ゴシック"/>
              </a:rPr>
              <a:t>掲載費・広告運用</a:t>
            </a:r>
          </a:p>
        </p:txBody>
      </p:sp>
      <p:sp>
        <p:nvSpPr>
          <p:cNvPr id="44" name="Rectangle 43"/>
          <p:cNvSpPr/>
          <p:nvPr/>
        </p:nvSpPr>
        <p:spPr>
          <a:xfrm>
            <a:off x="6948000" y="3384000"/>
            <a:ext cx="3060000" cy="540000"/>
          </a:xfrm>
          <a:prstGeom prst="rect">
            <a:avLst/>
          </a:prstGeom>
          <a:solidFill>
            <a:srgbClr val="FDF9F0"/>
          </a:solidFill>
          <a:ln w="508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056000" y="3384000"/>
            <a:ext cx="2844000" cy="540000"/>
          </a:xfrm>
          <a:prstGeom prst="rect">
            <a:avLst/>
          </a:prstGeom>
          <a:noFill/>
        </p:spPr>
        <p:txBody>
          <a:bodyPr wrap="square" anchor="ctr" lIns="0" rIns="0" tIns="0" bIns="0">
            <a:spAutoFit/>
          </a:bodyPr>
          <a:lstStyle/>
          <a:p>
            <a:pPr algn="l">
              <a:lnSpc>
                <a:spcPct val="125000"/>
              </a:lnSpc>
            </a:pPr>
            <a:r>
              <a:rPr sz="850" b="0">
                <a:solidFill>
                  <a:srgbClr val="1A1D29"/>
                </a:solidFill>
                <a:latin typeface="Yu Gothic"/>
                <a:ea typeface="游ゴシック"/>
              </a:rPr>
              <a:t>プロフィール整備＋月額費用（開始キャンペーンにより1年目無料※）</a:t>
            </a:r>
          </a:p>
        </p:txBody>
      </p:sp>
      <p:sp>
        <p:nvSpPr>
          <p:cNvPr id="46" name="Rectangle 45"/>
          <p:cNvSpPr/>
          <p:nvPr/>
        </p:nvSpPr>
        <p:spPr>
          <a:xfrm>
            <a:off x="684000" y="3924000"/>
            <a:ext cx="1224000" cy="468000"/>
          </a:xfrm>
          <a:prstGeom prst="rect">
            <a:avLst/>
          </a:prstGeom>
          <a:solidFill>
            <a:srgbClr val="F1EDE3"/>
          </a:solidFill>
          <a:ln w="508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792000" y="3924000"/>
            <a:ext cx="1008000" cy="468000"/>
          </a:xfrm>
          <a:prstGeom prst="rect">
            <a:avLst/>
          </a:prstGeom>
          <a:noFill/>
        </p:spPr>
        <p:txBody>
          <a:bodyPr wrap="square" anchor="ctr" lIns="0" rIns="0" tIns="0" bIns="0">
            <a:spAutoFit/>
          </a:bodyPr>
          <a:lstStyle/>
          <a:p>
            <a:pPr algn="l">
              <a:lnSpc>
                <a:spcPct val="125000"/>
              </a:lnSpc>
            </a:pPr>
            <a:r>
              <a:rPr sz="850" b="1">
                <a:solidFill>
                  <a:srgbClr val="1A1D29"/>
                </a:solidFill>
                <a:latin typeface="Yu Gothic"/>
                <a:ea typeface="游ゴシック"/>
              </a:rPr>
              <a:t>対象層</a:t>
            </a:r>
          </a:p>
        </p:txBody>
      </p:sp>
      <p:sp>
        <p:nvSpPr>
          <p:cNvPr id="48" name="Rectangle 47"/>
          <p:cNvSpPr/>
          <p:nvPr/>
        </p:nvSpPr>
        <p:spPr>
          <a:xfrm>
            <a:off x="1908000" y="3924000"/>
            <a:ext cx="2520000" cy="468000"/>
          </a:xfrm>
          <a:prstGeom prst="rect">
            <a:avLst/>
          </a:prstGeom>
          <a:solidFill>
            <a:srgbClr val="FFFFFF"/>
          </a:solidFill>
          <a:ln w="508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2016000" y="3924000"/>
            <a:ext cx="2304000" cy="468000"/>
          </a:xfrm>
          <a:prstGeom prst="rect">
            <a:avLst/>
          </a:prstGeom>
          <a:noFill/>
        </p:spPr>
        <p:txBody>
          <a:bodyPr wrap="square" anchor="ctr" lIns="0" rIns="0" tIns="0" bIns="0">
            <a:spAutoFit/>
          </a:bodyPr>
          <a:lstStyle/>
          <a:p>
            <a:pPr algn="l">
              <a:lnSpc>
                <a:spcPct val="125000"/>
              </a:lnSpc>
            </a:pPr>
            <a:r>
              <a:rPr sz="850" b="0">
                <a:solidFill>
                  <a:srgbClr val="3A3F4D"/>
                </a:solidFill>
                <a:latin typeface="Yu Gothic"/>
                <a:ea typeface="游ゴシック"/>
              </a:rPr>
              <a:t>媒体登録者全般</a:t>
            </a:r>
          </a:p>
        </p:txBody>
      </p:sp>
      <p:sp>
        <p:nvSpPr>
          <p:cNvPr id="50" name="Rectangle 49"/>
          <p:cNvSpPr/>
          <p:nvPr/>
        </p:nvSpPr>
        <p:spPr>
          <a:xfrm>
            <a:off x="4428000" y="3924000"/>
            <a:ext cx="2520000" cy="468000"/>
          </a:xfrm>
          <a:prstGeom prst="rect">
            <a:avLst/>
          </a:prstGeom>
          <a:solidFill>
            <a:srgbClr val="FFFFFF"/>
          </a:solidFill>
          <a:ln w="508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4536000" y="3924000"/>
            <a:ext cx="2304000" cy="468000"/>
          </a:xfrm>
          <a:prstGeom prst="rect">
            <a:avLst/>
          </a:prstGeom>
          <a:noFill/>
        </p:spPr>
        <p:txBody>
          <a:bodyPr wrap="square" anchor="ctr" lIns="0" rIns="0" tIns="0" bIns="0">
            <a:spAutoFit/>
          </a:bodyPr>
          <a:lstStyle/>
          <a:p>
            <a:pPr algn="l">
              <a:lnSpc>
                <a:spcPct val="125000"/>
              </a:lnSpc>
            </a:pPr>
            <a:r>
              <a:rPr sz="850" b="0">
                <a:solidFill>
                  <a:srgbClr val="3A3F4D"/>
                </a:solidFill>
                <a:latin typeface="Yu Gothic"/>
                <a:ea typeface="游ゴシック"/>
              </a:rPr>
              <a:t>広く一般</a:t>
            </a:r>
          </a:p>
        </p:txBody>
      </p:sp>
      <p:sp>
        <p:nvSpPr>
          <p:cNvPr id="52" name="Rectangle 51"/>
          <p:cNvSpPr/>
          <p:nvPr/>
        </p:nvSpPr>
        <p:spPr>
          <a:xfrm>
            <a:off x="6948000" y="3924000"/>
            <a:ext cx="3060000" cy="468000"/>
          </a:xfrm>
          <a:prstGeom prst="rect">
            <a:avLst/>
          </a:prstGeom>
          <a:solidFill>
            <a:srgbClr val="FDF9F0"/>
          </a:solidFill>
          <a:ln w="508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7056000" y="3924000"/>
            <a:ext cx="2844000" cy="468000"/>
          </a:xfrm>
          <a:prstGeom prst="rect">
            <a:avLst/>
          </a:prstGeom>
          <a:noFill/>
        </p:spPr>
        <p:txBody>
          <a:bodyPr wrap="square" anchor="ctr" lIns="0" rIns="0" tIns="0" bIns="0">
            <a:spAutoFit/>
          </a:bodyPr>
          <a:lstStyle/>
          <a:p>
            <a:pPr algn="l">
              <a:lnSpc>
                <a:spcPct val="125000"/>
              </a:lnSpc>
            </a:pPr>
            <a:r>
              <a:rPr sz="850" b="0">
                <a:solidFill>
                  <a:srgbClr val="1A1D29"/>
                </a:solidFill>
                <a:latin typeface="Yu Gothic"/>
                <a:ea typeface="游ゴシック"/>
              </a:rPr>
              <a:t>ハイクラス・エグゼクティブ（年収800万円以上を想定）</a:t>
            </a:r>
          </a:p>
        </p:txBody>
      </p:sp>
      <p:sp>
        <p:nvSpPr>
          <p:cNvPr id="54" name="Rectangle 53"/>
          <p:cNvSpPr/>
          <p:nvPr/>
        </p:nvSpPr>
        <p:spPr>
          <a:xfrm>
            <a:off x="6948000" y="1620000"/>
            <a:ext cx="3060000" cy="2772000"/>
          </a:xfrm>
          <a:prstGeom prst="rect">
            <a:avLst/>
          </a:prstGeom>
          <a:noFill/>
          <a:ln w="12700">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684000" y="4500000"/>
            <a:ext cx="9324000" cy="360000"/>
          </a:xfrm>
          <a:prstGeom prst="rect">
            <a:avLst/>
          </a:prstGeom>
          <a:noFill/>
        </p:spPr>
        <p:txBody>
          <a:bodyPr wrap="square" anchor="t" lIns="0" rIns="0" tIns="0" bIns="0">
            <a:spAutoFit/>
          </a:bodyPr>
          <a:lstStyle/>
          <a:p>
            <a:pPr algn="l">
              <a:lnSpc>
                <a:spcPct val="140000"/>
              </a:lnSpc>
            </a:pPr>
            <a:r>
              <a:rPr sz="750" b="0">
                <a:solidFill>
                  <a:srgbClr val="5F6672"/>
                </a:solidFill>
                <a:latin typeface="Yu Gothic"/>
                <a:ea typeface="游ゴシック"/>
              </a:rPr>
              <a:t>※ 各チャネルの特徴は一般的な傾向を整理したものです。料金の詳細は P.11 をご覧ください。既存のスカウト・広告チャネルと併用いただけます。</a:t>
            </a:r>
          </a:p>
        </p:txBody>
      </p:sp>
      <p:sp>
        <p:nvSpPr>
          <p:cNvPr id="56" name="TextBox 55"/>
          <p:cNvSpPr txBox="1"/>
          <p:nvPr/>
        </p:nvSpPr>
        <p:spPr>
          <a:xfrm>
            <a:off x="684000" y="7182000"/>
            <a:ext cx="7200000" cy="216000"/>
          </a:xfrm>
          <a:prstGeom prst="rect">
            <a:avLst/>
          </a:prstGeom>
          <a:noFill/>
        </p:spPr>
        <p:txBody>
          <a:bodyPr wrap="square" anchor="t" lIns="0" rIns="0" tIns="0" bIns="0">
            <a:spAutoFit/>
          </a:bodyPr>
          <a:lstStyle/>
          <a:p>
            <a:pPr algn="l">
              <a:lnSpc>
                <a:spcPct val="125000"/>
              </a:lnSpc>
            </a:pPr>
            <a:r>
              <a:rPr sz="900" b="1">
                <a:solidFill>
                  <a:srgbClr val="7A6030"/>
                </a:solidFill>
                <a:latin typeface="Garamond"/>
                <a:ea typeface="游明朝"/>
              </a:rPr>
              <a:t>MarkGate</a:t>
            </a:r>
            <a:r>
              <a:rPr sz="700" b="0">
                <a:solidFill>
                  <a:srgbClr val="5F6672"/>
                </a:solidFill>
                <a:latin typeface="Yu Gothic"/>
                <a:ea typeface="游ゴシック"/>
              </a:rPr>
              <a:t>　人材紹介エージェント様向けご提案資料</a:t>
            </a:r>
          </a:p>
        </p:txBody>
      </p:sp>
      <p:sp>
        <p:nvSpPr>
          <p:cNvPr id="57" name="TextBox 56"/>
          <p:cNvSpPr txBox="1"/>
          <p:nvPr/>
        </p:nvSpPr>
        <p:spPr>
          <a:xfrm>
            <a:off x="9000000" y="7182000"/>
            <a:ext cx="1008000" cy="216000"/>
          </a:xfrm>
          <a:prstGeom prst="rect">
            <a:avLst/>
          </a:prstGeom>
          <a:noFill/>
        </p:spPr>
        <p:txBody>
          <a:bodyPr wrap="square" anchor="t" lIns="0" rIns="0" tIns="0" bIns="0">
            <a:spAutoFit/>
          </a:bodyPr>
          <a:lstStyle/>
          <a:p>
            <a:pPr algn="r">
              <a:lnSpc>
                <a:spcPct val="125000"/>
              </a:lnSpc>
            </a:pPr>
            <a:r>
              <a:rPr sz="900" b="0" spc="100">
                <a:solidFill>
                  <a:srgbClr val="5F6672"/>
                </a:solidFill>
                <a:latin typeface="Garamond"/>
                <a:ea typeface="游明朝"/>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92000" cy="7560000"/>
          </a:xfrm>
          <a:prstGeom prst="rect">
            <a:avLst/>
          </a:prstGeom>
          <a:solidFill>
            <a:srgbClr val="F8F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84000" y="432000"/>
            <a:ext cx="720000" cy="360000"/>
          </a:xfrm>
          <a:prstGeom prst="rect">
            <a:avLst/>
          </a:prstGeom>
          <a:noFill/>
        </p:spPr>
        <p:txBody>
          <a:bodyPr wrap="square" anchor="t" lIns="0" rIns="0" tIns="0" bIns="0">
            <a:spAutoFit/>
          </a:bodyPr>
          <a:lstStyle/>
          <a:p>
            <a:pPr algn="l">
              <a:lnSpc>
                <a:spcPct val="125000"/>
              </a:lnSpc>
            </a:pPr>
            <a:r>
              <a:rPr sz="1700" b="0">
                <a:solidFill>
                  <a:srgbClr val="C6A15B"/>
                </a:solidFill>
                <a:latin typeface="Garamond"/>
                <a:ea typeface="游明朝"/>
              </a:rPr>
              <a:t>08</a:t>
            </a:r>
          </a:p>
        </p:txBody>
      </p:sp>
      <p:sp>
        <p:nvSpPr>
          <p:cNvPr id="4" name="TextBox 3"/>
          <p:cNvSpPr txBox="1"/>
          <p:nvPr/>
        </p:nvSpPr>
        <p:spPr>
          <a:xfrm>
            <a:off x="1188000" y="547200"/>
            <a:ext cx="7200000" cy="216000"/>
          </a:xfrm>
          <a:prstGeom prst="rect">
            <a:avLst/>
          </a:prstGeom>
          <a:noFill/>
        </p:spPr>
        <p:txBody>
          <a:bodyPr wrap="square" anchor="t" lIns="0" rIns="0" tIns="0" bIns="0">
            <a:spAutoFit/>
          </a:bodyPr>
          <a:lstStyle/>
          <a:p>
            <a:pPr algn="l">
              <a:lnSpc>
                <a:spcPct val="125000"/>
              </a:lnSpc>
            </a:pPr>
            <a:r>
              <a:rPr sz="750" b="0" spc="300">
                <a:solidFill>
                  <a:srgbClr val="7A6030"/>
                </a:solidFill>
                <a:latin typeface="Yu Gothic"/>
                <a:ea typeface="游ゴシック"/>
              </a:rPr>
              <a:t>SCREENING</a:t>
            </a:r>
          </a:p>
        </p:txBody>
      </p:sp>
      <p:sp>
        <p:nvSpPr>
          <p:cNvPr id="5" name="TextBox 4"/>
          <p:cNvSpPr txBox="1"/>
          <p:nvPr/>
        </p:nvSpPr>
        <p:spPr>
          <a:xfrm>
            <a:off x="684000" y="792000"/>
            <a:ext cx="9324000" cy="432000"/>
          </a:xfrm>
          <a:prstGeom prst="rect">
            <a:avLst/>
          </a:prstGeom>
          <a:noFill/>
        </p:spPr>
        <p:txBody>
          <a:bodyPr wrap="square" anchor="t" lIns="0" rIns="0" tIns="0" bIns="0">
            <a:spAutoFit/>
          </a:bodyPr>
          <a:lstStyle/>
          <a:p>
            <a:pPr algn="l">
              <a:lnSpc>
                <a:spcPct val="120000"/>
              </a:lnSpc>
            </a:pPr>
            <a:r>
              <a:rPr sz="2200" b="1">
                <a:solidFill>
                  <a:srgbClr val="1A1D29"/>
                </a:solidFill>
                <a:latin typeface="Garamond"/>
                <a:ea typeface="游明朝"/>
              </a:rPr>
              <a:t>登録アドバイザーの審査について。</a:t>
            </a:r>
          </a:p>
        </p:txBody>
      </p:sp>
      <p:sp>
        <p:nvSpPr>
          <p:cNvPr id="6" name="TextBox 5"/>
          <p:cNvSpPr txBox="1"/>
          <p:nvPr/>
        </p:nvSpPr>
        <p:spPr>
          <a:xfrm>
            <a:off x="684000" y="1260000"/>
            <a:ext cx="9000000" cy="360000"/>
          </a:xfrm>
          <a:prstGeom prst="rect">
            <a:avLst/>
          </a:prstGeom>
          <a:noFill/>
        </p:spPr>
        <p:txBody>
          <a:bodyPr wrap="square" anchor="t" lIns="0" rIns="0" tIns="0" bIns="0">
            <a:spAutoFit/>
          </a:bodyPr>
          <a:lstStyle/>
          <a:p>
            <a:pPr algn="l">
              <a:lnSpc>
                <a:spcPct val="140000"/>
              </a:lnSpc>
            </a:pPr>
            <a:r>
              <a:rPr sz="1000" b="0">
                <a:solidFill>
                  <a:srgbClr val="3A3F4D"/>
                </a:solidFill>
                <a:latin typeface="Yu Gothic"/>
                <a:ea typeface="游ゴシック"/>
              </a:rPr>
              <a:t>「トップアドバイザーだけが集う」というプラットフォームの価値は、審査によって守られます。だからこそ、通過したアドバイザーの掲載には意味が生まれます。</a:t>
            </a:r>
          </a:p>
        </p:txBody>
      </p:sp>
      <p:sp>
        <p:nvSpPr>
          <p:cNvPr id="7" name="Rectangle 6"/>
          <p:cNvSpPr/>
          <p:nvPr/>
        </p:nvSpPr>
        <p:spPr>
          <a:xfrm>
            <a:off x="684000" y="1656000"/>
            <a:ext cx="504000" cy="252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84000" y="1944000"/>
            <a:ext cx="3600000" cy="180000"/>
          </a:xfrm>
          <a:prstGeom prst="rect">
            <a:avLst/>
          </a:prstGeom>
          <a:noFill/>
        </p:spPr>
        <p:txBody>
          <a:bodyPr wrap="square" anchor="t" lIns="0" rIns="0" tIns="0" bIns="0">
            <a:spAutoFit/>
          </a:bodyPr>
          <a:lstStyle/>
          <a:p>
            <a:pPr algn="l">
              <a:lnSpc>
                <a:spcPct val="125000"/>
              </a:lnSpc>
            </a:pPr>
            <a:r>
              <a:rPr sz="800" b="0" spc="250">
                <a:solidFill>
                  <a:srgbClr val="7A6030"/>
                </a:solidFill>
                <a:latin typeface="Yu Gothic"/>
                <a:ea typeface="游ゴシック"/>
              </a:rPr>
              <a:t>主な審査基準</a:t>
            </a:r>
          </a:p>
        </p:txBody>
      </p:sp>
      <p:sp>
        <p:nvSpPr>
          <p:cNvPr id="9" name="Rectangle 8"/>
          <p:cNvSpPr/>
          <p:nvPr/>
        </p:nvSpPr>
        <p:spPr>
          <a:xfrm>
            <a:off x="684000" y="2196000"/>
            <a:ext cx="5040000" cy="684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84000" y="2196000"/>
            <a:ext cx="36000" cy="684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00000" y="2286000"/>
            <a:ext cx="4680000" cy="540000"/>
          </a:xfrm>
          <a:prstGeom prst="rect">
            <a:avLst/>
          </a:prstGeom>
          <a:noFill/>
        </p:spPr>
        <p:txBody>
          <a:bodyPr wrap="square" anchor="t" lIns="0" rIns="0" tIns="0" bIns="0">
            <a:spAutoFit/>
          </a:bodyPr>
          <a:lstStyle/>
          <a:p>
            <a:pPr algn="l">
              <a:lnSpc>
                <a:spcPct val="125000"/>
              </a:lnSpc>
              <a:spcAft>
                <a:spcPts val="100"/>
              </a:spcAft>
            </a:pPr>
            <a:r>
              <a:rPr sz="1050" b="1">
                <a:solidFill>
                  <a:srgbClr val="1A1D29"/>
                </a:solidFill>
                <a:latin typeface="Garamond"/>
                <a:ea typeface="游明朝"/>
              </a:rPr>
              <a:t>成約実績</a:t>
            </a:r>
          </a:p>
          <a:p>
            <a:pPr algn="l">
              <a:lnSpc>
                <a:spcPct val="130000"/>
              </a:lnSpc>
            </a:pPr>
            <a:r>
              <a:rPr sz="800" b="0">
                <a:solidFill>
                  <a:srgbClr val="3A3F4D"/>
                </a:solidFill>
                <a:latin typeface="Yu Gothic"/>
                <a:ea typeface="游ゴシック"/>
              </a:rPr>
              <a:t>ハイクラス帯（年収800万円以上を想定）での決定実績・成約の質を重視します。</a:t>
            </a:r>
          </a:p>
        </p:txBody>
      </p:sp>
      <p:sp>
        <p:nvSpPr>
          <p:cNvPr id="12" name="Rectangle 11"/>
          <p:cNvSpPr/>
          <p:nvPr/>
        </p:nvSpPr>
        <p:spPr>
          <a:xfrm>
            <a:off x="684000" y="3006000"/>
            <a:ext cx="5040000" cy="684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84000" y="3006000"/>
            <a:ext cx="36000" cy="684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00000" y="3096000"/>
            <a:ext cx="4680000" cy="540000"/>
          </a:xfrm>
          <a:prstGeom prst="rect">
            <a:avLst/>
          </a:prstGeom>
          <a:noFill/>
        </p:spPr>
        <p:txBody>
          <a:bodyPr wrap="square" anchor="t" lIns="0" rIns="0" tIns="0" bIns="0">
            <a:spAutoFit/>
          </a:bodyPr>
          <a:lstStyle/>
          <a:p>
            <a:pPr algn="l">
              <a:lnSpc>
                <a:spcPct val="125000"/>
              </a:lnSpc>
              <a:spcAft>
                <a:spcPts val="100"/>
              </a:spcAft>
            </a:pPr>
            <a:r>
              <a:rPr sz="1050" b="1">
                <a:solidFill>
                  <a:srgbClr val="1A1D29"/>
                </a:solidFill>
                <a:latin typeface="Garamond"/>
                <a:ea typeface="游明朝"/>
              </a:rPr>
              <a:t>専門性</a:t>
            </a:r>
          </a:p>
          <a:p>
            <a:pPr algn="l">
              <a:lnSpc>
                <a:spcPct val="130000"/>
              </a:lnSpc>
            </a:pPr>
            <a:r>
              <a:rPr sz="800" b="0">
                <a:solidFill>
                  <a:srgbClr val="3A3F4D"/>
                </a:solidFill>
                <a:latin typeface="Yu Gothic"/>
                <a:ea typeface="游ゴシック"/>
              </a:rPr>
              <a:t>特定の業界・職種・レイヤーにおける知見の深さと、非公開・上位ポジションへの接続力。</a:t>
            </a:r>
          </a:p>
        </p:txBody>
      </p:sp>
      <p:sp>
        <p:nvSpPr>
          <p:cNvPr id="15" name="Rectangle 14"/>
          <p:cNvSpPr/>
          <p:nvPr/>
        </p:nvSpPr>
        <p:spPr>
          <a:xfrm>
            <a:off x="684000" y="3816000"/>
            <a:ext cx="5040000" cy="684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84000" y="3816000"/>
            <a:ext cx="36000" cy="684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00000" y="3906000"/>
            <a:ext cx="4680000" cy="540000"/>
          </a:xfrm>
          <a:prstGeom prst="rect">
            <a:avLst/>
          </a:prstGeom>
          <a:noFill/>
        </p:spPr>
        <p:txBody>
          <a:bodyPr wrap="square" anchor="t" lIns="0" rIns="0" tIns="0" bIns="0">
            <a:spAutoFit/>
          </a:bodyPr>
          <a:lstStyle/>
          <a:p>
            <a:pPr algn="l">
              <a:lnSpc>
                <a:spcPct val="125000"/>
              </a:lnSpc>
              <a:spcAft>
                <a:spcPts val="100"/>
              </a:spcAft>
            </a:pPr>
            <a:r>
              <a:rPr sz="1050" b="1">
                <a:solidFill>
                  <a:srgbClr val="1A1D29"/>
                </a:solidFill>
                <a:latin typeface="Garamond"/>
                <a:ea typeface="游明朝"/>
              </a:rPr>
              <a:t>経歴・所属での位置づけ</a:t>
            </a:r>
          </a:p>
          <a:p>
            <a:pPr algn="l">
              <a:lnSpc>
                <a:spcPct val="130000"/>
              </a:lnSpc>
            </a:pPr>
            <a:r>
              <a:rPr sz="800" b="0">
                <a:solidFill>
                  <a:srgbClr val="3A3F4D"/>
                </a:solidFill>
                <a:latin typeface="Yu Gothic"/>
                <a:ea typeface="游ゴシック"/>
              </a:rPr>
              <a:t>キャリアアドバイザーとしての経験と、所属エージェントにおける実績上位であること。</a:t>
            </a:r>
          </a:p>
        </p:txBody>
      </p:sp>
      <p:sp>
        <p:nvSpPr>
          <p:cNvPr id="18" name="Rectangle 17"/>
          <p:cNvSpPr/>
          <p:nvPr/>
        </p:nvSpPr>
        <p:spPr>
          <a:xfrm>
            <a:off x="684000" y="4626000"/>
            <a:ext cx="5040000" cy="684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84000" y="4626000"/>
            <a:ext cx="36000" cy="684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900000" y="4716000"/>
            <a:ext cx="4680000" cy="540000"/>
          </a:xfrm>
          <a:prstGeom prst="rect">
            <a:avLst/>
          </a:prstGeom>
          <a:noFill/>
        </p:spPr>
        <p:txBody>
          <a:bodyPr wrap="square" anchor="t" lIns="0" rIns="0" tIns="0" bIns="0">
            <a:spAutoFit/>
          </a:bodyPr>
          <a:lstStyle/>
          <a:p>
            <a:pPr algn="l">
              <a:lnSpc>
                <a:spcPct val="125000"/>
              </a:lnSpc>
              <a:spcAft>
                <a:spcPts val="100"/>
              </a:spcAft>
            </a:pPr>
            <a:r>
              <a:rPr sz="1050" b="1">
                <a:solidFill>
                  <a:srgbClr val="1A1D29"/>
                </a:solidFill>
                <a:latin typeface="Garamond"/>
                <a:ea typeface="游明朝"/>
              </a:rPr>
              <a:t>支援スタンス</a:t>
            </a:r>
          </a:p>
          <a:p>
            <a:pPr algn="l">
              <a:lnSpc>
                <a:spcPct val="130000"/>
              </a:lnSpc>
            </a:pPr>
            <a:r>
              <a:rPr sz="800" b="0">
                <a:solidFill>
                  <a:srgbClr val="3A3F4D"/>
                </a:solidFill>
                <a:latin typeface="Yu Gothic"/>
                <a:ea typeface="游ゴシック"/>
              </a:rPr>
              <a:t>求職者のキャリアに長期目線で向き合う姿勢。プラットフォームの品質をともに守れる方。</a:t>
            </a:r>
          </a:p>
        </p:txBody>
      </p:sp>
      <p:sp>
        <p:nvSpPr>
          <p:cNvPr id="21" name="TextBox 20"/>
          <p:cNvSpPr txBox="1"/>
          <p:nvPr/>
        </p:nvSpPr>
        <p:spPr>
          <a:xfrm>
            <a:off x="6192000" y="1944000"/>
            <a:ext cx="3600000" cy="180000"/>
          </a:xfrm>
          <a:prstGeom prst="rect">
            <a:avLst/>
          </a:prstGeom>
          <a:noFill/>
        </p:spPr>
        <p:txBody>
          <a:bodyPr wrap="square" anchor="t" lIns="0" rIns="0" tIns="0" bIns="0">
            <a:spAutoFit/>
          </a:bodyPr>
          <a:lstStyle/>
          <a:p>
            <a:pPr algn="l">
              <a:lnSpc>
                <a:spcPct val="125000"/>
              </a:lnSpc>
            </a:pPr>
            <a:r>
              <a:rPr sz="800" b="0" spc="250">
                <a:solidFill>
                  <a:srgbClr val="7A6030"/>
                </a:solidFill>
                <a:latin typeface="Yu Gothic"/>
                <a:ea typeface="游ゴシック"/>
              </a:rPr>
              <a:t>審査の流れ</a:t>
            </a:r>
          </a:p>
        </p:txBody>
      </p:sp>
      <p:sp>
        <p:nvSpPr>
          <p:cNvPr id="22" name="Oval 21"/>
          <p:cNvSpPr/>
          <p:nvPr/>
        </p:nvSpPr>
        <p:spPr>
          <a:xfrm>
            <a:off x="6192000" y="2214000"/>
            <a:ext cx="180000" cy="180000"/>
          </a:xfrm>
          <a:prstGeom prst="ellipse">
            <a:avLst/>
          </a:prstGeom>
          <a:noFill/>
          <a:ln w="9525">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274800" y="2412000"/>
            <a:ext cx="12600" cy="522000"/>
          </a:xfrm>
          <a:prstGeom prst="rect">
            <a:avLst/>
          </a:prstGeom>
          <a:solidFill>
            <a:srgbClr val="DECB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16000" y="2196000"/>
            <a:ext cx="3492000" cy="648000"/>
          </a:xfrm>
          <a:prstGeom prst="rect">
            <a:avLst/>
          </a:prstGeom>
          <a:noFill/>
        </p:spPr>
        <p:txBody>
          <a:bodyPr wrap="square" anchor="t" lIns="0" rIns="0" tIns="0" bIns="0">
            <a:spAutoFit/>
          </a:bodyPr>
          <a:lstStyle/>
          <a:p>
            <a:pPr algn="l">
              <a:lnSpc>
                <a:spcPct val="125000"/>
              </a:lnSpc>
              <a:spcAft>
                <a:spcPts val="100"/>
              </a:spcAft>
            </a:pPr>
            <a:r>
              <a:rPr sz="1050" b="1">
                <a:solidFill>
                  <a:srgbClr val="1A1D29"/>
                </a:solidFill>
                <a:latin typeface="Garamond"/>
                <a:ea typeface="游明朝"/>
              </a:rPr>
              <a:t>登録申請</a:t>
            </a:r>
          </a:p>
          <a:p>
            <a:pPr algn="l">
              <a:lnSpc>
                <a:spcPct val="130000"/>
              </a:lnSpc>
            </a:pPr>
            <a:r>
              <a:rPr sz="800" b="0">
                <a:solidFill>
                  <a:srgbClr val="3A3F4D"/>
                </a:solidFill>
                <a:latin typeface="Yu Gothic"/>
                <a:ea typeface="游ゴシック"/>
              </a:rPr>
              <a:t>貴社の対象アドバイザーについて、申請フォームからご提出ください。</a:t>
            </a:r>
          </a:p>
        </p:txBody>
      </p:sp>
      <p:sp>
        <p:nvSpPr>
          <p:cNvPr id="25" name="Oval 24"/>
          <p:cNvSpPr/>
          <p:nvPr/>
        </p:nvSpPr>
        <p:spPr>
          <a:xfrm>
            <a:off x="6192000" y="2952000"/>
            <a:ext cx="180000" cy="180000"/>
          </a:xfrm>
          <a:prstGeom prst="ellipse">
            <a:avLst/>
          </a:prstGeom>
          <a:noFill/>
          <a:ln w="9525">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274800" y="3150000"/>
            <a:ext cx="12600" cy="522000"/>
          </a:xfrm>
          <a:prstGeom prst="rect">
            <a:avLst/>
          </a:prstGeom>
          <a:solidFill>
            <a:srgbClr val="DECB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516000" y="2934000"/>
            <a:ext cx="3492000" cy="648000"/>
          </a:xfrm>
          <a:prstGeom prst="rect">
            <a:avLst/>
          </a:prstGeom>
          <a:noFill/>
        </p:spPr>
        <p:txBody>
          <a:bodyPr wrap="square" anchor="t" lIns="0" rIns="0" tIns="0" bIns="0">
            <a:spAutoFit/>
          </a:bodyPr>
          <a:lstStyle/>
          <a:p>
            <a:pPr algn="l">
              <a:lnSpc>
                <a:spcPct val="125000"/>
              </a:lnSpc>
              <a:spcAft>
                <a:spcPts val="100"/>
              </a:spcAft>
            </a:pPr>
            <a:r>
              <a:rPr sz="1050" b="1">
                <a:solidFill>
                  <a:srgbClr val="1A1D29"/>
                </a:solidFill>
                <a:latin typeface="Garamond"/>
                <a:ea typeface="游明朝"/>
              </a:rPr>
              <a:t>書類審査</a:t>
            </a:r>
          </a:p>
          <a:p>
            <a:pPr algn="l">
              <a:lnSpc>
                <a:spcPct val="130000"/>
              </a:lnSpc>
            </a:pPr>
            <a:r>
              <a:rPr sz="800" b="0">
                <a:solidFill>
                  <a:srgbClr val="3A3F4D"/>
                </a:solidFill>
                <a:latin typeface="Yu Gothic"/>
                <a:ea typeface="游ゴシック"/>
              </a:rPr>
              <a:t>経歴・実績・専門領域を確認します。</a:t>
            </a:r>
          </a:p>
        </p:txBody>
      </p:sp>
      <p:sp>
        <p:nvSpPr>
          <p:cNvPr id="28" name="Oval 27"/>
          <p:cNvSpPr/>
          <p:nvPr/>
        </p:nvSpPr>
        <p:spPr>
          <a:xfrm>
            <a:off x="6192000" y="3690000"/>
            <a:ext cx="180000" cy="180000"/>
          </a:xfrm>
          <a:prstGeom prst="ellipse">
            <a:avLst/>
          </a:prstGeom>
          <a:noFill/>
          <a:ln w="9525">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274800" y="3888000"/>
            <a:ext cx="12600" cy="522000"/>
          </a:xfrm>
          <a:prstGeom prst="rect">
            <a:avLst/>
          </a:prstGeom>
          <a:solidFill>
            <a:srgbClr val="DECBA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16000" y="3672000"/>
            <a:ext cx="3492000" cy="648000"/>
          </a:xfrm>
          <a:prstGeom prst="rect">
            <a:avLst/>
          </a:prstGeom>
          <a:noFill/>
        </p:spPr>
        <p:txBody>
          <a:bodyPr wrap="square" anchor="t" lIns="0" rIns="0" tIns="0" bIns="0">
            <a:spAutoFit/>
          </a:bodyPr>
          <a:lstStyle/>
          <a:p>
            <a:pPr algn="l">
              <a:lnSpc>
                <a:spcPct val="125000"/>
              </a:lnSpc>
              <a:spcAft>
                <a:spcPts val="100"/>
              </a:spcAft>
            </a:pPr>
            <a:r>
              <a:rPr sz="1050" b="1">
                <a:solidFill>
                  <a:srgbClr val="1A1D29"/>
                </a:solidFill>
                <a:latin typeface="Garamond"/>
                <a:ea typeface="游明朝"/>
              </a:rPr>
              <a:t>面談</a:t>
            </a:r>
          </a:p>
          <a:p>
            <a:pPr algn="l">
              <a:lnSpc>
                <a:spcPct val="130000"/>
              </a:lnSpc>
            </a:pPr>
            <a:r>
              <a:rPr sz="800" b="0">
                <a:solidFill>
                  <a:srgbClr val="3A3F4D"/>
                </a:solidFill>
                <a:latin typeface="Yu Gothic"/>
                <a:ea typeface="游ゴシック"/>
              </a:rPr>
              <a:t>支援スタンス・専門性について、オンラインでお話を伺います。</a:t>
            </a:r>
          </a:p>
        </p:txBody>
      </p:sp>
      <p:sp>
        <p:nvSpPr>
          <p:cNvPr id="31" name="Oval 30"/>
          <p:cNvSpPr/>
          <p:nvPr/>
        </p:nvSpPr>
        <p:spPr>
          <a:xfrm>
            <a:off x="6192000" y="4428000"/>
            <a:ext cx="180000" cy="180000"/>
          </a:xfrm>
          <a:prstGeom prst="ellipse">
            <a:avLst/>
          </a:prstGeom>
          <a:noFill/>
          <a:ln w="9525">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516000" y="4410000"/>
            <a:ext cx="3492000" cy="648000"/>
          </a:xfrm>
          <a:prstGeom prst="rect">
            <a:avLst/>
          </a:prstGeom>
          <a:noFill/>
        </p:spPr>
        <p:txBody>
          <a:bodyPr wrap="square" anchor="t" lIns="0" rIns="0" tIns="0" bIns="0">
            <a:spAutoFit/>
          </a:bodyPr>
          <a:lstStyle/>
          <a:p>
            <a:pPr algn="l">
              <a:lnSpc>
                <a:spcPct val="125000"/>
              </a:lnSpc>
              <a:spcAft>
                <a:spcPts val="100"/>
              </a:spcAft>
            </a:pPr>
            <a:r>
              <a:rPr sz="1050" b="1">
                <a:solidFill>
                  <a:srgbClr val="1A1D29"/>
                </a:solidFill>
                <a:latin typeface="Garamond"/>
                <a:ea typeface="游明朝"/>
              </a:rPr>
              <a:t>掲載開始</a:t>
            </a:r>
          </a:p>
          <a:p>
            <a:pPr algn="l">
              <a:lnSpc>
                <a:spcPct val="130000"/>
              </a:lnSpc>
            </a:pPr>
            <a:r>
              <a:rPr sz="800" b="0">
                <a:solidFill>
                  <a:srgbClr val="3A3F4D"/>
                </a:solidFill>
                <a:latin typeface="Yu Gothic"/>
                <a:ea typeface="游ゴシック"/>
              </a:rPr>
              <a:t>プロフィールを作成し、公開。指名の受付が始まります。</a:t>
            </a:r>
          </a:p>
        </p:txBody>
      </p:sp>
      <p:sp>
        <p:nvSpPr>
          <p:cNvPr id="33" name="TextBox 32"/>
          <p:cNvSpPr txBox="1"/>
          <p:nvPr/>
        </p:nvSpPr>
        <p:spPr>
          <a:xfrm>
            <a:off x="6192000" y="5184000"/>
            <a:ext cx="3816000" cy="288000"/>
          </a:xfrm>
          <a:prstGeom prst="rect">
            <a:avLst/>
          </a:prstGeom>
          <a:noFill/>
        </p:spPr>
        <p:txBody>
          <a:bodyPr wrap="square" anchor="t" lIns="0" rIns="0" tIns="0" bIns="0">
            <a:spAutoFit/>
          </a:bodyPr>
          <a:lstStyle/>
          <a:p>
            <a:pPr algn="l">
              <a:lnSpc>
                <a:spcPct val="135000"/>
              </a:lnSpc>
            </a:pPr>
            <a:r>
              <a:rPr sz="750" b="0">
                <a:solidFill>
                  <a:srgbClr val="5F6672"/>
                </a:solidFill>
                <a:latin typeface="Yu Gothic"/>
                <a:ea typeface="游ゴシック"/>
              </a:rPr>
              <a:t>※ 審査基準の詳細・提出書類は、お問い合わせ後に個別にご案内します。</a:t>
            </a:r>
          </a:p>
        </p:txBody>
      </p:sp>
      <p:sp>
        <p:nvSpPr>
          <p:cNvPr id="34" name="TextBox 33"/>
          <p:cNvSpPr txBox="1"/>
          <p:nvPr/>
        </p:nvSpPr>
        <p:spPr>
          <a:xfrm>
            <a:off x="684000" y="7182000"/>
            <a:ext cx="7200000" cy="216000"/>
          </a:xfrm>
          <a:prstGeom prst="rect">
            <a:avLst/>
          </a:prstGeom>
          <a:noFill/>
        </p:spPr>
        <p:txBody>
          <a:bodyPr wrap="square" anchor="t" lIns="0" rIns="0" tIns="0" bIns="0">
            <a:spAutoFit/>
          </a:bodyPr>
          <a:lstStyle/>
          <a:p>
            <a:pPr algn="l">
              <a:lnSpc>
                <a:spcPct val="125000"/>
              </a:lnSpc>
            </a:pPr>
            <a:r>
              <a:rPr sz="900" b="1">
                <a:solidFill>
                  <a:srgbClr val="7A6030"/>
                </a:solidFill>
                <a:latin typeface="Garamond"/>
                <a:ea typeface="游明朝"/>
              </a:rPr>
              <a:t>MarkGate</a:t>
            </a:r>
            <a:r>
              <a:rPr sz="700" b="0">
                <a:solidFill>
                  <a:srgbClr val="5F6672"/>
                </a:solidFill>
                <a:latin typeface="Yu Gothic"/>
                <a:ea typeface="游ゴシック"/>
              </a:rPr>
              <a:t>　人材紹介エージェント様向けご提案資料</a:t>
            </a:r>
          </a:p>
        </p:txBody>
      </p:sp>
      <p:sp>
        <p:nvSpPr>
          <p:cNvPr id="35" name="TextBox 34"/>
          <p:cNvSpPr txBox="1"/>
          <p:nvPr/>
        </p:nvSpPr>
        <p:spPr>
          <a:xfrm>
            <a:off x="9000000" y="7182000"/>
            <a:ext cx="1008000" cy="216000"/>
          </a:xfrm>
          <a:prstGeom prst="rect">
            <a:avLst/>
          </a:prstGeom>
          <a:noFill/>
        </p:spPr>
        <p:txBody>
          <a:bodyPr wrap="square" anchor="t" lIns="0" rIns="0" tIns="0" bIns="0">
            <a:spAutoFit/>
          </a:bodyPr>
          <a:lstStyle/>
          <a:p>
            <a:pPr algn="r">
              <a:lnSpc>
                <a:spcPct val="125000"/>
              </a:lnSpc>
            </a:pPr>
            <a:r>
              <a:rPr sz="900" b="0" spc="100">
                <a:solidFill>
                  <a:srgbClr val="5F6672"/>
                </a:solidFill>
                <a:latin typeface="Garamond"/>
                <a:ea typeface="游明朝"/>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92000" cy="7560000"/>
          </a:xfrm>
          <a:prstGeom prst="rect">
            <a:avLst/>
          </a:prstGeom>
          <a:solidFill>
            <a:srgbClr val="F8F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84000" y="432000"/>
            <a:ext cx="720000" cy="360000"/>
          </a:xfrm>
          <a:prstGeom prst="rect">
            <a:avLst/>
          </a:prstGeom>
          <a:noFill/>
        </p:spPr>
        <p:txBody>
          <a:bodyPr wrap="square" anchor="t" lIns="0" rIns="0" tIns="0" bIns="0">
            <a:spAutoFit/>
          </a:bodyPr>
          <a:lstStyle/>
          <a:p>
            <a:pPr algn="l">
              <a:lnSpc>
                <a:spcPct val="125000"/>
              </a:lnSpc>
            </a:pPr>
            <a:r>
              <a:rPr sz="1700" b="0">
                <a:solidFill>
                  <a:srgbClr val="C6A15B"/>
                </a:solidFill>
                <a:latin typeface="Garamond"/>
                <a:ea typeface="游明朝"/>
              </a:rPr>
              <a:t>09</a:t>
            </a:r>
          </a:p>
        </p:txBody>
      </p:sp>
      <p:sp>
        <p:nvSpPr>
          <p:cNvPr id="4" name="TextBox 3"/>
          <p:cNvSpPr txBox="1"/>
          <p:nvPr/>
        </p:nvSpPr>
        <p:spPr>
          <a:xfrm>
            <a:off x="1188000" y="547200"/>
            <a:ext cx="7200000" cy="216000"/>
          </a:xfrm>
          <a:prstGeom prst="rect">
            <a:avLst/>
          </a:prstGeom>
          <a:noFill/>
        </p:spPr>
        <p:txBody>
          <a:bodyPr wrap="square" anchor="t" lIns="0" rIns="0" tIns="0" bIns="0">
            <a:spAutoFit/>
          </a:bodyPr>
          <a:lstStyle/>
          <a:p>
            <a:pPr algn="l">
              <a:lnSpc>
                <a:spcPct val="125000"/>
              </a:lnSpc>
            </a:pPr>
            <a:r>
              <a:rPr sz="750" b="0" spc="300">
                <a:solidFill>
                  <a:srgbClr val="7A6030"/>
                </a:solidFill>
                <a:latin typeface="Yu Gothic"/>
                <a:ea typeface="游ゴシック"/>
              </a:rPr>
              <a:t>PROFILE</a:t>
            </a:r>
          </a:p>
        </p:txBody>
      </p:sp>
      <p:sp>
        <p:nvSpPr>
          <p:cNvPr id="5" name="TextBox 4"/>
          <p:cNvSpPr txBox="1"/>
          <p:nvPr/>
        </p:nvSpPr>
        <p:spPr>
          <a:xfrm>
            <a:off x="684000" y="792000"/>
            <a:ext cx="9324000" cy="432000"/>
          </a:xfrm>
          <a:prstGeom prst="rect">
            <a:avLst/>
          </a:prstGeom>
          <a:noFill/>
        </p:spPr>
        <p:txBody>
          <a:bodyPr wrap="square" anchor="t" lIns="0" rIns="0" tIns="0" bIns="0">
            <a:spAutoFit/>
          </a:bodyPr>
          <a:lstStyle/>
          <a:p>
            <a:pPr algn="l">
              <a:lnSpc>
                <a:spcPct val="120000"/>
              </a:lnSpc>
            </a:pPr>
            <a:r>
              <a:rPr sz="2200" b="1">
                <a:solidFill>
                  <a:srgbClr val="1A1D29"/>
                </a:solidFill>
                <a:latin typeface="Garamond"/>
                <a:ea typeface="游明朝"/>
              </a:rPr>
              <a:t>プロフィールが、エースの</a:t>
            </a:r>
            <a:r>
              <a:rPr sz="2200" b="1">
                <a:solidFill>
                  <a:srgbClr val="7A6030"/>
                </a:solidFill>
                <a:latin typeface="Garamond"/>
                <a:ea typeface="游明朝"/>
              </a:rPr>
              <a:t>“指名される窓口”</a:t>
            </a:r>
            <a:r>
              <a:rPr sz="2200" b="1">
                <a:solidFill>
                  <a:srgbClr val="1A1D29"/>
                </a:solidFill>
                <a:latin typeface="Garamond"/>
                <a:ea typeface="游明朝"/>
              </a:rPr>
              <a:t>に。</a:t>
            </a:r>
          </a:p>
        </p:txBody>
      </p:sp>
      <p:sp>
        <p:nvSpPr>
          <p:cNvPr id="6" name="Rectangle 5"/>
          <p:cNvSpPr/>
          <p:nvPr/>
        </p:nvSpPr>
        <p:spPr>
          <a:xfrm>
            <a:off x="684000" y="1296000"/>
            <a:ext cx="504000" cy="252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684000" y="1728000"/>
            <a:ext cx="4248000" cy="3240000"/>
          </a:xfrm>
          <a:prstGeom prst="rect">
            <a:avLst/>
          </a:prstGeom>
          <a:noFill/>
        </p:spPr>
        <p:txBody>
          <a:bodyPr wrap="square" anchor="t" lIns="0" rIns="0" tIns="0" bIns="0">
            <a:spAutoFit/>
          </a:bodyPr>
          <a:lstStyle/>
          <a:p>
            <a:pPr algn="l">
              <a:lnSpc>
                <a:spcPct val="150000"/>
              </a:lnSpc>
              <a:spcAft>
                <a:spcPts val="600"/>
              </a:spcAft>
            </a:pPr>
            <a:r>
              <a:rPr sz="950" b="0">
                <a:solidFill>
                  <a:srgbClr val="7A6030"/>
                </a:solidFill>
                <a:latin typeface="Yu Gothic"/>
                <a:ea typeface="游ゴシック"/>
              </a:rPr>
              <a:t>－ </a:t>
            </a:r>
            <a:r>
              <a:rPr sz="950" b="1">
                <a:solidFill>
                  <a:srgbClr val="1A1D29"/>
                </a:solidFill>
                <a:latin typeface="Yu Gothic"/>
                <a:ea typeface="游ゴシック"/>
              </a:rPr>
              <a:t>経歴・支援実績</a:t>
            </a:r>
            <a:r>
              <a:rPr sz="950" b="0">
                <a:solidFill>
                  <a:srgbClr val="3A3F4D"/>
                </a:solidFill>
                <a:latin typeface="Yu Gothic"/>
                <a:ea typeface="游ゴシック"/>
              </a:rPr>
              <a:t>を構造化して掲載。定量・定性の両面で、アドバイザーの実力を伝えます。</a:t>
            </a:r>
          </a:p>
          <a:p>
            <a:pPr algn="l">
              <a:lnSpc>
                <a:spcPct val="150000"/>
              </a:lnSpc>
              <a:spcAft>
                <a:spcPts val="600"/>
              </a:spcAft>
            </a:pPr>
            <a:r>
              <a:rPr sz="950" b="0">
                <a:solidFill>
                  <a:srgbClr val="7A6030"/>
                </a:solidFill>
                <a:latin typeface="Yu Gothic"/>
                <a:ea typeface="游ゴシック"/>
              </a:rPr>
              <a:t>－ </a:t>
            </a:r>
            <a:r>
              <a:rPr sz="950" b="1">
                <a:solidFill>
                  <a:srgbClr val="1A1D29"/>
                </a:solidFill>
                <a:latin typeface="Yu Gothic"/>
                <a:ea typeface="游ゴシック"/>
              </a:rPr>
              <a:t>専門領域（業界／職種／対応年収帯）</a:t>
            </a:r>
            <a:r>
              <a:rPr sz="950" b="0">
                <a:solidFill>
                  <a:srgbClr val="3A3F4D"/>
                </a:solidFill>
                <a:latin typeface="Yu Gothic"/>
                <a:ea typeface="游ゴシック"/>
              </a:rPr>
              <a:t>で検索・絞り込みの対象に。得意分野の求職者と出会えます。</a:t>
            </a:r>
          </a:p>
          <a:p>
            <a:pPr algn="l">
              <a:lnSpc>
                <a:spcPct val="150000"/>
              </a:lnSpc>
              <a:spcAft>
                <a:spcPts val="600"/>
              </a:spcAft>
            </a:pPr>
            <a:r>
              <a:rPr sz="950" b="0">
                <a:solidFill>
                  <a:srgbClr val="7A6030"/>
                </a:solidFill>
                <a:latin typeface="Yu Gothic"/>
                <a:ea typeface="游ゴシック"/>
              </a:rPr>
              <a:t>－ </a:t>
            </a:r>
            <a:r>
              <a:rPr sz="950" b="1">
                <a:solidFill>
                  <a:srgbClr val="1A1D29"/>
                </a:solidFill>
                <a:latin typeface="Yu Gothic"/>
                <a:ea typeface="游ゴシック"/>
              </a:rPr>
              <a:t>支援スタンス</a:t>
            </a:r>
            <a:r>
              <a:rPr sz="950" b="0">
                <a:solidFill>
                  <a:srgbClr val="3A3F4D"/>
                </a:solidFill>
                <a:latin typeface="Yu Gothic"/>
                <a:ea typeface="游ゴシック"/>
              </a:rPr>
              <a:t>（伴走型・提案型など）も明示。ミスマッチの少ない指名につながります。</a:t>
            </a:r>
          </a:p>
          <a:p>
            <a:pPr algn="l">
              <a:lnSpc>
                <a:spcPct val="150000"/>
              </a:lnSpc>
              <a:spcAft>
                <a:spcPts val="600"/>
              </a:spcAft>
            </a:pPr>
            <a:r>
              <a:rPr sz="950" b="0">
                <a:solidFill>
                  <a:srgbClr val="7A6030"/>
                </a:solidFill>
                <a:latin typeface="Yu Gothic"/>
                <a:ea typeface="游ゴシック"/>
              </a:rPr>
              <a:t>－ </a:t>
            </a:r>
            <a:r>
              <a:rPr sz="950" b="1">
                <a:solidFill>
                  <a:srgbClr val="1A1D29"/>
                </a:solidFill>
                <a:latin typeface="Yu Gothic"/>
                <a:ea typeface="游ゴシック"/>
              </a:rPr>
              <a:t>指名にはメッセージが添付</a:t>
            </a:r>
            <a:r>
              <a:rPr sz="950" b="0">
                <a:solidFill>
                  <a:srgbClr val="3A3F4D"/>
                </a:solidFill>
                <a:latin typeface="Yu Gothic"/>
                <a:ea typeface="游ゴシック"/>
              </a:rPr>
              <a:t>され、求職者の意図・温度感を把握したうえで面談に入れます。</a:t>
            </a:r>
          </a:p>
          <a:p>
            <a:pPr algn="l">
              <a:lnSpc>
                <a:spcPct val="150000"/>
              </a:lnSpc>
              <a:spcAft>
                <a:spcPts val="600"/>
              </a:spcAft>
            </a:pPr>
            <a:r>
              <a:rPr sz="950" b="0">
                <a:solidFill>
                  <a:srgbClr val="7A6030"/>
                </a:solidFill>
                <a:latin typeface="Yu Gothic"/>
                <a:ea typeface="游ゴシック"/>
              </a:rPr>
              <a:t>－ </a:t>
            </a:r>
            <a:r>
              <a:rPr sz="950" b="1">
                <a:solidFill>
                  <a:srgbClr val="1A1D29"/>
                </a:solidFill>
                <a:latin typeface="Yu Gothic"/>
                <a:ea typeface="游ゴシック"/>
              </a:rPr>
              <a:t>プロフィールは掲載後も更新可能</a:t>
            </a:r>
            <a:r>
              <a:rPr sz="950" b="0">
                <a:solidFill>
                  <a:srgbClr val="3A3F4D"/>
                </a:solidFill>
                <a:latin typeface="Yu Gothic"/>
                <a:ea typeface="游ゴシック"/>
              </a:rPr>
              <a:t>。実績を積むほど、指名の入口が強くなります。</a:t>
            </a:r>
          </a:p>
        </p:txBody>
      </p:sp>
      <p:sp>
        <p:nvSpPr>
          <p:cNvPr id="8" name="Rectangle 7"/>
          <p:cNvSpPr/>
          <p:nvPr/>
        </p:nvSpPr>
        <p:spPr>
          <a:xfrm>
            <a:off x="5400000" y="1620000"/>
            <a:ext cx="4608000" cy="3312000"/>
          </a:xfrm>
          <a:prstGeom prst="rect">
            <a:avLst/>
          </a:prstGeom>
          <a:solidFill>
            <a:srgbClr val="FFFFFF"/>
          </a:solidFill>
          <a:ln w="9525">
            <a:solidFill>
              <a:srgbClr val="DECBA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5652000" y="1836000"/>
            <a:ext cx="540000" cy="540000"/>
          </a:xfrm>
          <a:prstGeom prst="ellipse">
            <a:avLst/>
          </a:prstGeom>
          <a:solidFill>
            <a:srgbClr val="141B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652000" y="1962000"/>
            <a:ext cx="540000" cy="288000"/>
          </a:xfrm>
          <a:prstGeom prst="rect">
            <a:avLst/>
          </a:prstGeom>
          <a:noFill/>
        </p:spPr>
        <p:txBody>
          <a:bodyPr wrap="square" anchor="t" lIns="0" rIns="0" tIns="0" bIns="0">
            <a:spAutoFit/>
          </a:bodyPr>
          <a:lstStyle/>
          <a:p>
            <a:pPr algn="ctr">
              <a:lnSpc>
                <a:spcPct val="125000"/>
              </a:lnSpc>
            </a:pPr>
            <a:r>
              <a:rPr sz="1300" b="0">
                <a:solidFill>
                  <a:srgbClr val="E2C88A"/>
                </a:solidFill>
                <a:latin typeface="Garamond"/>
                <a:ea typeface="游明朝"/>
              </a:rPr>
              <a:t>M</a:t>
            </a:r>
          </a:p>
        </p:txBody>
      </p:sp>
      <p:sp>
        <p:nvSpPr>
          <p:cNvPr id="11" name="TextBox 10"/>
          <p:cNvSpPr txBox="1"/>
          <p:nvPr/>
        </p:nvSpPr>
        <p:spPr>
          <a:xfrm>
            <a:off x="6336000" y="1818000"/>
            <a:ext cx="3420000" cy="648000"/>
          </a:xfrm>
          <a:prstGeom prst="rect">
            <a:avLst/>
          </a:prstGeom>
          <a:noFill/>
        </p:spPr>
        <p:txBody>
          <a:bodyPr wrap="square" anchor="t" lIns="0" rIns="0" tIns="0" bIns="0">
            <a:spAutoFit/>
          </a:bodyPr>
          <a:lstStyle/>
          <a:p>
            <a:pPr algn="l">
              <a:lnSpc>
                <a:spcPct val="125000"/>
              </a:lnSpc>
              <a:spcAft>
                <a:spcPts val="100"/>
              </a:spcAft>
            </a:pPr>
            <a:r>
              <a:rPr sz="1150" b="1">
                <a:solidFill>
                  <a:srgbClr val="1A1D29"/>
                </a:solidFill>
                <a:latin typeface="Garamond"/>
                <a:ea typeface="游明朝"/>
              </a:rPr>
              <a:t>掲載イメージ（サンプル）</a:t>
            </a:r>
          </a:p>
          <a:p>
            <a:pPr algn="l">
              <a:lnSpc>
                <a:spcPct val="125000"/>
              </a:lnSpc>
              <a:spcAft>
                <a:spcPts val="200"/>
              </a:spcAft>
            </a:pPr>
            <a:r>
              <a:rPr sz="750" b="0">
                <a:solidFill>
                  <a:srgbClr val="5F6672"/>
                </a:solidFill>
                <a:latin typeface="Yu Gothic"/>
                <a:ea typeface="游ゴシック"/>
              </a:rPr>
              <a:t>シニアキャリアアドバイザー ｜ ○○エージェント所属</a:t>
            </a:r>
          </a:p>
          <a:p>
            <a:pPr algn="l">
              <a:lnSpc>
                <a:spcPct val="125000"/>
              </a:lnSpc>
            </a:pPr>
            <a:r>
              <a:rPr sz="700" b="0">
                <a:solidFill>
                  <a:srgbClr val="7A6030"/>
                </a:solidFill>
                <a:latin typeface="Yu Gothic"/>
                <a:ea typeface="游ゴシック"/>
              </a:rPr>
              <a:t> 審査通過 </a:t>
            </a:r>
            <a:r>
              <a:rPr sz="700" b="0">
                <a:solidFill>
                  <a:srgbClr val="1A1D29"/>
                </a:solidFill>
                <a:latin typeface="Yu Gothic"/>
                <a:ea typeface="游ゴシック"/>
              </a:rPr>
              <a:t>　</a:t>
            </a:r>
            <a:r>
              <a:rPr sz="700" b="0">
                <a:solidFill>
                  <a:srgbClr val="7A6030"/>
                </a:solidFill>
                <a:latin typeface="Yu Gothic"/>
                <a:ea typeface="游ゴシック"/>
              </a:rPr>
              <a:t> 経営幹部・CxO </a:t>
            </a:r>
            <a:r>
              <a:rPr sz="700" b="0">
                <a:solidFill>
                  <a:srgbClr val="1A1D29"/>
                </a:solidFill>
                <a:latin typeface="Yu Gothic"/>
                <a:ea typeface="游ゴシック"/>
              </a:rPr>
              <a:t>　</a:t>
            </a:r>
            <a:r>
              <a:rPr sz="700" b="0">
                <a:solidFill>
                  <a:srgbClr val="7A6030"/>
                </a:solidFill>
                <a:latin typeface="Yu Gothic"/>
                <a:ea typeface="游ゴシック"/>
              </a:rPr>
              <a:t> 年収1,000万円〜 </a:t>
            </a:r>
          </a:p>
        </p:txBody>
      </p:sp>
      <p:sp>
        <p:nvSpPr>
          <p:cNvPr id="12" name="Rectangle 11"/>
          <p:cNvSpPr/>
          <p:nvPr/>
        </p:nvSpPr>
        <p:spPr>
          <a:xfrm>
            <a:off x="5652000" y="2520000"/>
            <a:ext cx="4104000" cy="14400"/>
          </a:xfrm>
          <a:prstGeom prst="rect">
            <a:avLst/>
          </a:prstGeom>
          <a:solidFill>
            <a:srgbClr val="D9D9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652000" y="2664000"/>
            <a:ext cx="936000" cy="216000"/>
          </a:xfrm>
          <a:prstGeom prst="rect">
            <a:avLst/>
          </a:prstGeom>
          <a:noFill/>
        </p:spPr>
        <p:txBody>
          <a:bodyPr wrap="square" anchor="t" lIns="0" rIns="0" tIns="0" bIns="0">
            <a:spAutoFit/>
          </a:bodyPr>
          <a:lstStyle/>
          <a:p>
            <a:pPr algn="l">
              <a:lnSpc>
                <a:spcPct val="125000"/>
              </a:lnSpc>
            </a:pPr>
            <a:r>
              <a:rPr sz="800" b="0">
                <a:solidFill>
                  <a:srgbClr val="5F6672"/>
                </a:solidFill>
                <a:latin typeface="Yu Gothic"/>
                <a:ea typeface="游ゴシック"/>
              </a:rPr>
              <a:t>専門領域</a:t>
            </a:r>
          </a:p>
        </p:txBody>
      </p:sp>
      <p:sp>
        <p:nvSpPr>
          <p:cNvPr id="14" name="TextBox 13"/>
          <p:cNvSpPr txBox="1"/>
          <p:nvPr/>
        </p:nvSpPr>
        <p:spPr>
          <a:xfrm>
            <a:off x="6660000" y="2664000"/>
            <a:ext cx="3096000" cy="216000"/>
          </a:xfrm>
          <a:prstGeom prst="rect">
            <a:avLst/>
          </a:prstGeom>
          <a:noFill/>
        </p:spPr>
        <p:txBody>
          <a:bodyPr wrap="square" anchor="t" lIns="0" rIns="0" tIns="0" bIns="0">
            <a:spAutoFit/>
          </a:bodyPr>
          <a:lstStyle/>
          <a:p>
            <a:pPr algn="l">
              <a:lnSpc>
                <a:spcPct val="125000"/>
              </a:lnSpc>
            </a:pPr>
            <a:r>
              <a:rPr sz="800" b="0">
                <a:solidFill>
                  <a:srgbClr val="1A1D29"/>
                </a:solidFill>
                <a:latin typeface="Yu Gothic"/>
                <a:ea typeface="游ゴシック"/>
              </a:rPr>
              <a:t>製造業・メーカー ／ 経営企画・事業責任者クラス</a:t>
            </a:r>
          </a:p>
        </p:txBody>
      </p:sp>
      <p:sp>
        <p:nvSpPr>
          <p:cNvPr id="15" name="TextBox 14"/>
          <p:cNvSpPr txBox="1"/>
          <p:nvPr/>
        </p:nvSpPr>
        <p:spPr>
          <a:xfrm>
            <a:off x="5652000" y="2970000"/>
            <a:ext cx="936000" cy="216000"/>
          </a:xfrm>
          <a:prstGeom prst="rect">
            <a:avLst/>
          </a:prstGeom>
          <a:noFill/>
        </p:spPr>
        <p:txBody>
          <a:bodyPr wrap="square" anchor="t" lIns="0" rIns="0" tIns="0" bIns="0">
            <a:spAutoFit/>
          </a:bodyPr>
          <a:lstStyle/>
          <a:p>
            <a:pPr algn="l">
              <a:lnSpc>
                <a:spcPct val="125000"/>
              </a:lnSpc>
            </a:pPr>
            <a:r>
              <a:rPr sz="800" b="0">
                <a:solidFill>
                  <a:srgbClr val="5F6672"/>
                </a:solidFill>
                <a:latin typeface="Yu Gothic"/>
                <a:ea typeface="游ゴシック"/>
              </a:rPr>
              <a:t>支援実績</a:t>
            </a:r>
          </a:p>
        </p:txBody>
      </p:sp>
      <p:sp>
        <p:nvSpPr>
          <p:cNvPr id="16" name="TextBox 15"/>
          <p:cNvSpPr txBox="1"/>
          <p:nvPr/>
        </p:nvSpPr>
        <p:spPr>
          <a:xfrm>
            <a:off x="6660000" y="2970000"/>
            <a:ext cx="3096000" cy="216000"/>
          </a:xfrm>
          <a:prstGeom prst="rect">
            <a:avLst/>
          </a:prstGeom>
          <a:noFill/>
        </p:spPr>
        <p:txBody>
          <a:bodyPr wrap="square" anchor="t" lIns="0" rIns="0" tIns="0" bIns="0">
            <a:spAutoFit/>
          </a:bodyPr>
          <a:lstStyle/>
          <a:p>
            <a:pPr algn="l">
              <a:lnSpc>
                <a:spcPct val="125000"/>
              </a:lnSpc>
            </a:pPr>
            <a:r>
              <a:rPr sz="800" b="0">
                <a:solidFill>
                  <a:srgbClr val="1A1D29"/>
                </a:solidFill>
                <a:latin typeface="Yu Gothic"/>
                <a:ea typeface="游ゴシック"/>
              </a:rPr>
              <a:t>ハイクラス帯の決定実績、リピート・紹介率などを掲載</a:t>
            </a:r>
          </a:p>
        </p:txBody>
      </p:sp>
      <p:sp>
        <p:nvSpPr>
          <p:cNvPr id="17" name="TextBox 16"/>
          <p:cNvSpPr txBox="1"/>
          <p:nvPr/>
        </p:nvSpPr>
        <p:spPr>
          <a:xfrm>
            <a:off x="5652000" y="3276000"/>
            <a:ext cx="936000" cy="216000"/>
          </a:xfrm>
          <a:prstGeom prst="rect">
            <a:avLst/>
          </a:prstGeom>
          <a:noFill/>
        </p:spPr>
        <p:txBody>
          <a:bodyPr wrap="square" anchor="t" lIns="0" rIns="0" tIns="0" bIns="0">
            <a:spAutoFit/>
          </a:bodyPr>
          <a:lstStyle/>
          <a:p>
            <a:pPr algn="l">
              <a:lnSpc>
                <a:spcPct val="125000"/>
              </a:lnSpc>
            </a:pPr>
            <a:r>
              <a:rPr sz="800" b="0">
                <a:solidFill>
                  <a:srgbClr val="5F6672"/>
                </a:solidFill>
                <a:latin typeface="Yu Gothic"/>
                <a:ea typeface="游ゴシック"/>
              </a:rPr>
              <a:t>支援スタンス</a:t>
            </a:r>
          </a:p>
        </p:txBody>
      </p:sp>
      <p:sp>
        <p:nvSpPr>
          <p:cNvPr id="18" name="TextBox 17"/>
          <p:cNvSpPr txBox="1"/>
          <p:nvPr/>
        </p:nvSpPr>
        <p:spPr>
          <a:xfrm>
            <a:off x="6660000" y="3276000"/>
            <a:ext cx="3096000" cy="216000"/>
          </a:xfrm>
          <a:prstGeom prst="rect">
            <a:avLst/>
          </a:prstGeom>
          <a:noFill/>
        </p:spPr>
        <p:txBody>
          <a:bodyPr wrap="square" anchor="t" lIns="0" rIns="0" tIns="0" bIns="0">
            <a:spAutoFit/>
          </a:bodyPr>
          <a:lstStyle/>
          <a:p>
            <a:pPr algn="l">
              <a:lnSpc>
                <a:spcPct val="125000"/>
              </a:lnSpc>
            </a:pPr>
            <a:r>
              <a:rPr sz="800" b="0">
                <a:solidFill>
                  <a:srgbClr val="1A1D29"/>
                </a:solidFill>
                <a:latin typeface="Yu Gothic"/>
                <a:ea typeface="游ゴシック"/>
              </a:rPr>
              <a:t>中長期のキャリア戦略から逆算する伴走型</a:t>
            </a:r>
          </a:p>
        </p:txBody>
      </p:sp>
      <p:sp>
        <p:nvSpPr>
          <p:cNvPr id="19" name="TextBox 18"/>
          <p:cNvSpPr txBox="1"/>
          <p:nvPr/>
        </p:nvSpPr>
        <p:spPr>
          <a:xfrm>
            <a:off x="5652000" y="3582000"/>
            <a:ext cx="936000" cy="216000"/>
          </a:xfrm>
          <a:prstGeom prst="rect">
            <a:avLst/>
          </a:prstGeom>
          <a:noFill/>
        </p:spPr>
        <p:txBody>
          <a:bodyPr wrap="square" anchor="t" lIns="0" rIns="0" tIns="0" bIns="0">
            <a:spAutoFit/>
          </a:bodyPr>
          <a:lstStyle/>
          <a:p>
            <a:pPr algn="l">
              <a:lnSpc>
                <a:spcPct val="125000"/>
              </a:lnSpc>
            </a:pPr>
            <a:r>
              <a:rPr sz="800" b="0">
                <a:solidFill>
                  <a:srgbClr val="5F6672"/>
                </a:solidFill>
                <a:latin typeface="Yu Gothic"/>
                <a:ea typeface="游ゴシック"/>
              </a:rPr>
              <a:t>経歴</a:t>
            </a:r>
          </a:p>
        </p:txBody>
      </p:sp>
      <p:sp>
        <p:nvSpPr>
          <p:cNvPr id="20" name="TextBox 19"/>
          <p:cNvSpPr txBox="1"/>
          <p:nvPr/>
        </p:nvSpPr>
        <p:spPr>
          <a:xfrm>
            <a:off x="6660000" y="3582000"/>
            <a:ext cx="3096000" cy="216000"/>
          </a:xfrm>
          <a:prstGeom prst="rect">
            <a:avLst/>
          </a:prstGeom>
          <a:noFill/>
        </p:spPr>
        <p:txBody>
          <a:bodyPr wrap="square" anchor="t" lIns="0" rIns="0" tIns="0" bIns="0">
            <a:spAutoFit/>
          </a:bodyPr>
          <a:lstStyle/>
          <a:p>
            <a:pPr algn="l">
              <a:lnSpc>
                <a:spcPct val="125000"/>
              </a:lnSpc>
            </a:pPr>
            <a:r>
              <a:rPr sz="800" b="0">
                <a:solidFill>
                  <a:srgbClr val="1A1D29"/>
                </a:solidFill>
                <a:latin typeface="Yu Gothic"/>
                <a:ea typeface="游ゴシック"/>
              </a:rPr>
              <a:t>キャリア・得意分野の背景を記載</a:t>
            </a:r>
          </a:p>
        </p:txBody>
      </p:sp>
      <p:sp>
        <p:nvSpPr>
          <p:cNvPr id="21" name="Rectangle 20"/>
          <p:cNvSpPr/>
          <p:nvPr/>
        </p:nvSpPr>
        <p:spPr>
          <a:xfrm>
            <a:off x="5652000" y="3960000"/>
            <a:ext cx="4104000" cy="324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652000" y="4039200"/>
            <a:ext cx="4104000" cy="180000"/>
          </a:xfrm>
          <a:prstGeom prst="rect">
            <a:avLst/>
          </a:prstGeom>
          <a:noFill/>
        </p:spPr>
        <p:txBody>
          <a:bodyPr wrap="square" anchor="t" lIns="0" rIns="0" tIns="0" bIns="0">
            <a:spAutoFit/>
          </a:bodyPr>
          <a:lstStyle/>
          <a:p>
            <a:pPr algn="ctr">
              <a:lnSpc>
                <a:spcPct val="125000"/>
              </a:lnSpc>
            </a:pPr>
            <a:r>
              <a:rPr sz="850" b="1" spc="150">
                <a:solidFill>
                  <a:srgbClr val="0A0E1A"/>
                </a:solidFill>
                <a:latin typeface="Yu Gothic"/>
                <a:ea typeface="游ゴシック"/>
              </a:rPr>
              <a:t>このアドバイザーを指名する</a:t>
            </a:r>
          </a:p>
        </p:txBody>
      </p:sp>
      <p:sp>
        <p:nvSpPr>
          <p:cNvPr id="23" name="TextBox 22"/>
          <p:cNvSpPr txBox="1"/>
          <p:nvPr/>
        </p:nvSpPr>
        <p:spPr>
          <a:xfrm>
            <a:off x="684000" y="5112000"/>
            <a:ext cx="9324000" cy="216000"/>
          </a:xfrm>
          <a:prstGeom prst="rect">
            <a:avLst/>
          </a:prstGeom>
          <a:noFill/>
        </p:spPr>
        <p:txBody>
          <a:bodyPr wrap="square" anchor="t" lIns="0" rIns="0" tIns="0" bIns="0">
            <a:spAutoFit/>
          </a:bodyPr>
          <a:lstStyle/>
          <a:p>
            <a:pPr algn="l">
              <a:lnSpc>
                <a:spcPct val="125000"/>
              </a:lnSpc>
            </a:pPr>
            <a:r>
              <a:rPr sz="750" b="0">
                <a:solidFill>
                  <a:srgbClr val="5F6672"/>
                </a:solidFill>
                <a:latin typeface="Yu Gothic"/>
                <a:ea typeface="游ゴシック"/>
              </a:rPr>
              <a:t>※ 上記はイメージです。実際の掲載項目・レイアウトはプラットフォームの仕様に準じます。</a:t>
            </a:r>
          </a:p>
        </p:txBody>
      </p:sp>
      <p:sp>
        <p:nvSpPr>
          <p:cNvPr id="24" name="TextBox 23"/>
          <p:cNvSpPr txBox="1"/>
          <p:nvPr/>
        </p:nvSpPr>
        <p:spPr>
          <a:xfrm>
            <a:off x="684000" y="7182000"/>
            <a:ext cx="7200000" cy="216000"/>
          </a:xfrm>
          <a:prstGeom prst="rect">
            <a:avLst/>
          </a:prstGeom>
          <a:noFill/>
        </p:spPr>
        <p:txBody>
          <a:bodyPr wrap="square" anchor="t" lIns="0" rIns="0" tIns="0" bIns="0">
            <a:spAutoFit/>
          </a:bodyPr>
          <a:lstStyle/>
          <a:p>
            <a:pPr algn="l">
              <a:lnSpc>
                <a:spcPct val="125000"/>
              </a:lnSpc>
            </a:pPr>
            <a:r>
              <a:rPr sz="900" b="1">
                <a:solidFill>
                  <a:srgbClr val="7A6030"/>
                </a:solidFill>
                <a:latin typeface="Garamond"/>
                <a:ea typeface="游明朝"/>
              </a:rPr>
              <a:t>MarkGate</a:t>
            </a:r>
            <a:r>
              <a:rPr sz="700" b="0">
                <a:solidFill>
                  <a:srgbClr val="5F6672"/>
                </a:solidFill>
                <a:latin typeface="Yu Gothic"/>
                <a:ea typeface="游ゴシック"/>
              </a:rPr>
              <a:t>　人材紹介エージェント様向けご提案資料</a:t>
            </a:r>
          </a:p>
        </p:txBody>
      </p:sp>
      <p:sp>
        <p:nvSpPr>
          <p:cNvPr id="25" name="TextBox 24"/>
          <p:cNvSpPr txBox="1"/>
          <p:nvPr/>
        </p:nvSpPr>
        <p:spPr>
          <a:xfrm>
            <a:off x="9000000" y="7182000"/>
            <a:ext cx="1008000" cy="216000"/>
          </a:xfrm>
          <a:prstGeom prst="rect">
            <a:avLst/>
          </a:prstGeom>
          <a:noFill/>
        </p:spPr>
        <p:txBody>
          <a:bodyPr wrap="square" anchor="t" lIns="0" rIns="0" tIns="0" bIns="0">
            <a:spAutoFit/>
          </a:bodyPr>
          <a:lstStyle/>
          <a:p>
            <a:pPr algn="r">
              <a:lnSpc>
                <a:spcPct val="125000"/>
              </a:lnSpc>
            </a:pPr>
            <a:r>
              <a:rPr sz="900" b="0" spc="100">
                <a:solidFill>
                  <a:srgbClr val="5F6672"/>
                </a:solidFill>
                <a:latin typeface="Garamond"/>
                <a:ea typeface="游明朝"/>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92000" cy="7560000"/>
          </a:xfrm>
          <a:prstGeom prst="rect">
            <a:avLst/>
          </a:prstGeom>
          <a:solidFill>
            <a:srgbClr val="F8F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84000" y="432000"/>
            <a:ext cx="720000" cy="360000"/>
          </a:xfrm>
          <a:prstGeom prst="rect">
            <a:avLst/>
          </a:prstGeom>
          <a:noFill/>
        </p:spPr>
        <p:txBody>
          <a:bodyPr wrap="square" anchor="t" lIns="0" rIns="0" tIns="0" bIns="0">
            <a:spAutoFit/>
          </a:bodyPr>
          <a:lstStyle/>
          <a:p>
            <a:pPr algn="l">
              <a:lnSpc>
                <a:spcPct val="125000"/>
              </a:lnSpc>
            </a:pPr>
            <a:r>
              <a:rPr sz="1700" b="0">
                <a:solidFill>
                  <a:srgbClr val="C6A15B"/>
                </a:solidFill>
                <a:latin typeface="Garamond"/>
                <a:ea typeface="游明朝"/>
              </a:rPr>
              <a:t>10</a:t>
            </a:r>
          </a:p>
        </p:txBody>
      </p:sp>
      <p:sp>
        <p:nvSpPr>
          <p:cNvPr id="4" name="TextBox 3"/>
          <p:cNvSpPr txBox="1"/>
          <p:nvPr/>
        </p:nvSpPr>
        <p:spPr>
          <a:xfrm>
            <a:off x="1188000" y="547200"/>
            <a:ext cx="7200000" cy="216000"/>
          </a:xfrm>
          <a:prstGeom prst="rect">
            <a:avLst/>
          </a:prstGeom>
          <a:noFill/>
        </p:spPr>
        <p:txBody>
          <a:bodyPr wrap="square" anchor="t" lIns="0" rIns="0" tIns="0" bIns="0">
            <a:spAutoFit/>
          </a:bodyPr>
          <a:lstStyle/>
          <a:p>
            <a:pPr algn="l">
              <a:lnSpc>
                <a:spcPct val="125000"/>
              </a:lnSpc>
            </a:pPr>
            <a:r>
              <a:rPr sz="750" b="0" spc="300">
                <a:solidFill>
                  <a:srgbClr val="7A6030"/>
                </a:solidFill>
                <a:latin typeface="Yu Gothic"/>
                <a:ea typeface="游ゴシック"/>
              </a:rPr>
              <a:t>PRICING</a:t>
            </a:r>
          </a:p>
        </p:txBody>
      </p:sp>
      <p:sp>
        <p:nvSpPr>
          <p:cNvPr id="5" name="TextBox 4"/>
          <p:cNvSpPr txBox="1"/>
          <p:nvPr/>
        </p:nvSpPr>
        <p:spPr>
          <a:xfrm>
            <a:off x="684000" y="792000"/>
            <a:ext cx="9324000" cy="432000"/>
          </a:xfrm>
          <a:prstGeom prst="rect">
            <a:avLst/>
          </a:prstGeom>
          <a:noFill/>
        </p:spPr>
        <p:txBody>
          <a:bodyPr wrap="square" anchor="t" lIns="0" rIns="0" tIns="0" bIns="0">
            <a:spAutoFit/>
          </a:bodyPr>
          <a:lstStyle/>
          <a:p>
            <a:pPr algn="l">
              <a:lnSpc>
                <a:spcPct val="120000"/>
              </a:lnSpc>
            </a:pPr>
            <a:r>
              <a:rPr sz="2200" b="1">
                <a:solidFill>
                  <a:srgbClr val="1A1D29"/>
                </a:solidFill>
                <a:latin typeface="Garamond"/>
                <a:ea typeface="游明朝"/>
              </a:rPr>
              <a:t>ご利用料金。</a:t>
            </a:r>
          </a:p>
        </p:txBody>
      </p:sp>
      <p:sp>
        <p:nvSpPr>
          <p:cNvPr id="6" name="TextBox 5"/>
          <p:cNvSpPr txBox="1"/>
          <p:nvPr/>
        </p:nvSpPr>
        <p:spPr>
          <a:xfrm>
            <a:off x="684000" y="1260000"/>
            <a:ext cx="9000000" cy="360000"/>
          </a:xfrm>
          <a:prstGeom prst="rect">
            <a:avLst/>
          </a:prstGeom>
          <a:noFill/>
        </p:spPr>
        <p:txBody>
          <a:bodyPr wrap="square" anchor="t" lIns="0" rIns="0" tIns="0" bIns="0">
            <a:spAutoFit/>
          </a:bodyPr>
          <a:lstStyle/>
          <a:p>
            <a:pPr algn="l">
              <a:lnSpc>
                <a:spcPct val="140000"/>
              </a:lnSpc>
            </a:pPr>
            <a:r>
              <a:rPr sz="1000" b="0">
                <a:solidFill>
                  <a:srgbClr val="3A3F4D"/>
                </a:solidFill>
                <a:latin typeface="Yu Gothic"/>
                <a:ea typeface="游ゴシック"/>
              </a:rPr>
              <a:t>開始キャンペーン期間中にご参画いただくと、1年目の月額費用は無料です。</a:t>
            </a:r>
          </a:p>
        </p:txBody>
      </p:sp>
      <p:sp>
        <p:nvSpPr>
          <p:cNvPr id="7" name="Rectangle 6"/>
          <p:cNvSpPr/>
          <p:nvPr/>
        </p:nvSpPr>
        <p:spPr>
          <a:xfrm>
            <a:off x="684000" y="1656000"/>
            <a:ext cx="504000" cy="252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84000" y="2016000"/>
            <a:ext cx="2962800" cy="2232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00000" y="2304000"/>
            <a:ext cx="2530800" cy="1728000"/>
          </a:xfrm>
          <a:prstGeom prst="rect">
            <a:avLst/>
          </a:prstGeom>
          <a:noFill/>
        </p:spPr>
        <p:txBody>
          <a:bodyPr wrap="square" anchor="t" lIns="0" rIns="0" tIns="0" bIns="0">
            <a:spAutoFit/>
          </a:bodyPr>
          <a:lstStyle/>
          <a:p>
            <a:pPr algn="ctr">
              <a:lnSpc>
                <a:spcPct val="125000"/>
              </a:lnSpc>
              <a:spcAft>
                <a:spcPts val="600"/>
              </a:spcAft>
            </a:pPr>
            <a:r>
              <a:rPr sz="850" b="0" spc="150">
                <a:solidFill>
                  <a:srgbClr val="7A6030"/>
                </a:solidFill>
                <a:latin typeface="Yu Gothic"/>
                <a:ea typeface="游ゴシック"/>
              </a:rPr>
              <a:t>初期費用</a:t>
            </a:r>
          </a:p>
          <a:p>
            <a:pPr algn="ctr">
              <a:lnSpc>
                <a:spcPct val="125000"/>
              </a:lnSpc>
              <a:spcAft>
                <a:spcPts val="500"/>
              </a:spcAft>
            </a:pPr>
            <a:r>
              <a:rPr sz="2400" b="1">
                <a:solidFill>
                  <a:srgbClr val="1A1D29"/>
                </a:solidFill>
                <a:latin typeface="Garamond"/>
                <a:ea typeface="游明朝"/>
              </a:rPr>
              <a:t>0</a:t>
            </a:r>
            <a:r>
              <a:rPr sz="1100" b="0">
                <a:solidFill>
                  <a:srgbClr val="3A3F4D"/>
                </a:solidFill>
                <a:latin typeface="Garamond"/>
                <a:ea typeface="游明朝"/>
              </a:rPr>
              <a:t> 円</a:t>
            </a:r>
          </a:p>
          <a:p>
            <a:pPr algn="ctr">
              <a:lnSpc>
                <a:spcPct val="145000"/>
              </a:lnSpc>
            </a:pPr>
            <a:r>
              <a:rPr sz="850" b="0">
                <a:solidFill>
                  <a:srgbClr val="3A3F4D"/>
                </a:solidFill>
                <a:latin typeface="Yu Gothic"/>
                <a:ea typeface="游ゴシック"/>
              </a:rPr>
              <a:t>登録申請・審査に費用はかかりません。</a:t>
            </a:r>
          </a:p>
        </p:txBody>
      </p:sp>
      <p:sp>
        <p:nvSpPr>
          <p:cNvPr id="10" name="Rectangle 9"/>
          <p:cNvSpPr/>
          <p:nvPr/>
        </p:nvSpPr>
        <p:spPr>
          <a:xfrm>
            <a:off x="3862800" y="2016000"/>
            <a:ext cx="2962800" cy="2232000"/>
          </a:xfrm>
          <a:prstGeom prst="rect">
            <a:avLst/>
          </a:prstGeom>
          <a:solidFill>
            <a:srgbClr val="FDF9F0"/>
          </a:solidFill>
          <a:ln w="12700">
            <a:solidFill>
              <a:srgbClr val="C6A1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078800" y="2304000"/>
            <a:ext cx="2530800" cy="1728000"/>
          </a:xfrm>
          <a:prstGeom prst="rect">
            <a:avLst/>
          </a:prstGeom>
          <a:noFill/>
        </p:spPr>
        <p:txBody>
          <a:bodyPr wrap="square" anchor="t" lIns="0" rIns="0" tIns="0" bIns="0">
            <a:spAutoFit/>
          </a:bodyPr>
          <a:lstStyle/>
          <a:p>
            <a:pPr algn="ctr">
              <a:lnSpc>
                <a:spcPct val="125000"/>
              </a:lnSpc>
              <a:spcAft>
                <a:spcPts val="600"/>
              </a:spcAft>
            </a:pPr>
            <a:r>
              <a:rPr sz="850" b="0" spc="150">
                <a:solidFill>
                  <a:srgbClr val="7A6030"/>
                </a:solidFill>
                <a:latin typeface="Yu Gothic"/>
                <a:ea typeface="游ゴシック"/>
              </a:rPr>
              <a:t>月額費用（1年目）</a:t>
            </a:r>
          </a:p>
          <a:p>
            <a:pPr algn="ctr">
              <a:lnSpc>
                <a:spcPct val="125000"/>
              </a:lnSpc>
              <a:spcAft>
                <a:spcPts val="500"/>
              </a:spcAft>
            </a:pPr>
            <a:r>
              <a:rPr sz="2400" b="1">
                <a:solidFill>
                  <a:srgbClr val="1A1D29"/>
                </a:solidFill>
                <a:latin typeface="Garamond"/>
                <a:ea typeface="游明朝"/>
              </a:rPr>
              <a:t>0</a:t>
            </a:r>
            <a:r>
              <a:rPr sz="1100" b="0">
                <a:solidFill>
                  <a:srgbClr val="3A3F4D"/>
                </a:solidFill>
                <a:latin typeface="Garamond"/>
                <a:ea typeface="游明朝"/>
              </a:rPr>
              <a:t> 円</a:t>
            </a:r>
          </a:p>
          <a:p>
            <a:pPr algn="ctr">
              <a:lnSpc>
                <a:spcPct val="145000"/>
              </a:lnSpc>
            </a:pPr>
            <a:r>
              <a:rPr sz="850" b="0">
                <a:solidFill>
                  <a:srgbClr val="3A3F4D"/>
                </a:solidFill>
                <a:latin typeface="Yu Gothic"/>
                <a:ea typeface="游ゴシック"/>
              </a:rPr>
              <a:t>通常 月額5万円のところ、開始キャンペーンにより現在は無料でご利用いただけます。</a:t>
            </a:r>
          </a:p>
        </p:txBody>
      </p:sp>
      <p:sp>
        <p:nvSpPr>
          <p:cNvPr id="12" name="Rectangle 11"/>
          <p:cNvSpPr/>
          <p:nvPr/>
        </p:nvSpPr>
        <p:spPr>
          <a:xfrm>
            <a:off x="7041600" y="2016000"/>
            <a:ext cx="2962800" cy="2232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257600" y="2304000"/>
            <a:ext cx="2530800" cy="1728000"/>
          </a:xfrm>
          <a:prstGeom prst="rect">
            <a:avLst/>
          </a:prstGeom>
          <a:noFill/>
        </p:spPr>
        <p:txBody>
          <a:bodyPr wrap="square" anchor="t" lIns="0" rIns="0" tIns="0" bIns="0">
            <a:spAutoFit/>
          </a:bodyPr>
          <a:lstStyle/>
          <a:p>
            <a:pPr algn="ctr">
              <a:lnSpc>
                <a:spcPct val="125000"/>
              </a:lnSpc>
              <a:spcAft>
                <a:spcPts val="600"/>
              </a:spcAft>
            </a:pPr>
            <a:r>
              <a:rPr sz="850" b="0" spc="150">
                <a:solidFill>
                  <a:srgbClr val="7A6030"/>
                </a:solidFill>
                <a:latin typeface="Yu Gothic"/>
                <a:ea typeface="游ゴシック"/>
              </a:rPr>
              <a:t>月額費用（2年目以降）</a:t>
            </a:r>
          </a:p>
          <a:p>
            <a:pPr algn="ctr">
              <a:lnSpc>
                <a:spcPct val="125000"/>
              </a:lnSpc>
              <a:spcAft>
                <a:spcPts val="500"/>
              </a:spcAft>
            </a:pPr>
            <a:r>
              <a:rPr sz="2400" b="1">
                <a:solidFill>
                  <a:srgbClr val="1A1D29"/>
                </a:solidFill>
                <a:latin typeface="Garamond"/>
                <a:ea typeface="游明朝"/>
              </a:rPr>
              <a:t>5</a:t>
            </a:r>
            <a:r>
              <a:rPr sz="1100" b="0">
                <a:solidFill>
                  <a:srgbClr val="3A3F4D"/>
                </a:solidFill>
                <a:latin typeface="Garamond"/>
                <a:ea typeface="游明朝"/>
              </a:rPr>
              <a:t> 万円／月</a:t>
            </a:r>
          </a:p>
          <a:p>
            <a:pPr algn="ctr">
              <a:lnSpc>
                <a:spcPct val="145000"/>
              </a:lnSpc>
            </a:pPr>
            <a:r>
              <a:rPr sz="850" b="0">
                <a:solidFill>
                  <a:srgbClr val="3A3F4D"/>
                </a:solidFill>
                <a:latin typeface="Yu Gothic"/>
                <a:ea typeface="游ゴシック"/>
              </a:rPr>
              <a:t>2年目以降は、月額5万円でご利用いただけます。</a:t>
            </a:r>
          </a:p>
        </p:txBody>
      </p:sp>
      <p:sp>
        <p:nvSpPr>
          <p:cNvPr id="14" name="Rectangle 13"/>
          <p:cNvSpPr/>
          <p:nvPr/>
        </p:nvSpPr>
        <p:spPr>
          <a:xfrm>
            <a:off x="684000" y="4536000"/>
            <a:ext cx="9324000" cy="720000"/>
          </a:xfrm>
          <a:prstGeom prst="rect">
            <a:avLst/>
          </a:prstGeom>
          <a:solidFill>
            <a:srgbClr val="F1EDE3"/>
          </a:solidFill>
          <a:ln w="9525">
            <a:solidFill>
              <a:srgbClr val="C6A15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72000" y="4536000"/>
            <a:ext cx="8748000" cy="720000"/>
          </a:xfrm>
          <a:prstGeom prst="rect">
            <a:avLst/>
          </a:prstGeom>
          <a:noFill/>
        </p:spPr>
        <p:txBody>
          <a:bodyPr wrap="square" anchor="ctr" lIns="0" rIns="0" tIns="0" bIns="0">
            <a:spAutoFit/>
          </a:bodyPr>
          <a:lstStyle/>
          <a:p>
            <a:pPr algn="l">
              <a:lnSpc>
                <a:spcPct val="150000"/>
              </a:lnSpc>
            </a:pPr>
            <a:r>
              <a:rPr sz="900" b="1">
                <a:solidFill>
                  <a:srgbClr val="7A6030"/>
                </a:solidFill>
                <a:latin typeface="Yu Gothic"/>
                <a:ea typeface="游ゴシック"/>
              </a:rPr>
              <a:t>【開始キャンペーンについて】</a:t>
            </a:r>
            <a:r>
              <a:rPr sz="900" b="0">
                <a:solidFill>
                  <a:srgbClr val="3A3F4D"/>
                </a:solidFill>
                <a:latin typeface="Yu Gothic"/>
                <a:ea typeface="游ゴシック"/>
              </a:rPr>
              <a:t>適用条件・期間の詳細は、お申し込み時にご案内します。キャンペーンは予告なく終了する場合があります。正式なご契約条件は、契約書面にてご案内します。</a:t>
            </a:r>
          </a:p>
        </p:txBody>
      </p:sp>
      <p:sp>
        <p:nvSpPr>
          <p:cNvPr id="16" name="TextBox 15"/>
          <p:cNvSpPr txBox="1"/>
          <p:nvPr/>
        </p:nvSpPr>
        <p:spPr>
          <a:xfrm>
            <a:off x="684000" y="7182000"/>
            <a:ext cx="7200000" cy="216000"/>
          </a:xfrm>
          <a:prstGeom prst="rect">
            <a:avLst/>
          </a:prstGeom>
          <a:noFill/>
        </p:spPr>
        <p:txBody>
          <a:bodyPr wrap="square" anchor="t" lIns="0" rIns="0" tIns="0" bIns="0">
            <a:spAutoFit/>
          </a:bodyPr>
          <a:lstStyle/>
          <a:p>
            <a:pPr algn="l">
              <a:lnSpc>
                <a:spcPct val="125000"/>
              </a:lnSpc>
            </a:pPr>
            <a:r>
              <a:rPr sz="900" b="1">
                <a:solidFill>
                  <a:srgbClr val="7A6030"/>
                </a:solidFill>
                <a:latin typeface="Garamond"/>
                <a:ea typeface="游明朝"/>
              </a:rPr>
              <a:t>MarkGate</a:t>
            </a:r>
            <a:r>
              <a:rPr sz="700" b="0">
                <a:solidFill>
                  <a:srgbClr val="5F6672"/>
                </a:solidFill>
                <a:latin typeface="Yu Gothic"/>
                <a:ea typeface="游ゴシック"/>
              </a:rPr>
              <a:t>　人材紹介エージェント様向けご提案資料</a:t>
            </a:r>
          </a:p>
        </p:txBody>
      </p:sp>
      <p:sp>
        <p:nvSpPr>
          <p:cNvPr id="17" name="TextBox 16"/>
          <p:cNvSpPr txBox="1"/>
          <p:nvPr/>
        </p:nvSpPr>
        <p:spPr>
          <a:xfrm>
            <a:off x="9000000" y="7182000"/>
            <a:ext cx="1008000" cy="216000"/>
          </a:xfrm>
          <a:prstGeom prst="rect">
            <a:avLst/>
          </a:prstGeom>
          <a:noFill/>
        </p:spPr>
        <p:txBody>
          <a:bodyPr wrap="square" anchor="t" lIns="0" rIns="0" tIns="0" bIns="0">
            <a:spAutoFit/>
          </a:bodyPr>
          <a:lstStyle/>
          <a:p>
            <a:pPr algn="r">
              <a:lnSpc>
                <a:spcPct val="125000"/>
              </a:lnSpc>
            </a:pPr>
            <a:r>
              <a:rPr sz="900" b="0" spc="100">
                <a:solidFill>
                  <a:srgbClr val="5F6672"/>
                </a:solidFill>
                <a:latin typeface="Garamond"/>
                <a:ea typeface="游明朝"/>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92000" cy="7560000"/>
          </a:xfrm>
          <a:prstGeom prst="rect">
            <a:avLst/>
          </a:prstGeom>
          <a:solidFill>
            <a:srgbClr val="F8F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84000" y="432000"/>
            <a:ext cx="720000" cy="360000"/>
          </a:xfrm>
          <a:prstGeom prst="rect">
            <a:avLst/>
          </a:prstGeom>
          <a:noFill/>
        </p:spPr>
        <p:txBody>
          <a:bodyPr wrap="square" anchor="t" lIns="0" rIns="0" tIns="0" bIns="0">
            <a:spAutoFit/>
          </a:bodyPr>
          <a:lstStyle/>
          <a:p>
            <a:pPr algn="l">
              <a:lnSpc>
                <a:spcPct val="125000"/>
              </a:lnSpc>
            </a:pPr>
            <a:r>
              <a:rPr sz="1700" b="0">
                <a:solidFill>
                  <a:srgbClr val="C6A15B"/>
                </a:solidFill>
                <a:latin typeface="Garamond"/>
                <a:ea typeface="游明朝"/>
              </a:rPr>
              <a:t>11</a:t>
            </a:r>
          </a:p>
        </p:txBody>
      </p:sp>
      <p:sp>
        <p:nvSpPr>
          <p:cNvPr id="4" name="TextBox 3"/>
          <p:cNvSpPr txBox="1"/>
          <p:nvPr/>
        </p:nvSpPr>
        <p:spPr>
          <a:xfrm>
            <a:off x="1188000" y="547200"/>
            <a:ext cx="7200000" cy="216000"/>
          </a:xfrm>
          <a:prstGeom prst="rect">
            <a:avLst/>
          </a:prstGeom>
          <a:noFill/>
        </p:spPr>
        <p:txBody>
          <a:bodyPr wrap="square" anchor="t" lIns="0" rIns="0" tIns="0" bIns="0">
            <a:spAutoFit/>
          </a:bodyPr>
          <a:lstStyle/>
          <a:p>
            <a:pPr algn="l">
              <a:lnSpc>
                <a:spcPct val="125000"/>
              </a:lnSpc>
            </a:pPr>
            <a:r>
              <a:rPr sz="750" b="0" spc="300">
                <a:solidFill>
                  <a:srgbClr val="7A6030"/>
                </a:solidFill>
                <a:latin typeface="Yu Gothic"/>
                <a:ea typeface="游ゴシック"/>
              </a:rPr>
              <a:t>ONBOARDING</a:t>
            </a:r>
          </a:p>
        </p:txBody>
      </p:sp>
      <p:sp>
        <p:nvSpPr>
          <p:cNvPr id="5" name="TextBox 4"/>
          <p:cNvSpPr txBox="1"/>
          <p:nvPr/>
        </p:nvSpPr>
        <p:spPr>
          <a:xfrm>
            <a:off x="684000" y="792000"/>
            <a:ext cx="9324000" cy="432000"/>
          </a:xfrm>
          <a:prstGeom prst="rect">
            <a:avLst/>
          </a:prstGeom>
          <a:noFill/>
        </p:spPr>
        <p:txBody>
          <a:bodyPr wrap="square" anchor="t" lIns="0" rIns="0" tIns="0" bIns="0">
            <a:spAutoFit/>
          </a:bodyPr>
          <a:lstStyle/>
          <a:p>
            <a:pPr algn="l">
              <a:lnSpc>
                <a:spcPct val="120000"/>
              </a:lnSpc>
            </a:pPr>
            <a:r>
              <a:rPr sz="2200" b="1">
                <a:solidFill>
                  <a:srgbClr val="1A1D29"/>
                </a:solidFill>
                <a:latin typeface="Garamond"/>
                <a:ea typeface="游明朝"/>
              </a:rPr>
              <a:t>導入までの流れ。</a:t>
            </a:r>
          </a:p>
        </p:txBody>
      </p:sp>
      <p:sp>
        <p:nvSpPr>
          <p:cNvPr id="6" name="Rectangle 5"/>
          <p:cNvSpPr/>
          <p:nvPr/>
        </p:nvSpPr>
        <p:spPr>
          <a:xfrm>
            <a:off x="684000" y="1296000"/>
            <a:ext cx="504000" cy="252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4000" y="1656000"/>
            <a:ext cx="1778400" cy="1584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84000" y="1656000"/>
            <a:ext cx="1778400" cy="324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4000" y="1872000"/>
            <a:ext cx="1418400" cy="1224000"/>
          </a:xfrm>
          <a:prstGeom prst="rect">
            <a:avLst/>
          </a:prstGeom>
          <a:noFill/>
        </p:spPr>
        <p:txBody>
          <a:bodyPr wrap="square" anchor="t" lIns="0" rIns="0" tIns="0" bIns="0">
            <a:spAutoFit/>
          </a:bodyPr>
          <a:lstStyle/>
          <a:p>
            <a:pPr algn="l">
              <a:lnSpc>
                <a:spcPct val="125000"/>
              </a:lnSpc>
              <a:spcAft>
                <a:spcPts val="300"/>
              </a:spcAft>
            </a:pPr>
            <a:r>
              <a:rPr sz="800" b="0" spc="100">
                <a:solidFill>
                  <a:srgbClr val="7A6030"/>
                </a:solidFill>
                <a:latin typeface="Garamond"/>
                <a:ea typeface="游明朝"/>
              </a:rPr>
              <a:t>STEP 01</a:t>
            </a:r>
          </a:p>
          <a:p>
            <a:pPr algn="l">
              <a:lnSpc>
                <a:spcPct val="120000"/>
              </a:lnSpc>
              <a:spcAft>
                <a:spcPts val="200"/>
              </a:spcAft>
            </a:pPr>
            <a:r>
              <a:rPr sz="1050" b="1">
                <a:solidFill>
                  <a:srgbClr val="1A1D29"/>
                </a:solidFill>
                <a:latin typeface="Garamond"/>
                <a:ea typeface="游明朝"/>
              </a:rPr>
              <a:t>お問い合わせ</a:t>
            </a:r>
          </a:p>
          <a:p>
            <a:pPr algn="l">
              <a:lnSpc>
                <a:spcPct val="140000"/>
              </a:lnSpc>
            </a:pPr>
            <a:r>
              <a:rPr sz="780" b="0">
                <a:solidFill>
                  <a:srgbClr val="3A3F4D"/>
                </a:solidFill>
                <a:latin typeface="Yu Gothic"/>
                <a:ea typeface="游ゴシック"/>
              </a:rPr>
              <a:t>本資料の内容について、オンラインで詳しくご説明します。</a:t>
            </a:r>
          </a:p>
        </p:txBody>
      </p:sp>
      <p:sp>
        <p:nvSpPr>
          <p:cNvPr id="10" name="Rectangle 9"/>
          <p:cNvSpPr/>
          <p:nvPr/>
        </p:nvSpPr>
        <p:spPr>
          <a:xfrm>
            <a:off x="2570400" y="1656000"/>
            <a:ext cx="1778400" cy="1584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2570400" y="1656000"/>
            <a:ext cx="1778400" cy="324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2750400" y="1872000"/>
            <a:ext cx="1418400" cy="1224000"/>
          </a:xfrm>
          <a:prstGeom prst="rect">
            <a:avLst/>
          </a:prstGeom>
          <a:noFill/>
        </p:spPr>
        <p:txBody>
          <a:bodyPr wrap="square" anchor="t" lIns="0" rIns="0" tIns="0" bIns="0">
            <a:spAutoFit/>
          </a:bodyPr>
          <a:lstStyle/>
          <a:p>
            <a:pPr algn="l">
              <a:lnSpc>
                <a:spcPct val="125000"/>
              </a:lnSpc>
              <a:spcAft>
                <a:spcPts val="300"/>
              </a:spcAft>
            </a:pPr>
            <a:r>
              <a:rPr sz="800" b="0" spc="100">
                <a:solidFill>
                  <a:srgbClr val="7A6030"/>
                </a:solidFill>
                <a:latin typeface="Garamond"/>
                <a:ea typeface="游明朝"/>
              </a:rPr>
              <a:t>STEP 02</a:t>
            </a:r>
          </a:p>
          <a:p>
            <a:pPr algn="l">
              <a:lnSpc>
                <a:spcPct val="120000"/>
              </a:lnSpc>
              <a:spcAft>
                <a:spcPts val="200"/>
              </a:spcAft>
            </a:pPr>
            <a:r>
              <a:rPr sz="1050" b="1">
                <a:solidFill>
                  <a:srgbClr val="1A1D29"/>
                </a:solidFill>
                <a:latin typeface="Garamond"/>
                <a:ea typeface="游明朝"/>
              </a:rPr>
              <a:t>登録候補の選定</a:t>
            </a:r>
          </a:p>
          <a:p>
            <a:pPr algn="l">
              <a:lnSpc>
                <a:spcPct val="140000"/>
              </a:lnSpc>
            </a:pPr>
            <a:r>
              <a:rPr sz="780" b="0">
                <a:solidFill>
                  <a:srgbClr val="3A3F4D"/>
                </a:solidFill>
                <a:latin typeface="Yu Gothic"/>
                <a:ea typeface="游ゴシック"/>
              </a:rPr>
              <a:t>貴社の実績上位アドバイザーから、登録候補をご選定ください。</a:t>
            </a:r>
          </a:p>
        </p:txBody>
      </p:sp>
      <p:sp>
        <p:nvSpPr>
          <p:cNvPr id="13" name="Rectangle 12"/>
          <p:cNvSpPr/>
          <p:nvPr/>
        </p:nvSpPr>
        <p:spPr>
          <a:xfrm>
            <a:off x="4456800" y="1656000"/>
            <a:ext cx="1778400" cy="1584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456800" y="1656000"/>
            <a:ext cx="1778400" cy="324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636800" y="1872000"/>
            <a:ext cx="1418400" cy="1224000"/>
          </a:xfrm>
          <a:prstGeom prst="rect">
            <a:avLst/>
          </a:prstGeom>
          <a:noFill/>
        </p:spPr>
        <p:txBody>
          <a:bodyPr wrap="square" anchor="t" lIns="0" rIns="0" tIns="0" bIns="0">
            <a:spAutoFit/>
          </a:bodyPr>
          <a:lstStyle/>
          <a:p>
            <a:pPr algn="l">
              <a:lnSpc>
                <a:spcPct val="125000"/>
              </a:lnSpc>
              <a:spcAft>
                <a:spcPts val="300"/>
              </a:spcAft>
            </a:pPr>
            <a:r>
              <a:rPr sz="800" b="0" spc="100">
                <a:solidFill>
                  <a:srgbClr val="7A6030"/>
                </a:solidFill>
                <a:latin typeface="Garamond"/>
                <a:ea typeface="游明朝"/>
              </a:rPr>
              <a:t>STEP 03</a:t>
            </a:r>
          </a:p>
          <a:p>
            <a:pPr algn="l">
              <a:lnSpc>
                <a:spcPct val="120000"/>
              </a:lnSpc>
              <a:spcAft>
                <a:spcPts val="200"/>
              </a:spcAft>
            </a:pPr>
            <a:r>
              <a:rPr sz="1050" b="1">
                <a:solidFill>
                  <a:srgbClr val="1A1D29"/>
                </a:solidFill>
                <a:latin typeface="Garamond"/>
                <a:ea typeface="游明朝"/>
              </a:rPr>
              <a:t>登録申請・審査</a:t>
            </a:r>
          </a:p>
          <a:p>
            <a:pPr algn="l">
              <a:lnSpc>
                <a:spcPct val="140000"/>
              </a:lnSpc>
            </a:pPr>
            <a:r>
              <a:rPr sz="780" b="0">
                <a:solidFill>
                  <a:srgbClr val="3A3F4D"/>
                </a:solidFill>
                <a:latin typeface="Yu Gothic"/>
                <a:ea typeface="游ゴシック"/>
              </a:rPr>
              <a:t>書類審査と面談を実施します（無料・料金はP.11）。</a:t>
            </a:r>
          </a:p>
        </p:txBody>
      </p:sp>
      <p:sp>
        <p:nvSpPr>
          <p:cNvPr id="16" name="Rectangle 15"/>
          <p:cNvSpPr/>
          <p:nvPr/>
        </p:nvSpPr>
        <p:spPr>
          <a:xfrm>
            <a:off x="6343200" y="1656000"/>
            <a:ext cx="1778400" cy="1584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343200" y="1656000"/>
            <a:ext cx="1778400" cy="324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523200" y="1872000"/>
            <a:ext cx="1418400" cy="1224000"/>
          </a:xfrm>
          <a:prstGeom prst="rect">
            <a:avLst/>
          </a:prstGeom>
          <a:noFill/>
        </p:spPr>
        <p:txBody>
          <a:bodyPr wrap="square" anchor="t" lIns="0" rIns="0" tIns="0" bIns="0">
            <a:spAutoFit/>
          </a:bodyPr>
          <a:lstStyle/>
          <a:p>
            <a:pPr algn="l">
              <a:lnSpc>
                <a:spcPct val="125000"/>
              </a:lnSpc>
              <a:spcAft>
                <a:spcPts val="300"/>
              </a:spcAft>
            </a:pPr>
            <a:r>
              <a:rPr sz="800" b="0" spc="100">
                <a:solidFill>
                  <a:srgbClr val="7A6030"/>
                </a:solidFill>
                <a:latin typeface="Garamond"/>
                <a:ea typeface="游明朝"/>
              </a:rPr>
              <a:t>STEP 04</a:t>
            </a:r>
          </a:p>
          <a:p>
            <a:pPr algn="l">
              <a:lnSpc>
                <a:spcPct val="120000"/>
              </a:lnSpc>
              <a:spcAft>
                <a:spcPts val="200"/>
              </a:spcAft>
            </a:pPr>
            <a:r>
              <a:rPr sz="1050" b="1">
                <a:solidFill>
                  <a:srgbClr val="1A1D29"/>
                </a:solidFill>
                <a:latin typeface="Garamond"/>
                <a:ea typeface="游明朝"/>
              </a:rPr>
              <a:t>プロフィール掲載</a:t>
            </a:r>
          </a:p>
          <a:p>
            <a:pPr algn="l">
              <a:lnSpc>
                <a:spcPct val="140000"/>
              </a:lnSpc>
            </a:pPr>
            <a:r>
              <a:rPr sz="780" b="0">
                <a:solidFill>
                  <a:srgbClr val="3A3F4D"/>
                </a:solidFill>
                <a:latin typeface="Yu Gothic"/>
                <a:ea typeface="游ゴシック"/>
              </a:rPr>
              <a:t>掲載内容を一緒に磨き込み、公開します。</a:t>
            </a:r>
          </a:p>
        </p:txBody>
      </p:sp>
      <p:sp>
        <p:nvSpPr>
          <p:cNvPr id="19" name="Rectangle 18"/>
          <p:cNvSpPr/>
          <p:nvPr/>
        </p:nvSpPr>
        <p:spPr>
          <a:xfrm>
            <a:off x="8229600" y="1656000"/>
            <a:ext cx="1778400" cy="1584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229600" y="1656000"/>
            <a:ext cx="1778400" cy="324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409600" y="1872000"/>
            <a:ext cx="1418400" cy="1224000"/>
          </a:xfrm>
          <a:prstGeom prst="rect">
            <a:avLst/>
          </a:prstGeom>
          <a:noFill/>
        </p:spPr>
        <p:txBody>
          <a:bodyPr wrap="square" anchor="t" lIns="0" rIns="0" tIns="0" bIns="0">
            <a:spAutoFit/>
          </a:bodyPr>
          <a:lstStyle/>
          <a:p>
            <a:pPr algn="l">
              <a:lnSpc>
                <a:spcPct val="125000"/>
              </a:lnSpc>
              <a:spcAft>
                <a:spcPts val="300"/>
              </a:spcAft>
            </a:pPr>
            <a:r>
              <a:rPr sz="800" b="0" spc="100">
                <a:solidFill>
                  <a:srgbClr val="7A6030"/>
                </a:solidFill>
                <a:latin typeface="Garamond"/>
                <a:ea typeface="游明朝"/>
              </a:rPr>
              <a:t>STEP 05</a:t>
            </a:r>
          </a:p>
          <a:p>
            <a:pPr algn="l">
              <a:lnSpc>
                <a:spcPct val="120000"/>
              </a:lnSpc>
              <a:spcAft>
                <a:spcPts val="200"/>
              </a:spcAft>
            </a:pPr>
            <a:r>
              <a:rPr sz="1050" b="1">
                <a:solidFill>
                  <a:srgbClr val="1A1D29"/>
                </a:solidFill>
                <a:latin typeface="Garamond"/>
                <a:ea typeface="游明朝"/>
              </a:rPr>
              <a:t>指名受領・支援開始</a:t>
            </a:r>
          </a:p>
          <a:p>
            <a:pPr algn="l">
              <a:lnSpc>
                <a:spcPct val="140000"/>
              </a:lnSpc>
            </a:pPr>
            <a:r>
              <a:rPr sz="780" b="0">
                <a:solidFill>
                  <a:srgbClr val="3A3F4D"/>
                </a:solidFill>
                <a:latin typeface="Yu Gothic"/>
                <a:ea typeface="游ゴシック"/>
              </a:rPr>
              <a:t>求職者からの指名を受け、面談・支援を開始します。</a:t>
            </a:r>
          </a:p>
        </p:txBody>
      </p:sp>
      <p:sp>
        <p:nvSpPr>
          <p:cNvPr id="22" name="Rectangle 21"/>
          <p:cNvSpPr/>
          <p:nvPr/>
        </p:nvSpPr>
        <p:spPr>
          <a:xfrm>
            <a:off x="684000" y="3528000"/>
            <a:ext cx="1224000" cy="237600"/>
          </a:xfrm>
          <a:prstGeom prst="rect">
            <a:avLst/>
          </a:prstGeom>
          <a:noFill/>
          <a:ln w="6350">
            <a:solidFill>
              <a:srgbClr val="DECBA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84000" y="3585600"/>
            <a:ext cx="1224000" cy="144000"/>
          </a:xfrm>
          <a:prstGeom prst="rect">
            <a:avLst/>
          </a:prstGeom>
          <a:noFill/>
        </p:spPr>
        <p:txBody>
          <a:bodyPr wrap="square" anchor="t" lIns="0" rIns="0" tIns="0" bIns="0">
            <a:spAutoFit/>
          </a:bodyPr>
          <a:lstStyle/>
          <a:p>
            <a:pPr algn="ctr">
              <a:lnSpc>
                <a:spcPct val="125000"/>
              </a:lnSpc>
            </a:pPr>
            <a:r>
              <a:rPr sz="700" b="0" spc="100">
                <a:solidFill>
                  <a:srgbClr val="7A6030"/>
                </a:solidFill>
                <a:latin typeface="Yu Gothic"/>
                <a:ea typeface="游ゴシック"/>
              </a:rPr>
              <a:t>所要期間の目安</a:t>
            </a:r>
          </a:p>
        </p:txBody>
      </p:sp>
      <p:sp>
        <p:nvSpPr>
          <p:cNvPr id="24" name="TextBox 23"/>
          <p:cNvSpPr txBox="1"/>
          <p:nvPr/>
        </p:nvSpPr>
        <p:spPr>
          <a:xfrm>
            <a:off x="2088000" y="3549600"/>
            <a:ext cx="7920000" cy="432000"/>
          </a:xfrm>
          <a:prstGeom prst="rect">
            <a:avLst/>
          </a:prstGeom>
          <a:noFill/>
        </p:spPr>
        <p:txBody>
          <a:bodyPr wrap="square" anchor="t" lIns="0" rIns="0" tIns="0" bIns="0">
            <a:spAutoFit/>
          </a:bodyPr>
          <a:lstStyle/>
          <a:p>
            <a:pPr algn="l">
              <a:lnSpc>
                <a:spcPct val="140000"/>
              </a:lnSpc>
            </a:pPr>
            <a:r>
              <a:rPr sz="800" b="0">
                <a:solidFill>
                  <a:srgbClr val="5F6672"/>
                </a:solidFill>
                <a:latin typeface="Yu Gothic"/>
                <a:ea typeface="游ゴシック"/>
              </a:rPr>
              <a:t>お申し込みからプロフィール公開まで、2〜3週間程度を想定しています（審査状況により前後します）。</a:t>
            </a:r>
          </a:p>
        </p:txBody>
      </p:sp>
      <p:sp>
        <p:nvSpPr>
          <p:cNvPr id="25" name="Rectangle 24"/>
          <p:cNvSpPr/>
          <p:nvPr/>
        </p:nvSpPr>
        <p:spPr>
          <a:xfrm>
            <a:off x="684000" y="4068000"/>
            <a:ext cx="1224000" cy="237600"/>
          </a:xfrm>
          <a:prstGeom prst="rect">
            <a:avLst/>
          </a:prstGeom>
          <a:noFill/>
          <a:ln w="6350">
            <a:solidFill>
              <a:srgbClr val="DECBA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84000" y="4125600"/>
            <a:ext cx="1224000" cy="144000"/>
          </a:xfrm>
          <a:prstGeom prst="rect">
            <a:avLst/>
          </a:prstGeom>
          <a:noFill/>
        </p:spPr>
        <p:txBody>
          <a:bodyPr wrap="square" anchor="t" lIns="0" rIns="0" tIns="0" bIns="0">
            <a:spAutoFit/>
          </a:bodyPr>
          <a:lstStyle/>
          <a:p>
            <a:pPr algn="ctr">
              <a:lnSpc>
                <a:spcPct val="125000"/>
              </a:lnSpc>
            </a:pPr>
            <a:r>
              <a:rPr sz="700" b="0" spc="100">
                <a:solidFill>
                  <a:srgbClr val="7A6030"/>
                </a:solidFill>
                <a:latin typeface="Yu Gothic"/>
                <a:ea typeface="游ゴシック"/>
              </a:rPr>
              <a:t>先行登録のご案内</a:t>
            </a:r>
          </a:p>
        </p:txBody>
      </p:sp>
      <p:sp>
        <p:nvSpPr>
          <p:cNvPr id="27" name="TextBox 26"/>
          <p:cNvSpPr txBox="1"/>
          <p:nvPr/>
        </p:nvSpPr>
        <p:spPr>
          <a:xfrm>
            <a:off x="2088000" y="4089600"/>
            <a:ext cx="7920000" cy="432000"/>
          </a:xfrm>
          <a:prstGeom prst="rect">
            <a:avLst/>
          </a:prstGeom>
          <a:noFill/>
        </p:spPr>
        <p:txBody>
          <a:bodyPr wrap="square" anchor="t" lIns="0" rIns="0" tIns="0" bIns="0">
            <a:spAutoFit/>
          </a:bodyPr>
          <a:lstStyle/>
          <a:p>
            <a:pPr algn="l">
              <a:lnSpc>
                <a:spcPct val="140000"/>
              </a:lnSpc>
            </a:pPr>
            <a:r>
              <a:rPr sz="800" b="0">
                <a:solidFill>
                  <a:srgbClr val="5F6672"/>
                </a:solidFill>
                <a:latin typeface="Yu Gothic"/>
                <a:ea typeface="游ゴシック"/>
              </a:rPr>
              <a:t>正式リリースに先立ち、先行登録エージェント様を募集しています。初期に参画いただいた貴社エースのプロフィールは、リリース時点から求職者の比較・指名の対象となります。リリース時期・求職者側の集客計画は、ご説明の際に最新の状況をご案内します。</a:t>
            </a:r>
          </a:p>
        </p:txBody>
      </p:sp>
      <p:sp>
        <p:nvSpPr>
          <p:cNvPr id="28" name="TextBox 27"/>
          <p:cNvSpPr txBox="1"/>
          <p:nvPr/>
        </p:nvSpPr>
        <p:spPr>
          <a:xfrm>
            <a:off x="684000" y="7182000"/>
            <a:ext cx="7200000" cy="216000"/>
          </a:xfrm>
          <a:prstGeom prst="rect">
            <a:avLst/>
          </a:prstGeom>
          <a:noFill/>
        </p:spPr>
        <p:txBody>
          <a:bodyPr wrap="square" anchor="t" lIns="0" rIns="0" tIns="0" bIns="0">
            <a:spAutoFit/>
          </a:bodyPr>
          <a:lstStyle/>
          <a:p>
            <a:pPr algn="l">
              <a:lnSpc>
                <a:spcPct val="125000"/>
              </a:lnSpc>
            </a:pPr>
            <a:r>
              <a:rPr sz="900" b="1">
                <a:solidFill>
                  <a:srgbClr val="7A6030"/>
                </a:solidFill>
                <a:latin typeface="Garamond"/>
                <a:ea typeface="游明朝"/>
              </a:rPr>
              <a:t>MarkGate</a:t>
            </a:r>
            <a:r>
              <a:rPr sz="700" b="0">
                <a:solidFill>
                  <a:srgbClr val="5F6672"/>
                </a:solidFill>
                <a:latin typeface="Yu Gothic"/>
                <a:ea typeface="游ゴシック"/>
              </a:rPr>
              <a:t>　人材紹介エージェント様向けご提案資料</a:t>
            </a:r>
          </a:p>
        </p:txBody>
      </p:sp>
      <p:sp>
        <p:nvSpPr>
          <p:cNvPr id="29" name="TextBox 28"/>
          <p:cNvSpPr txBox="1"/>
          <p:nvPr/>
        </p:nvSpPr>
        <p:spPr>
          <a:xfrm>
            <a:off x="9000000" y="7182000"/>
            <a:ext cx="1008000" cy="216000"/>
          </a:xfrm>
          <a:prstGeom prst="rect">
            <a:avLst/>
          </a:prstGeom>
          <a:noFill/>
        </p:spPr>
        <p:txBody>
          <a:bodyPr wrap="square" anchor="t" lIns="0" rIns="0" tIns="0" bIns="0">
            <a:spAutoFit/>
          </a:bodyPr>
          <a:lstStyle/>
          <a:p>
            <a:pPr algn="r">
              <a:lnSpc>
                <a:spcPct val="125000"/>
              </a:lnSpc>
            </a:pPr>
            <a:r>
              <a:rPr sz="900" b="0" spc="100">
                <a:solidFill>
                  <a:srgbClr val="5F6672"/>
                </a:solidFill>
                <a:latin typeface="Garamond"/>
                <a:ea typeface="游明朝"/>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92000" cy="7560000"/>
          </a:xfrm>
          <a:prstGeom prst="rect">
            <a:avLst/>
          </a:prstGeom>
          <a:solidFill>
            <a:srgbClr val="F8F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84000" y="432000"/>
            <a:ext cx="720000" cy="360000"/>
          </a:xfrm>
          <a:prstGeom prst="rect">
            <a:avLst/>
          </a:prstGeom>
          <a:noFill/>
        </p:spPr>
        <p:txBody>
          <a:bodyPr wrap="square" anchor="t" lIns="0" rIns="0" tIns="0" bIns="0">
            <a:spAutoFit/>
          </a:bodyPr>
          <a:lstStyle/>
          <a:p>
            <a:pPr algn="l">
              <a:lnSpc>
                <a:spcPct val="125000"/>
              </a:lnSpc>
            </a:pPr>
            <a:r>
              <a:rPr sz="1700" b="0">
                <a:solidFill>
                  <a:srgbClr val="C6A15B"/>
                </a:solidFill>
                <a:latin typeface="Garamond"/>
                <a:ea typeface="游明朝"/>
              </a:rPr>
              <a:t>12</a:t>
            </a:r>
          </a:p>
        </p:txBody>
      </p:sp>
      <p:sp>
        <p:nvSpPr>
          <p:cNvPr id="4" name="TextBox 3"/>
          <p:cNvSpPr txBox="1"/>
          <p:nvPr/>
        </p:nvSpPr>
        <p:spPr>
          <a:xfrm>
            <a:off x="1188000" y="547200"/>
            <a:ext cx="7200000" cy="216000"/>
          </a:xfrm>
          <a:prstGeom prst="rect">
            <a:avLst/>
          </a:prstGeom>
          <a:noFill/>
        </p:spPr>
        <p:txBody>
          <a:bodyPr wrap="square" anchor="t" lIns="0" rIns="0" tIns="0" bIns="0">
            <a:spAutoFit/>
          </a:bodyPr>
          <a:lstStyle/>
          <a:p>
            <a:pPr algn="l">
              <a:lnSpc>
                <a:spcPct val="125000"/>
              </a:lnSpc>
            </a:pPr>
            <a:r>
              <a:rPr sz="750" b="0" spc="300">
                <a:solidFill>
                  <a:srgbClr val="7A6030"/>
                </a:solidFill>
                <a:latin typeface="Yu Gothic"/>
                <a:ea typeface="游ゴシック"/>
              </a:rPr>
              <a:t>FAQ</a:t>
            </a:r>
          </a:p>
        </p:txBody>
      </p:sp>
      <p:sp>
        <p:nvSpPr>
          <p:cNvPr id="5" name="TextBox 4"/>
          <p:cNvSpPr txBox="1"/>
          <p:nvPr/>
        </p:nvSpPr>
        <p:spPr>
          <a:xfrm>
            <a:off x="684000" y="792000"/>
            <a:ext cx="9324000" cy="432000"/>
          </a:xfrm>
          <a:prstGeom prst="rect">
            <a:avLst/>
          </a:prstGeom>
          <a:noFill/>
        </p:spPr>
        <p:txBody>
          <a:bodyPr wrap="square" anchor="t" lIns="0" rIns="0" tIns="0" bIns="0">
            <a:spAutoFit/>
          </a:bodyPr>
          <a:lstStyle/>
          <a:p>
            <a:pPr algn="l">
              <a:lnSpc>
                <a:spcPct val="120000"/>
              </a:lnSpc>
            </a:pPr>
            <a:r>
              <a:rPr sz="2200" b="1">
                <a:solidFill>
                  <a:srgbClr val="1A1D29"/>
                </a:solidFill>
                <a:latin typeface="Garamond"/>
                <a:ea typeface="游明朝"/>
              </a:rPr>
              <a:t>よくあるご質問。</a:t>
            </a:r>
          </a:p>
        </p:txBody>
      </p:sp>
      <p:sp>
        <p:nvSpPr>
          <p:cNvPr id="6" name="Rectangle 5"/>
          <p:cNvSpPr/>
          <p:nvPr/>
        </p:nvSpPr>
        <p:spPr>
          <a:xfrm>
            <a:off x="684000" y="1296000"/>
            <a:ext cx="504000" cy="252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4000" y="1620000"/>
            <a:ext cx="4554000" cy="1296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00000" y="1764000"/>
            <a:ext cx="4122000" cy="1008000"/>
          </a:xfrm>
          <a:prstGeom prst="rect">
            <a:avLst/>
          </a:prstGeom>
          <a:noFill/>
        </p:spPr>
        <p:txBody>
          <a:bodyPr wrap="square" anchor="t" lIns="0" rIns="0" tIns="0" bIns="0">
            <a:spAutoFit/>
          </a:bodyPr>
          <a:lstStyle/>
          <a:p>
            <a:pPr algn="l">
              <a:lnSpc>
                <a:spcPct val="125000"/>
              </a:lnSpc>
              <a:spcAft>
                <a:spcPts val="200"/>
              </a:spcAft>
            </a:pPr>
            <a:r>
              <a:rPr sz="950" b="1">
                <a:solidFill>
                  <a:srgbClr val="7A6030"/>
                </a:solidFill>
                <a:latin typeface="Garamond"/>
                <a:ea typeface="游明朝"/>
              </a:rPr>
              <a:t>Q. </a:t>
            </a:r>
            <a:r>
              <a:rPr sz="950" b="1">
                <a:solidFill>
                  <a:srgbClr val="1A1D29"/>
                </a:solidFill>
                <a:latin typeface="Garamond"/>
                <a:ea typeface="游明朝"/>
              </a:rPr>
              <a:t>何名まで登録できますか？</a:t>
            </a:r>
          </a:p>
          <a:p>
            <a:pPr algn="l">
              <a:lnSpc>
                <a:spcPct val="135000"/>
              </a:lnSpc>
            </a:pPr>
            <a:r>
              <a:rPr sz="800" b="0">
                <a:solidFill>
                  <a:srgbClr val="5F6672"/>
                </a:solidFill>
                <a:latin typeface="Garamond"/>
                <a:ea typeface="游明朝"/>
              </a:rPr>
              <a:t>A. </a:t>
            </a:r>
            <a:r>
              <a:rPr sz="800" b="0">
                <a:solidFill>
                  <a:srgbClr val="3A3F4D"/>
                </a:solidFill>
                <a:latin typeface="Yu Gothic"/>
                <a:ea typeface="游ゴシック"/>
              </a:rPr>
              <a:t>人数の上限ではなく「実績上位であること」が基準です。審査を通過したアドバイザーはご登録いただけます。まずは貴社のエース級の方からのお申し込みをおすすめします。</a:t>
            </a:r>
          </a:p>
        </p:txBody>
      </p:sp>
      <p:sp>
        <p:nvSpPr>
          <p:cNvPr id="9" name="Rectangle 8"/>
          <p:cNvSpPr/>
          <p:nvPr/>
        </p:nvSpPr>
        <p:spPr>
          <a:xfrm>
            <a:off x="5418000" y="1620000"/>
            <a:ext cx="4554000" cy="1296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634000" y="1764000"/>
            <a:ext cx="4122000" cy="1008000"/>
          </a:xfrm>
          <a:prstGeom prst="rect">
            <a:avLst/>
          </a:prstGeom>
          <a:noFill/>
        </p:spPr>
        <p:txBody>
          <a:bodyPr wrap="square" anchor="t" lIns="0" rIns="0" tIns="0" bIns="0">
            <a:spAutoFit/>
          </a:bodyPr>
          <a:lstStyle/>
          <a:p>
            <a:pPr algn="l">
              <a:lnSpc>
                <a:spcPct val="125000"/>
              </a:lnSpc>
              <a:spcAft>
                <a:spcPts val="200"/>
              </a:spcAft>
            </a:pPr>
            <a:r>
              <a:rPr sz="950" b="1">
                <a:solidFill>
                  <a:srgbClr val="7A6030"/>
                </a:solidFill>
                <a:latin typeface="Garamond"/>
                <a:ea typeface="游明朝"/>
              </a:rPr>
              <a:t>Q. </a:t>
            </a:r>
            <a:r>
              <a:rPr sz="950" b="1">
                <a:solidFill>
                  <a:srgbClr val="1A1D29"/>
                </a:solidFill>
                <a:latin typeface="Garamond"/>
                <a:ea typeface="游明朝"/>
              </a:rPr>
              <a:t>費用はかかりますか？</a:t>
            </a:r>
          </a:p>
          <a:p>
            <a:pPr algn="l">
              <a:lnSpc>
                <a:spcPct val="135000"/>
              </a:lnSpc>
            </a:pPr>
            <a:r>
              <a:rPr sz="800" b="0">
                <a:solidFill>
                  <a:srgbClr val="5F6672"/>
                </a:solidFill>
                <a:latin typeface="Garamond"/>
                <a:ea typeface="游明朝"/>
              </a:rPr>
              <a:t>A. </a:t>
            </a:r>
            <a:r>
              <a:rPr sz="800" b="0">
                <a:solidFill>
                  <a:srgbClr val="3A3F4D"/>
                </a:solidFill>
                <a:latin typeface="Yu Gothic"/>
                <a:ea typeface="游ゴシック"/>
              </a:rPr>
              <a:t>登録申請・審査は無料です。月額費用は通常5万円ですが、開始キャンペーンにより1年目は無料でご利用いただけます（2年目以降は月額5万円。詳細はP.11）。</a:t>
            </a:r>
          </a:p>
        </p:txBody>
      </p:sp>
      <p:sp>
        <p:nvSpPr>
          <p:cNvPr id="11" name="Rectangle 10"/>
          <p:cNvSpPr/>
          <p:nvPr/>
        </p:nvSpPr>
        <p:spPr>
          <a:xfrm>
            <a:off x="684000" y="3096000"/>
            <a:ext cx="4554000" cy="1296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00000" y="3240000"/>
            <a:ext cx="4122000" cy="1008000"/>
          </a:xfrm>
          <a:prstGeom prst="rect">
            <a:avLst/>
          </a:prstGeom>
          <a:noFill/>
        </p:spPr>
        <p:txBody>
          <a:bodyPr wrap="square" anchor="t" lIns="0" rIns="0" tIns="0" bIns="0">
            <a:spAutoFit/>
          </a:bodyPr>
          <a:lstStyle/>
          <a:p>
            <a:pPr algn="l">
              <a:lnSpc>
                <a:spcPct val="125000"/>
              </a:lnSpc>
              <a:spcAft>
                <a:spcPts val="200"/>
              </a:spcAft>
            </a:pPr>
            <a:r>
              <a:rPr sz="950" b="1">
                <a:solidFill>
                  <a:srgbClr val="7A6030"/>
                </a:solidFill>
                <a:latin typeface="Garamond"/>
                <a:ea typeface="游明朝"/>
              </a:rPr>
              <a:t>Q. </a:t>
            </a:r>
            <a:r>
              <a:rPr sz="950" b="1">
                <a:solidFill>
                  <a:srgbClr val="1A1D29"/>
                </a:solidFill>
                <a:latin typeface="Garamond"/>
                <a:ea typeface="游明朝"/>
              </a:rPr>
              <a:t>他社のアドバイザーと並ぶことに懸念があります。</a:t>
            </a:r>
          </a:p>
          <a:p>
            <a:pPr algn="l">
              <a:lnSpc>
                <a:spcPct val="135000"/>
              </a:lnSpc>
            </a:pPr>
            <a:r>
              <a:rPr sz="800" b="0">
                <a:solidFill>
                  <a:srgbClr val="5F6672"/>
                </a:solidFill>
                <a:latin typeface="Garamond"/>
                <a:ea typeface="游明朝"/>
              </a:rPr>
              <a:t>A. </a:t>
            </a:r>
            <a:r>
              <a:rPr sz="800" b="0">
                <a:solidFill>
                  <a:srgbClr val="3A3F4D"/>
                </a:solidFill>
                <a:latin typeface="Yu Gothic"/>
                <a:ea typeface="游ゴシック"/>
              </a:rPr>
              <a:t>比較される場は、実力あるエースにとってはむしろ証明の場です。指名は求職者の意思で行われるため、実績と専門性が正当に評価されます。掲載内容の磨き込みも支援します。</a:t>
            </a:r>
          </a:p>
        </p:txBody>
      </p:sp>
      <p:sp>
        <p:nvSpPr>
          <p:cNvPr id="13" name="Rectangle 12"/>
          <p:cNvSpPr/>
          <p:nvPr/>
        </p:nvSpPr>
        <p:spPr>
          <a:xfrm>
            <a:off x="5418000" y="3096000"/>
            <a:ext cx="4554000" cy="1296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634000" y="3240000"/>
            <a:ext cx="4122000" cy="1008000"/>
          </a:xfrm>
          <a:prstGeom prst="rect">
            <a:avLst/>
          </a:prstGeom>
          <a:noFill/>
        </p:spPr>
        <p:txBody>
          <a:bodyPr wrap="square" anchor="t" lIns="0" rIns="0" tIns="0" bIns="0">
            <a:spAutoFit/>
          </a:bodyPr>
          <a:lstStyle/>
          <a:p>
            <a:pPr algn="l">
              <a:lnSpc>
                <a:spcPct val="125000"/>
              </a:lnSpc>
              <a:spcAft>
                <a:spcPts val="200"/>
              </a:spcAft>
            </a:pPr>
            <a:r>
              <a:rPr sz="950" b="1">
                <a:solidFill>
                  <a:srgbClr val="7A6030"/>
                </a:solidFill>
                <a:latin typeface="Garamond"/>
                <a:ea typeface="游明朝"/>
              </a:rPr>
              <a:t>Q. </a:t>
            </a:r>
            <a:r>
              <a:rPr sz="950" b="1">
                <a:solidFill>
                  <a:srgbClr val="1A1D29"/>
                </a:solidFill>
                <a:latin typeface="Garamond"/>
                <a:ea typeface="游明朝"/>
              </a:rPr>
              <a:t>既存のスカウト媒体や自社集客と競合しませんか？</a:t>
            </a:r>
          </a:p>
          <a:p>
            <a:pPr algn="l">
              <a:lnSpc>
                <a:spcPct val="135000"/>
              </a:lnSpc>
            </a:pPr>
            <a:r>
              <a:rPr sz="800" b="0">
                <a:solidFill>
                  <a:srgbClr val="5F6672"/>
                </a:solidFill>
                <a:latin typeface="Garamond"/>
                <a:ea typeface="游明朝"/>
              </a:rPr>
              <a:t>A. </a:t>
            </a:r>
            <a:r>
              <a:rPr sz="800" b="0">
                <a:solidFill>
                  <a:srgbClr val="3A3F4D"/>
                </a:solidFill>
                <a:latin typeface="Yu Gothic"/>
                <a:ea typeface="游ゴシック"/>
              </a:rPr>
              <a:t>MarkGateは「求職者からの指名」というプル型の接点で、既存のプッシュ型チャネルと役割が異なります。併用いただく前提の、追加チャネルとしてご活用ください。</a:t>
            </a:r>
          </a:p>
        </p:txBody>
      </p:sp>
      <p:sp>
        <p:nvSpPr>
          <p:cNvPr id="15" name="Rectangle 14"/>
          <p:cNvSpPr/>
          <p:nvPr/>
        </p:nvSpPr>
        <p:spPr>
          <a:xfrm>
            <a:off x="684000" y="4572000"/>
            <a:ext cx="4554000" cy="1296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00000" y="4716000"/>
            <a:ext cx="4122000" cy="1008000"/>
          </a:xfrm>
          <a:prstGeom prst="rect">
            <a:avLst/>
          </a:prstGeom>
          <a:noFill/>
        </p:spPr>
        <p:txBody>
          <a:bodyPr wrap="square" anchor="t" lIns="0" rIns="0" tIns="0" bIns="0">
            <a:spAutoFit/>
          </a:bodyPr>
          <a:lstStyle/>
          <a:p>
            <a:pPr algn="l">
              <a:lnSpc>
                <a:spcPct val="125000"/>
              </a:lnSpc>
              <a:spcAft>
                <a:spcPts val="200"/>
              </a:spcAft>
            </a:pPr>
            <a:r>
              <a:rPr sz="950" b="1">
                <a:solidFill>
                  <a:srgbClr val="7A6030"/>
                </a:solidFill>
                <a:latin typeface="Garamond"/>
                <a:ea typeface="游明朝"/>
              </a:rPr>
              <a:t>Q. </a:t>
            </a:r>
            <a:r>
              <a:rPr sz="950" b="1">
                <a:solidFill>
                  <a:srgbClr val="1A1D29"/>
                </a:solidFill>
                <a:latin typeface="Garamond"/>
                <a:ea typeface="游明朝"/>
              </a:rPr>
              <a:t>求職者の質はどのように担保されますか？</a:t>
            </a:r>
          </a:p>
          <a:p>
            <a:pPr algn="l">
              <a:lnSpc>
                <a:spcPct val="135000"/>
              </a:lnSpc>
            </a:pPr>
            <a:r>
              <a:rPr sz="800" b="0">
                <a:solidFill>
                  <a:srgbClr val="5F6672"/>
                </a:solidFill>
                <a:latin typeface="Garamond"/>
                <a:ea typeface="游明朝"/>
              </a:rPr>
              <a:t>A. </a:t>
            </a:r>
            <a:r>
              <a:rPr sz="800" b="0">
                <a:solidFill>
                  <a:srgbClr val="3A3F4D"/>
                </a:solidFill>
                <a:latin typeface="Yu Gothic"/>
                <a:ea typeface="游ゴシック"/>
              </a:rPr>
              <a:t>求職者側も審査制です。経営幹部・管理職・高度専門職を中心とした、年収800万円以上を想定するハイクラス層に特化しています。</a:t>
            </a:r>
          </a:p>
        </p:txBody>
      </p:sp>
      <p:sp>
        <p:nvSpPr>
          <p:cNvPr id="17" name="Rectangle 16"/>
          <p:cNvSpPr/>
          <p:nvPr/>
        </p:nvSpPr>
        <p:spPr>
          <a:xfrm>
            <a:off x="5418000" y="4572000"/>
            <a:ext cx="4554000" cy="1296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634000" y="4716000"/>
            <a:ext cx="4122000" cy="1008000"/>
          </a:xfrm>
          <a:prstGeom prst="rect">
            <a:avLst/>
          </a:prstGeom>
          <a:noFill/>
        </p:spPr>
        <p:txBody>
          <a:bodyPr wrap="square" anchor="t" lIns="0" rIns="0" tIns="0" bIns="0">
            <a:spAutoFit/>
          </a:bodyPr>
          <a:lstStyle/>
          <a:p>
            <a:pPr algn="l">
              <a:lnSpc>
                <a:spcPct val="125000"/>
              </a:lnSpc>
              <a:spcAft>
                <a:spcPts val="200"/>
              </a:spcAft>
            </a:pPr>
            <a:r>
              <a:rPr sz="950" b="1">
                <a:solidFill>
                  <a:srgbClr val="7A6030"/>
                </a:solidFill>
                <a:latin typeface="Garamond"/>
                <a:ea typeface="游明朝"/>
              </a:rPr>
              <a:t>Q. </a:t>
            </a:r>
            <a:r>
              <a:rPr sz="950" b="1">
                <a:solidFill>
                  <a:srgbClr val="1A1D29"/>
                </a:solidFill>
                <a:latin typeface="Garamond"/>
                <a:ea typeface="游明朝"/>
              </a:rPr>
              <a:t>求職者はどのように集めるのですか？</a:t>
            </a:r>
          </a:p>
          <a:p>
            <a:pPr algn="l">
              <a:lnSpc>
                <a:spcPct val="135000"/>
              </a:lnSpc>
            </a:pPr>
            <a:r>
              <a:rPr sz="800" b="0">
                <a:solidFill>
                  <a:srgbClr val="5F6672"/>
                </a:solidFill>
                <a:latin typeface="Garamond"/>
                <a:ea typeface="游明朝"/>
              </a:rPr>
              <a:t>A. </a:t>
            </a:r>
            <a:r>
              <a:rPr sz="800" b="0">
                <a:solidFill>
                  <a:srgbClr val="3A3F4D"/>
                </a:solidFill>
                <a:latin typeface="Yu Gothic"/>
                <a:ea typeface="游ゴシック"/>
              </a:rPr>
              <a:t>審査制を軸に、ご紹介・招待、ハイクラス層向けの情報発信、提携チャネルなどを組み合わせ、質を担保しながら段階的に拡大する計画です。想定規模や進捗は、ご説明の際に最新の状況をご案内します。</a:t>
            </a:r>
          </a:p>
        </p:txBody>
      </p:sp>
      <p:sp>
        <p:nvSpPr>
          <p:cNvPr id="19" name="TextBox 18"/>
          <p:cNvSpPr txBox="1"/>
          <p:nvPr/>
        </p:nvSpPr>
        <p:spPr>
          <a:xfrm>
            <a:off x="684000" y="7182000"/>
            <a:ext cx="7200000" cy="216000"/>
          </a:xfrm>
          <a:prstGeom prst="rect">
            <a:avLst/>
          </a:prstGeom>
          <a:noFill/>
        </p:spPr>
        <p:txBody>
          <a:bodyPr wrap="square" anchor="t" lIns="0" rIns="0" tIns="0" bIns="0">
            <a:spAutoFit/>
          </a:bodyPr>
          <a:lstStyle/>
          <a:p>
            <a:pPr algn="l">
              <a:lnSpc>
                <a:spcPct val="125000"/>
              </a:lnSpc>
            </a:pPr>
            <a:r>
              <a:rPr sz="900" b="1">
                <a:solidFill>
                  <a:srgbClr val="7A6030"/>
                </a:solidFill>
                <a:latin typeface="Garamond"/>
                <a:ea typeface="游明朝"/>
              </a:rPr>
              <a:t>MarkGate</a:t>
            </a:r>
            <a:r>
              <a:rPr sz="700" b="0">
                <a:solidFill>
                  <a:srgbClr val="5F6672"/>
                </a:solidFill>
                <a:latin typeface="Yu Gothic"/>
                <a:ea typeface="游ゴシック"/>
              </a:rPr>
              <a:t>　人材紹介エージェント様向けご提案資料</a:t>
            </a:r>
          </a:p>
        </p:txBody>
      </p:sp>
      <p:sp>
        <p:nvSpPr>
          <p:cNvPr id="20" name="TextBox 19"/>
          <p:cNvSpPr txBox="1"/>
          <p:nvPr/>
        </p:nvSpPr>
        <p:spPr>
          <a:xfrm>
            <a:off x="9000000" y="7182000"/>
            <a:ext cx="1008000" cy="216000"/>
          </a:xfrm>
          <a:prstGeom prst="rect">
            <a:avLst/>
          </a:prstGeom>
          <a:noFill/>
        </p:spPr>
        <p:txBody>
          <a:bodyPr wrap="square" anchor="t" lIns="0" rIns="0" tIns="0" bIns="0">
            <a:spAutoFit/>
          </a:bodyPr>
          <a:lstStyle/>
          <a:p>
            <a:pPr algn="r">
              <a:lnSpc>
                <a:spcPct val="125000"/>
              </a:lnSpc>
            </a:pPr>
            <a:r>
              <a:rPr sz="900" b="0" spc="100">
                <a:solidFill>
                  <a:srgbClr val="5F6672"/>
                </a:solidFill>
                <a:latin typeface="Garamond"/>
                <a:ea typeface="游明朝"/>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92000" cy="7560000"/>
          </a:xfrm>
          <a:prstGeom prst="rect">
            <a:avLst/>
          </a:prstGeom>
          <a:solidFill>
            <a:srgbClr val="F8F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84000" y="432000"/>
            <a:ext cx="720000" cy="360000"/>
          </a:xfrm>
          <a:prstGeom prst="rect">
            <a:avLst/>
          </a:prstGeom>
          <a:noFill/>
        </p:spPr>
        <p:txBody>
          <a:bodyPr wrap="square" anchor="t" lIns="0" rIns="0" tIns="0" bIns="0">
            <a:spAutoFit/>
          </a:bodyPr>
          <a:lstStyle/>
          <a:p>
            <a:pPr algn="l">
              <a:lnSpc>
                <a:spcPct val="125000"/>
              </a:lnSpc>
            </a:pPr>
            <a:r>
              <a:rPr sz="1700" b="0">
                <a:solidFill>
                  <a:srgbClr val="C6A15B"/>
                </a:solidFill>
                <a:latin typeface="Garamond"/>
                <a:ea typeface="游明朝"/>
              </a:rPr>
              <a:t>13</a:t>
            </a:r>
          </a:p>
        </p:txBody>
      </p:sp>
      <p:sp>
        <p:nvSpPr>
          <p:cNvPr id="4" name="TextBox 3"/>
          <p:cNvSpPr txBox="1"/>
          <p:nvPr/>
        </p:nvSpPr>
        <p:spPr>
          <a:xfrm>
            <a:off x="1188000" y="547200"/>
            <a:ext cx="7200000" cy="216000"/>
          </a:xfrm>
          <a:prstGeom prst="rect">
            <a:avLst/>
          </a:prstGeom>
          <a:noFill/>
        </p:spPr>
        <p:txBody>
          <a:bodyPr wrap="square" anchor="t" lIns="0" rIns="0" tIns="0" bIns="0">
            <a:spAutoFit/>
          </a:bodyPr>
          <a:lstStyle/>
          <a:p>
            <a:pPr algn="l">
              <a:lnSpc>
                <a:spcPct val="125000"/>
              </a:lnSpc>
            </a:pPr>
            <a:r>
              <a:rPr sz="750" b="0" spc="300">
                <a:solidFill>
                  <a:srgbClr val="7A6030"/>
                </a:solidFill>
                <a:latin typeface="Yu Gothic"/>
                <a:ea typeface="游ゴシック"/>
              </a:rPr>
              <a:t>FAQ — DATA &amp; CONTRACT</a:t>
            </a:r>
          </a:p>
        </p:txBody>
      </p:sp>
      <p:sp>
        <p:nvSpPr>
          <p:cNvPr id="5" name="TextBox 4"/>
          <p:cNvSpPr txBox="1"/>
          <p:nvPr/>
        </p:nvSpPr>
        <p:spPr>
          <a:xfrm>
            <a:off x="684000" y="792000"/>
            <a:ext cx="9324000" cy="432000"/>
          </a:xfrm>
          <a:prstGeom prst="rect">
            <a:avLst/>
          </a:prstGeom>
          <a:noFill/>
        </p:spPr>
        <p:txBody>
          <a:bodyPr wrap="square" anchor="t" lIns="0" rIns="0" tIns="0" bIns="0">
            <a:spAutoFit/>
          </a:bodyPr>
          <a:lstStyle/>
          <a:p>
            <a:pPr algn="l">
              <a:lnSpc>
                <a:spcPct val="120000"/>
              </a:lnSpc>
            </a:pPr>
            <a:r>
              <a:rPr sz="2200" b="1">
                <a:solidFill>
                  <a:srgbClr val="1A1D29"/>
                </a:solidFill>
                <a:latin typeface="Garamond"/>
                <a:ea typeface="游明朝"/>
              </a:rPr>
              <a:t>情報の取り扱い・ご契約について。</a:t>
            </a:r>
          </a:p>
        </p:txBody>
      </p:sp>
      <p:sp>
        <p:nvSpPr>
          <p:cNvPr id="6" name="Rectangle 5"/>
          <p:cNvSpPr/>
          <p:nvPr/>
        </p:nvSpPr>
        <p:spPr>
          <a:xfrm>
            <a:off x="684000" y="1296000"/>
            <a:ext cx="504000" cy="252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684000" y="1656000"/>
            <a:ext cx="4554000" cy="1728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00000" y="1836000"/>
            <a:ext cx="4122000" cy="1368000"/>
          </a:xfrm>
          <a:prstGeom prst="rect">
            <a:avLst/>
          </a:prstGeom>
          <a:noFill/>
        </p:spPr>
        <p:txBody>
          <a:bodyPr wrap="square" anchor="t" lIns="0" rIns="0" tIns="0" bIns="0">
            <a:spAutoFit/>
          </a:bodyPr>
          <a:lstStyle/>
          <a:p>
            <a:pPr algn="l">
              <a:lnSpc>
                <a:spcPct val="125000"/>
              </a:lnSpc>
              <a:spcAft>
                <a:spcPts val="250"/>
              </a:spcAft>
            </a:pPr>
            <a:r>
              <a:rPr sz="950" b="1">
                <a:solidFill>
                  <a:srgbClr val="7A6030"/>
                </a:solidFill>
                <a:latin typeface="Garamond"/>
                <a:ea typeface="游明朝"/>
              </a:rPr>
              <a:t>Q. </a:t>
            </a:r>
            <a:r>
              <a:rPr sz="950" b="1">
                <a:solidFill>
                  <a:srgbClr val="1A1D29"/>
                </a:solidFill>
                <a:latin typeface="Garamond"/>
                <a:ea typeface="游明朝"/>
              </a:rPr>
              <a:t>MarkGateの法的な位置づけは？</a:t>
            </a:r>
          </a:p>
          <a:p>
            <a:pPr algn="l">
              <a:lnSpc>
                <a:spcPct val="135000"/>
              </a:lnSpc>
            </a:pPr>
            <a:r>
              <a:rPr sz="800" b="0">
                <a:solidFill>
                  <a:srgbClr val="5F6672"/>
                </a:solidFill>
                <a:latin typeface="Garamond"/>
                <a:ea typeface="游明朝"/>
              </a:rPr>
              <a:t>A. </a:t>
            </a:r>
            <a:r>
              <a:rPr sz="800" b="0">
                <a:solidFill>
                  <a:srgbClr val="3A3F4D"/>
                </a:solidFill>
                <a:latin typeface="Yu Gothic"/>
                <a:ea typeface="游ゴシック"/>
              </a:rPr>
              <a:t>求職者と貴社アドバイザーの接点を提供するプラットフォームです。職業紹介（あっせん）および企業への紹介は、許可を保有する貴社の紹介事業として実施いただきます。当社も有料職業紹介事業許可の取得を申請準備中です。</a:t>
            </a:r>
          </a:p>
        </p:txBody>
      </p:sp>
      <p:sp>
        <p:nvSpPr>
          <p:cNvPr id="9" name="Rectangle 8"/>
          <p:cNvSpPr/>
          <p:nvPr/>
        </p:nvSpPr>
        <p:spPr>
          <a:xfrm>
            <a:off x="5454000" y="1656000"/>
            <a:ext cx="4554000" cy="1728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670000" y="1836000"/>
            <a:ext cx="4122000" cy="1368000"/>
          </a:xfrm>
          <a:prstGeom prst="rect">
            <a:avLst/>
          </a:prstGeom>
          <a:noFill/>
        </p:spPr>
        <p:txBody>
          <a:bodyPr wrap="square" anchor="t" lIns="0" rIns="0" tIns="0" bIns="0">
            <a:spAutoFit/>
          </a:bodyPr>
          <a:lstStyle/>
          <a:p>
            <a:pPr algn="l">
              <a:lnSpc>
                <a:spcPct val="125000"/>
              </a:lnSpc>
              <a:spcAft>
                <a:spcPts val="250"/>
              </a:spcAft>
            </a:pPr>
            <a:r>
              <a:rPr sz="950" b="1">
                <a:solidFill>
                  <a:srgbClr val="7A6030"/>
                </a:solidFill>
                <a:latin typeface="Garamond"/>
                <a:ea typeface="游明朝"/>
              </a:rPr>
              <a:t>Q. </a:t>
            </a:r>
            <a:r>
              <a:rPr sz="950" b="1">
                <a:solidFill>
                  <a:srgbClr val="1A1D29"/>
                </a:solidFill>
                <a:latin typeface="Garamond"/>
                <a:ea typeface="游明朝"/>
              </a:rPr>
              <a:t>成約情報や求職者情報はどのように扱われますか？</a:t>
            </a:r>
          </a:p>
          <a:p>
            <a:pPr algn="l">
              <a:lnSpc>
                <a:spcPct val="135000"/>
              </a:lnSpc>
            </a:pPr>
            <a:r>
              <a:rPr sz="800" b="0">
                <a:solidFill>
                  <a:srgbClr val="5F6672"/>
                </a:solidFill>
                <a:latin typeface="Garamond"/>
                <a:ea typeface="游明朝"/>
              </a:rPr>
              <a:t>A. </a:t>
            </a:r>
            <a:r>
              <a:rPr sz="800" b="0">
                <a:solidFill>
                  <a:srgbClr val="3A3F4D"/>
                </a:solidFill>
                <a:latin typeface="Yu Gothic"/>
                <a:ea typeface="游ゴシック"/>
              </a:rPr>
              <a:t>貴社の成約情報・求職者情報は、運営上必要な目的に限定して利用し、他のエージェント様への開示や競合比較への流用は行わない方針です。ご契約時に秘密保持条項を含む書面を締結します。</a:t>
            </a:r>
          </a:p>
        </p:txBody>
      </p:sp>
      <p:sp>
        <p:nvSpPr>
          <p:cNvPr id="11" name="Rectangle 10"/>
          <p:cNvSpPr/>
          <p:nvPr/>
        </p:nvSpPr>
        <p:spPr>
          <a:xfrm>
            <a:off x="684000" y="3600000"/>
            <a:ext cx="4554000" cy="1728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00000" y="3780000"/>
            <a:ext cx="4122000" cy="1368000"/>
          </a:xfrm>
          <a:prstGeom prst="rect">
            <a:avLst/>
          </a:prstGeom>
          <a:noFill/>
        </p:spPr>
        <p:txBody>
          <a:bodyPr wrap="square" anchor="t" lIns="0" rIns="0" tIns="0" bIns="0">
            <a:spAutoFit/>
          </a:bodyPr>
          <a:lstStyle/>
          <a:p>
            <a:pPr algn="l">
              <a:lnSpc>
                <a:spcPct val="125000"/>
              </a:lnSpc>
              <a:spcAft>
                <a:spcPts val="250"/>
              </a:spcAft>
            </a:pPr>
            <a:r>
              <a:rPr sz="950" b="1">
                <a:solidFill>
                  <a:srgbClr val="7A6030"/>
                </a:solidFill>
                <a:latin typeface="Garamond"/>
                <a:ea typeface="游明朝"/>
              </a:rPr>
              <a:t>Q. </a:t>
            </a:r>
            <a:r>
              <a:rPr sz="950" b="1">
                <a:solidFill>
                  <a:srgbClr val="1A1D29"/>
                </a:solidFill>
                <a:latin typeface="Garamond"/>
                <a:ea typeface="游明朝"/>
              </a:rPr>
              <a:t>掲載によって引き抜きリスクは高まりませんか？</a:t>
            </a:r>
          </a:p>
          <a:p>
            <a:pPr algn="l">
              <a:lnSpc>
                <a:spcPct val="135000"/>
              </a:lnSpc>
            </a:pPr>
            <a:r>
              <a:rPr sz="800" b="0">
                <a:solidFill>
                  <a:srgbClr val="5F6672"/>
                </a:solidFill>
                <a:latin typeface="Garamond"/>
                <a:ea typeface="游明朝"/>
              </a:rPr>
              <a:t>A. </a:t>
            </a:r>
            <a:r>
              <a:rPr sz="800" b="0">
                <a:solidFill>
                  <a:srgbClr val="3A3F4D"/>
                </a:solidFill>
                <a:latin typeface="Yu Gothic"/>
                <a:ea typeface="游ゴシック"/>
              </a:rPr>
              <a:t>個人の直接連絡先は公開せず、指名はプラットフォームを経由する設計方針です。氏名・写真の掲載粒度も選択いただける想定です。確定済みの仕様・条件は、ご契約前にご説明します。</a:t>
            </a:r>
          </a:p>
        </p:txBody>
      </p:sp>
      <p:sp>
        <p:nvSpPr>
          <p:cNvPr id="13" name="Rectangle 12"/>
          <p:cNvSpPr/>
          <p:nvPr/>
        </p:nvSpPr>
        <p:spPr>
          <a:xfrm>
            <a:off x="5454000" y="3600000"/>
            <a:ext cx="4554000" cy="1728000"/>
          </a:xfrm>
          <a:prstGeom prst="rect">
            <a:avLst/>
          </a:prstGeom>
          <a:solidFill>
            <a:srgbClr val="FFFFFF"/>
          </a:solidFill>
          <a:ln w="6350">
            <a:solidFill>
              <a:srgbClr val="D9D9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670000" y="3780000"/>
            <a:ext cx="4122000" cy="1368000"/>
          </a:xfrm>
          <a:prstGeom prst="rect">
            <a:avLst/>
          </a:prstGeom>
          <a:noFill/>
        </p:spPr>
        <p:txBody>
          <a:bodyPr wrap="square" anchor="t" lIns="0" rIns="0" tIns="0" bIns="0">
            <a:spAutoFit/>
          </a:bodyPr>
          <a:lstStyle/>
          <a:p>
            <a:pPr algn="l">
              <a:lnSpc>
                <a:spcPct val="125000"/>
              </a:lnSpc>
              <a:spcAft>
                <a:spcPts val="250"/>
              </a:spcAft>
            </a:pPr>
            <a:r>
              <a:rPr sz="950" b="1">
                <a:solidFill>
                  <a:srgbClr val="7A6030"/>
                </a:solidFill>
                <a:latin typeface="Garamond"/>
                <a:ea typeface="游明朝"/>
              </a:rPr>
              <a:t>Q. </a:t>
            </a:r>
            <a:r>
              <a:rPr sz="950" b="1">
                <a:solidFill>
                  <a:srgbClr val="1A1D29"/>
                </a:solidFill>
                <a:latin typeface="Garamond"/>
                <a:ea typeface="游明朝"/>
              </a:rPr>
              <a:t>アドバイザーが退職・異動した場合は？</a:t>
            </a:r>
          </a:p>
          <a:p>
            <a:pPr algn="l">
              <a:lnSpc>
                <a:spcPct val="135000"/>
              </a:lnSpc>
            </a:pPr>
            <a:r>
              <a:rPr sz="800" b="0">
                <a:solidFill>
                  <a:srgbClr val="5F6672"/>
                </a:solidFill>
                <a:latin typeface="Garamond"/>
                <a:ea typeface="游明朝"/>
              </a:rPr>
              <a:t>A. </a:t>
            </a:r>
            <a:r>
              <a:rPr sz="800" b="0">
                <a:solidFill>
                  <a:srgbClr val="3A3F4D"/>
                </a:solidFill>
                <a:latin typeface="Yu Gothic"/>
                <a:ea typeface="游ゴシック"/>
              </a:rPr>
              <a:t>掲載は貴社とのご契約に紐づく設計です。退職・異動の際は掲載停止・所属情報の変更に対応し、プロフィールや指名履歴が個人アカウントとして他社へ引き継がれることはありません（詳細条件は契約書面にて確定します）。</a:t>
            </a:r>
          </a:p>
        </p:txBody>
      </p:sp>
      <p:sp>
        <p:nvSpPr>
          <p:cNvPr id="15" name="TextBox 14"/>
          <p:cNvSpPr txBox="1"/>
          <p:nvPr/>
        </p:nvSpPr>
        <p:spPr>
          <a:xfrm>
            <a:off x="684000" y="5616000"/>
            <a:ext cx="9324000" cy="216000"/>
          </a:xfrm>
          <a:prstGeom prst="rect">
            <a:avLst/>
          </a:prstGeom>
          <a:noFill/>
        </p:spPr>
        <p:txBody>
          <a:bodyPr wrap="square" anchor="t" lIns="0" rIns="0" tIns="0" bIns="0">
            <a:spAutoFit/>
          </a:bodyPr>
          <a:lstStyle/>
          <a:p>
            <a:pPr algn="l">
              <a:lnSpc>
                <a:spcPct val="125000"/>
              </a:lnSpc>
            </a:pPr>
            <a:r>
              <a:rPr sz="750" b="0">
                <a:solidFill>
                  <a:srgbClr val="5F6672"/>
                </a:solidFill>
                <a:latin typeface="Yu Gothic"/>
                <a:ea typeface="游ゴシック"/>
              </a:rPr>
              <a:t>※ 本ページの記載は現時点の設計方針です。確定した仕様・契約条件は、ご契約前に書面にてご案内します。</a:t>
            </a:r>
          </a:p>
        </p:txBody>
      </p:sp>
      <p:sp>
        <p:nvSpPr>
          <p:cNvPr id="16" name="TextBox 15"/>
          <p:cNvSpPr txBox="1"/>
          <p:nvPr/>
        </p:nvSpPr>
        <p:spPr>
          <a:xfrm>
            <a:off x="684000" y="7182000"/>
            <a:ext cx="7200000" cy="216000"/>
          </a:xfrm>
          <a:prstGeom prst="rect">
            <a:avLst/>
          </a:prstGeom>
          <a:noFill/>
        </p:spPr>
        <p:txBody>
          <a:bodyPr wrap="square" anchor="t" lIns="0" rIns="0" tIns="0" bIns="0">
            <a:spAutoFit/>
          </a:bodyPr>
          <a:lstStyle/>
          <a:p>
            <a:pPr algn="l">
              <a:lnSpc>
                <a:spcPct val="125000"/>
              </a:lnSpc>
            </a:pPr>
            <a:r>
              <a:rPr sz="900" b="1">
                <a:solidFill>
                  <a:srgbClr val="7A6030"/>
                </a:solidFill>
                <a:latin typeface="Garamond"/>
                <a:ea typeface="游明朝"/>
              </a:rPr>
              <a:t>MarkGate</a:t>
            </a:r>
            <a:r>
              <a:rPr sz="700" b="0">
                <a:solidFill>
                  <a:srgbClr val="5F6672"/>
                </a:solidFill>
                <a:latin typeface="Yu Gothic"/>
                <a:ea typeface="游ゴシック"/>
              </a:rPr>
              <a:t>　人材紹介エージェント様向けご提案資料</a:t>
            </a:r>
          </a:p>
        </p:txBody>
      </p:sp>
      <p:sp>
        <p:nvSpPr>
          <p:cNvPr id="17" name="TextBox 16"/>
          <p:cNvSpPr txBox="1"/>
          <p:nvPr/>
        </p:nvSpPr>
        <p:spPr>
          <a:xfrm>
            <a:off x="9000000" y="7182000"/>
            <a:ext cx="1008000" cy="216000"/>
          </a:xfrm>
          <a:prstGeom prst="rect">
            <a:avLst/>
          </a:prstGeom>
          <a:noFill/>
        </p:spPr>
        <p:txBody>
          <a:bodyPr wrap="square" anchor="t" lIns="0" rIns="0" tIns="0" bIns="0">
            <a:spAutoFit/>
          </a:bodyPr>
          <a:lstStyle/>
          <a:p>
            <a:pPr algn="r">
              <a:lnSpc>
                <a:spcPct val="125000"/>
              </a:lnSpc>
            </a:pPr>
            <a:r>
              <a:rPr sz="900" b="0" spc="100">
                <a:solidFill>
                  <a:srgbClr val="5F6672"/>
                </a:solidFill>
                <a:latin typeface="Garamond"/>
                <a:ea typeface="游明朝"/>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692000" cy="7560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64000" y="1512000"/>
            <a:ext cx="4320000" cy="216000"/>
          </a:xfrm>
          <a:prstGeom prst="rect">
            <a:avLst/>
          </a:prstGeom>
          <a:noFill/>
        </p:spPr>
        <p:txBody>
          <a:bodyPr wrap="square" anchor="t" lIns="0" rIns="0" tIns="0" bIns="0">
            <a:spAutoFit/>
          </a:bodyPr>
          <a:lstStyle/>
          <a:p>
            <a:pPr algn="l">
              <a:lnSpc>
                <a:spcPct val="125000"/>
              </a:lnSpc>
            </a:pPr>
            <a:r>
              <a:rPr sz="850" b="0" spc="300">
                <a:solidFill>
                  <a:srgbClr val="E2C88A"/>
                </a:solidFill>
                <a:latin typeface="Yu Gothic"/>
                <a:ea typeface="游ゴシック"/>
              </a:rPr>
              <a:t>CONTACT</a:t>
            </a:r>
          </a:p>
        </p:txBody>
      </p:sp>
      <p:sp>
        <p:nvSpPr>
          <p:cNvPr id="4" name="TextBox 3"/>
          <p:cNvSpPr txBox="1"/>
          <p:nvPr/>
        </p:nvSpPr>
        <p:spPr>
          <a:xfrm>
            <a:off x="864000" y="1872000"/>
            <a:ext cx="4680000" cy="1152000"/>
          </a:xfrm>
          <a:prstGeom prst="rect">
            <a:avLst/>
          </a:prstGeom>
          <a:noFill/>
        </p:spPr>
        <p:txBody>
          <a:bodyPr wrap="square" anchor="t" lIns="0" rIns="0" tIns="0" bIns="0">
            <a:spAutoFit/>
          </a:bodyPr>
          <a:lstStyle/>
          <a:p>
            <a:pPr algn="l">
              <a:lnSpc>
                <a:spcPct val="130000"/>
              </a:lnSpc>
            </a:pPr>
            <a:r>
              <a:rPr sz="2500" b="1">
                <a:solidFill>
                  <a:srgbClr val="FFFFFF"/>
                </a:solidFill>
                <a:latin typeface="Garamond"/>
                <a:ea typeface="游明朝"/>
              </a:rPr>
              <a:t>まずは、貴社のエースを</a:t>
            </a:r>
          </a:p>
          <a:p>
            <a:pPr algn="l">
              <a:lnSpc>
                <a:spcPct val="130000"/>
              </a:lnSpc>
            </a:pPr>
            <a:r>
              <a:rPr sz="2500" b="1">
                <a:solidFill>
                  <a:srgbClr val="E2C88A"/>
                </a:solidFill>
                <a:latin typeface="Garamond"/>
                <a:ea typeface="游明朝"/>
              </a:rPr>
              <a:t>一名から。</a:t>
            </a:r>
          </a:p>
        </p:txBody>
      </p:sp>
      <p:sp>
        <p:nvSpPr>
          <p:cNvPr id="5" name="TextBox 4"/>
          <p:cNvSpPr txBox="1"/>
          <p:nvPr/>
        </p:nvSpPr>
        <p:spPr>
          <a:xfrm>
            <a:off x="864000" y="3240000"/>
            <a:ext cx="4608000" cy="1080000"/>
          </a:xfrm>
          <a:prstGeom prst="rect">
            <a:avLst/>
          </a:prstGeom>
          <a:noFill/>
        </p:spPr>
        <p:txBody>
          <a:bodyPr wrap="square" anchor="t" lIns="0" rIns="0" tIns="0" bIns="0">
            <a:spAutoFit/>
          </a:bodyPr>
          <a:lstStyle/>
          <a:p>
            <a:pPr algn="l">
              <a:lnSpc>
                <a:spcPct val="160000"/>
              </a:lnSpc>
            </a:pPr>
            <a:r>
              <a:rPr sz="950" b="0">
                <a:solidFill>
                  <a:srgbClr val="D5D9E2"/>
                </a:solidFill>
                <a:latin typeface="Yu Gothic"/>
                <a:ea typeface="游ゴシック"/>
              </a:rPr>
              <a:t>トップアドバイザーだけが、開ける扉。</a:t>
            </a:r>
          </a:p>
          <a:p>
            <a:pPr algn="l">
              <a:lnSpc>
                <a:spcPct val="160000"/>
              </a:lnSpc>
            </a:pPr>
            <a:r>
              <a:rPr sz="950" b="0">
                <a:solidFill>
                  <a:srgbClr val="D5D9E2"/>
                </a:solidFill>
                <a:latin typeface="Yu Gothic"/>
                <a:ea typeface="游ゴシック"/>
              </a:rPr>
              <a:t>その最初の一歩は、無料の登録申請と審査から。</a:t>
            </a:r>
          </a:p>
          <a:p>
            <a:pPr algn="l">
              <a:lnSpc>
                <a:spcPct val="160000"/>
              </a:lnSpc>
            </a:pPr>
            <a:r>
              <a:rPr sz="950" b="0">
                <a:solidFill>
                  <a:srgbClr val="D5D9E2"/>
                </a:solidFill>
                <a:latin typeface="Yu Gothic"/>
                <a:ea typeface="游ゴシック"/>
              </a:rPr>
              <a:t>いまなら開始キャンペーンにより、1年目の月額費用も無料です。</a:t>
            </a:r>
          </a:p>
          <a:p>
            <a:pPr algn="l">
              <a:lnSpc>
                <a:spcPct val="160000"/>
              </a:lnSpc>
            </a:pPr>
            <a:r>
              <a:rPr sz="950" b="0">
                <a:solidFill>
                  <a:srgbClr val="D5D9E2"/>
                </a:solidFill>
                <a:latin typeface="Yu Gothic"/>
                <a:ea typeface="游ゴシック"/>
              </a:rPr>
              <a:t>サービス詳細のご説明・デモのご案内も承ります。</a:t>
            </a:r>
          </a:p>
        </p:txBody>
      </p:sp>
      <p:sp>
        <p:nvSpPr>
          <p:cNvPr id="6" name="Rectangle 5"/>
          <p:cNvSpPr/>
          <p:nvPr/>
        </p:nvSpPr>
        <p:spPr>
          <a:xfrm>
            <a:off x="864000" y="4536000"/>
            <a:ext cx="2880000" cy="432000"/>
          </a:xfrm>
          <a:prstGeom prst="rect">
            <a:avLst/>
          </a:prstGeom>
          <a:solidFill>
            <a:srgbClr val="C6A1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64000" y="4651200"/>
            <a:ext cx="2880000" cy="216000"/>
          </a:xfrm>
          <a:prstGeom prst="rect">
            <a:avLst/>
          </a:prstGeom>
          <a:noFill/>
        </p:spPr>
        <p:txBody>
          <a:bodyPr wrap="square" anchor="t" lIns="0" rIns="0" tIns="0" bIns="0">
            <a:spAutoFit/>
          </a:bodyPr>
          <a:lstStyle/>
          <a:p>
            <a:pPr algn="ctr">
              <a:lnSpc>
                <a:spcPct val="125000"/>
              </a:lnSpc>
            </a:pPr>
            <a:r>
              <a:rPr sz="950" b="1" spc="100">
                <a:solidFill>
                  <a:srgbClr val="0A0E1A"/>
                </a:solidFill>
                <a:latin typeface="Yu Gothic"/>
                <a:ea typeface="游ゴシック"/>
              </a:rPr>
              <a:t>お問い合わせ・登録申請はこちら</a:t>
            </a:r>
          </a:p>
        </p:txBody>
      </p:sp>
      <p:sp>
        <p:nvSpPr>
          <p:cNvPr id="8" name="TextBox 7"/>
          <p:cNvSpPr txBox="1"/>
          <p:nvPr/>
        </p:nvSpPr>
        <p:spPr>
          <a:xfrm>
            <a:off x="864000" y="5076000"/>
            <a:ext cx="4680000" cy="576000"/>
          </a:xfrm>
          <a:prstGeom prst="rect">
            <a:avLst/>
          </a:prstGeom>
          <a:noFill/>
        </p:spPr>
        <p:txBody>
          <a:bodyPr wrap="square" anchor="t" lIns="0" rIns="0" tIns="0" bIns="0">
            <a:spAutoFit/>
          </a:bodyPr>
          <a:lstStyle/>
          <a:p>
            <a:pPr algn="l">
              <a:lnSpc>
                <a:spcPct val="150000"/>
              </a:lnSpc>
            </a:pPr>
            <a:r>
              <a:rPr sz="750" b="0">
                <a:solidFill>
                  <a:srgbClr val="8E96A8"/>
                </a:solidFill>
                <a:latin typeface="Yu Gothic"/>
                <a:ea typeface="游ゴシック"/>
              </a:rPr>
              <a:t>コーポレートサイトのお問い合わせフォームより「アドバイザー登録を申請したい」または「提携・協業について」をご選択ください。</a:t>
            </a:r>
          </a:p>
          <a:p>
            <a:pPr algn="l">
              <a:lnSpc>
                <a:spcPct val="150000"/>
              </a:lnSpc>
            </a:pPr>
            <a:r>
              <a:rPr sz="750" b="0">
                <a:solidFill>
                  <a:srgbClr val="8E96A8"/>
                </a:solidFill>
                <a:latin typeface="Yu Gothic"/>
                <a:ea typeface="游ゴシック"/>
              </a:rPr>
              <a:t>（サイトURLは確定後、本資料および配布用PDFに記載します）</a:t>
            </a:r>
          </a:p>
        </p:txBody>
      </p:sp>
      <p:sp>
        <p:nvSpPr>
          <p:cNvPr id="9" name="TextBox 8"/>
          <p:cNvSpPr txBox="1"/>
          <p:nvPr/>
        </p:nvSpPr>
        <p:spPr>
          <a:xfrm>
            <a:off x="5868000" y="2088000"/>
            <a:ext cx="1008000" cy="360000"/>
          </a:xfrm>
          <a:prstGeom prst="rect">
            <a:avLst/>
          </a:prstGeom>
          <a:noFill/>
        </p:spPr>
        <p:txBody>
          <a:bodyPr wrap="square" anchor="t" lIns="0" rIns="0" tIns="0" bIns="0">
            <a:spAutoFit/>
          </a:bodyPr>
          <a:lstStyle/>
          <a:p>
            <a:pPr algn="l">
              <a:lnSpc>
                <a:spcPct val="125000"/>
              </a:lnSpc>
            </a:pPr>
            <a:r>
              <a:rPr sz="850" b="0" spc="100">
                <a:solidFill>
                  <a:srgbClr val="E2C88A"/>
                </a:solidFill>
                <a:latin typeface="Yu Gothic"/>
                <a:ea typeface="游ゴシック"/>
              </a:rPr>
              <a:t>会社名</a:t>
            </a:r>
          </a:p>
        </p:txBody>
      </p:sp>
      <p:sp>
        <p:nvSpPr>
          <p:cNvPr id="10" name="TextBox 9"/>
          <p:cNvSpPr txBox="1"/>
          <p:nvPr/>
        </p:nvSpPr>
        <p:spPr>
          <a:xfrm>
            <a:off x="7020000" y="2088000"/>
            <a:ext cx="2952000" cy="432000"/>
          </a:xfrm>
          <a:prstGeom prst="rect">
            <a:avLst/>
          </a:prstGeom>
          <a:noFill/>
        </p:spPr>
        <p:txBody>
          <a:bodyPr wrap="square" anchor="t" lIns="0" rIns="0" tIns="0" bIns="0">
            <a:spAutoFit/>
          </a:bodyPr>
          <a:lstStyle/>
          <a:p>
            <a:pPr algn="l">
              <a:lnSpc>
                <a:spcPct val="140000"/>
              </a:lnSpc>
            </a:pPr>
            <a:r>
              <a:rPr sz="850" b="0">
                <a:solidFill>
                  <a:srgbClr val="DADDE4"/>
                </a:solidFill>
                <a:latin typeface="Yu Gothic"/>
                <a:ea typeface="游ゴシック"/>
              </a:rPr>
              <a:t>MarkGate株式会社（マークゲート）</a:t>
            </a:r>
          </a:p>
        </p:txBody>
      </p:sp>
      <p:sp>
        <p:nvSpPr>
          <p:cNvPr id="11" name="Rectangle 10"/>
          <p:cNvSpPr/>
          <p:nvPr/>
        </p:nvSpPr>
        <p:spPr>
          <a:xfrm>
            <a:off x="5868000" y="2430000"/>
            <a:ext cx="4104000" cy="10800"/>
          </a:xfrm>
          <a:prstGeom prst="rect">
            <a:avLst/>
          </a:prstGeom>
          <a:solidFill>
            <a:srgbClr val="5349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868000" y="2556000"/>
            <a:ext cx="1008000" cy="360000"/>
          </a:xfrm>
          <a:prstGeom prst="rect">
            <a:avLst/>
          </a:prstGeom>
          <a:noFill/>
        </p:spPr>
        <p:txBody>
          <a:bodyPr wrap="square" anchor="t" lIns="0" rIns="0" tIns="0" bIns="0">
            <a:spAutoFit/>
          </a:bodyPr>
          <a:lstStyle/>
          <a:p>
            <a:pPr algn="l">
              <a:lnSpc>
                <a:spcPct val="125000"/>
              </a:lnSpc>
            </a:pPr>
            <a:r>
              <a:rPr sz="850" b="0" spc="100">
                <a:solidFill>
                  <a:srgbClr val="E2C88A"/>
                </a:solidFill>
                <a:latin typeface="Yu Gothic"/>
                <a:ea typeface="游ゴシック"/>
              </a:rPr>
              <a:t>設立</a:t>
            </a:r>
          </a:p>
        </p:txBody>
      </p:sp>
      <p:sp>
        <p:nvSpPr>
          <p:cNvPr id="13" name="TextBox 12"/>
          <p:cNvSpPr txBox="1"/>
          <p:nvPr/>
        </p:nvSpPr>
        <p:spPr>
          <a:xfrm>
            <a:off x="7020000" y="2556000"/>
            <a:ext cx="2952000" cy="432000"/>
          </a:xfrm>
          <a:prstGeom prst="rect">
            <a:avLst/>
          </a:prstGeom>
          <a:noFill/>
        </p:spPr>
        <p:txBody>
          <a:bodyPr wrap="square" anchor="t" lIns="0" rIns="0" tIns="0" bIns="0">
            <a:spAutoFit/>
          </a:bodyPr>
          <a:lstStyle/>
          <a:p>
            <a:pPr algn="l">
              <a:lnSpc>
                <a:spcPct val="140000"/>
              </a:lnSpc>
            </a:pPr>
            <a:r>
              <a:rPr sz="850" b="0">
                <a:solidFill>
                  <a:srgbClr val="DADDE4"/>
                </a:solidFill>
                <a:latin typeface="Yu Gothic"/>
                <a:ea typeface="游ゴシック"/>
              </a:rPr>
              <a:t>2026年7月13日</a:t>
            </a:r>
          </a:p>
        </p:txBody>
      </p:sp>
      <p:sp>
        <p:nvSpPr>
          <p:cNvPr id="14" name="Rectangle 13"/>
          <p:cNvSpPr/>
          <p:nvPr/>
        </p:nvSpPr>
        <p:spPr>
          <a:xfrm>
            <a:off x="5868000" y="2898000"/>
            <a:ext cx="4104000" cy="10800"/>
          </a:xfrm>
          <a:prstGeom prst="rect">
            <a:avLst/>
          </a:prstGeom>
          <a:solidFill>
            <a:srgbClr val="5349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868000" y="3024000"/>
            <a:ext cx="1008000" cy="360000"/>
          </a:xfrm>
          <a:prstGeom prst="rect">
            <a:avLst/>
          </a:prstGeom>
          <a:noFill/>
        </p:spPr>
        <p:txBody>
          <a:bodyPr wrap="square" anchor="t" lIns="0" rIns="0" tIns="0" bIns="0">
            <a:spAutoFit/>
          </a:bodyPr>
          <a:lstStyle/>
          <a:p>
            <a:pPr algn="l">
              <a:lnSpc>
                <a:spcPct val="125000"/>
              </a:lnSpc>
            </a:pPr>
            <a:r>
              <a:rPr sz="850" b="0" spc="100">
                <a:solidFill>
                  <a:srgbClr val="E2C88A"/>
                </a:solidFill>
                <a:latin typeface="Yu Gothic"/>
                <a:ea typeface="游ゴシック"/>
              </a:rPr>
              <a:t>代表取締役</a:t>
            </a:r>
          </a:p>
        </p:txBody>
      </p:sp>
      <p:sp>
        <p:nvSpPr>
          <p:cNvPr id="16" name="TextBox 15"/>
          <p:cNvSpPr txBox="1"/>
          <p:nvPr/>
        </p:nvSpPr>
        <p:spPr>
          <a:xfrm>
            <a:off x="7020000" y="3024000"/>
            <a:ext cx="2952000" cy="432000"/>
          </a:xfrm>
          <a:prstGeom prst="rect">
            <a:avLst/>
          </a:prstGeom>
          <a:noFill/>
        </p:spPr>
        <p:txBody>
          <a:bodyPr wrap="square" anchor="t" lIns="0" rIns="0" tIns="0" bIns="0">
            <a:spAutoFit/>
          </a:bodyPr>
          <a:lstStyle/>
          <a:p>
            <a:pPr algn="l">
              <a:lnSpc>
                <a:spcPct val="140000"/>
              </a:lnSpc>
            </a:pPr>
            <a:r>
              <a:rPr sz="850" b="0">
                <a:solidFill>
                  <a:srgbClr val="DADDE4"/>
                </a:solidFill>
                <a:latin typeface="Yu Gothic"/>
                <a:ea typeface="游ゴシック"/>
              </a:rPr>
              <a:t>山本 朋鑑</a:t>
            </a:r>
          </a:p>
        </p:txBody>
      </p:sp>
      <p:sp>
        <p:nvSpPr>
          <p:cNvPr id="17" name="Rectangle 16"/>
          <p:cNvSpPr/>
          <p:nvPr/>
        </p:nvSpPr>
        <p:spPr>
          <a:xfrm>
            <a:off x="5868000" y="3366000"/>
            <a:ext cx="4104000" cy="10800"/>
          </a:xfrm>
          <a:prstGeom prst="rect">
            <a:avLst/>
          </a:prstGeom>
          <a:solidFill>
            <a:srgbClr val="5349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868000" y="3492000"/>
            <a:ext cx="1008000" cy="360000"/>
          </a:xfrm>
          <a:prstGeom prst="rect">
            <a:avLst/>
          </a:prstGeom>
          <a:noFill/>
        </p:spPr>
        <p:txBody>
          <a:bodyPr wrap="square" anchor="t" lIns="0" rIns="0" tIns="0" bIns="0">
            <a:spAutoFit/>
          </a:bodyPr>
          <a:lstStyle/>
          <a:p>
            <a:pPr algn="l">
              <a:lnSpc>
                <a:spcPct val="125000"/>
              </a:lnSpc>
            </a:pPr>
            <a:r>
              <a:rPr sz="850" b="0" spc="100">
                <a:solidFill>
                  <a:srgbClr val="E2C88A"/>
                </a:solidFill>
                <a:latin typeface="Yu Gothic"/>
                <a:ea typeface="游ゴシック"/>
              </a:rPr>
              <a:t>お問い合わせ</a:t>
            </a:r>
          </a:p>
        </p:txBody>
      </p:sp>
      <p:sp>
        <p:nvSpPr>
          <p:cNvPr id="19" name="TextBox 18"/>
          <p:cNvSpPr txBox="1"/>
          <p:nvPr/>
        </p:nvSpPr>
        <p:spPr>
          <a:xfrm>
            <a:off x="7020000" y="3492000"/>
            <a:ext cx="2952000" cy="432000"/>
          </a:xfrm>
          <a:prstGeom prst="rect">
            <a:avLst/>
          </a:prstGeom>
          <a:noFill/>
        </p:spPr>
        <p:txBody>
          <a:bodyPr wrap="square" anchor="t" lIns="0" rIns="0" tIns="0" bIns="0">
            <a:spAutoFit/>
          </a:bodyPr>
          <a:lstStyle/>
          <a:p>
            <a:pPr algn="l">
              <a:lnSpc>
                <a:spcPct val="140000"/>
              </a:lnSpc>
            </a:pPr>
            <a:r>
              <a:rPr sz="850" b="0">
                <a:solidFill>
                  <a:srgbClr val="DADDE4"/>
                </a:solidFill>
                <a:latin typeface="Yu Gothic"/>
                <a:ea typeface="游ゴシック"/>
              </a:rPr>
              <a:t>コーポレートサイト お問い合わせフォームまで（URLは確定後に記載）</a:t>
            </a:r>
          </a:p>
        </p:txBody>
      </p:sp>
      <p:sp>
        <p:nvSpPr>
          <p:cNvPr id="20" name="Rectangle 19"/>
          <p:cNvSpPr/>
          <p:nvPr/>
        </p:nvSpPr>
        <p:spPr>
          <a:xfrm>
            <a:off x="5868000" y="3978000"/>
            <a:ext cx="4104000" cy="10800"/>
          </a:xfrm>
          <a:prstGeom prst="rect">
            <a:avLst/>
          </a:prstGeom>
          <a:solidFill>
            <a:srgbClr val="5349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868000" y="4176000"/>
            <a:ext cx="4104000" cy="864000"/>
          </a:xfrm>
          <a:prstGeom prst="rect">
            <a:avLst/>
          </a:prstGeom>
          <a:noFill/>
        </p:spPr>
        <p:txBody>
          <a:bodyPr wrap="square" anchor="t" lIns="0" rIns="0" tIns="0" bIns="0">
            <a:spAutoFit/>
          </a:bodyPr>
          <a:lstStyle/>
          <a:p>
            <a:pPr algn="l">
              <a:lnSpc>
                <a:spcPct val="150000"/>
              </a:lnSpc>
            </a:pPr>
            <a:r>
              <a:rPr sz="700" b="0">
                <a:solidFill>
                  <a:srgbClr val="8E96A8"/>
                </a:solidFill>
                <a:latin typeface="Yu Gothic"/>
                <a:ea typeface="游ゴシック"/>
              </a:rPr>
              <a:t>※ 所在地・資本金などの詳細は、確定後に掲載いたします。</a:t>
            </a:r>
          </a:p>
          <a:p>
            <a:pPr algn="l">
              <a:lnSpc>
                <a:spcPct val="150000"/>
              </a:lnSpc>
            </a:pPr>
            <a:r>
              <a:rPr sz="700" b="0">
                <a:solidFill>
                  <a:srgbClr val="8E96A8"/>
                </a:solidFill>
                <a:latin typeface="Yu Gothic"/>
                <a:ea typeface="游ゴシック"/>
              </a:rPr>
              <a:t>※ 本資料の内容は2026年7月時点のものであり、予告なく変更される場合があります。</a:t>
            </a:r>
          </a:p>
          <a:p>
            <a:pPr algn="l">
              <a:lnSpc>
                <a:spcPct val="150000"/>
              </a:lnSpc>
            </a:pPr>
            <a:r>
              <a:rPr sz="700" b="0">
                <a:solidFill>
                  <a:srgbClr val="8E96A8"/>
                </a:solidFill>
                <a:latin typeface="Yu Gothic"/>
                <a:ea typeface="游ゴシック"/>
              </a:rPr>
              <a:t>※ 効果に関する記述はサービス設計に基づく想定であり、成果を保証するものではありません。</a:t>
            </a:r>
          </a:p>
        </p:txBody>
      </p:sp>
      <p:sp>
        <p:nvSpPr>
          <p:cNvPr id="22" name="TextBox 21"/>
          <p:cNvSpPr txBox="1"/>
          <p:nvPr/>
        </p:nvSpPr>
        <p:spPr>
          <a:xfrm>
            <a:off x="684000" y="7182000"/>
            <a:ext cx="7200000" cy="216000"/>
          </a:xfrm>
          <a:prstGeom prst="rect">
            <a:avLst/>
          </a:prstGeom>
          <a:noFill/>
        </p:spPr>
        <p:txBody>
          <a:bodyPr wrap="square" anchor="t" lIns="0" rIns="0" tIns="0" bIns="0">
            <a:spAutoFit/>
          </a:bodyPr>
          <a:lstStyle/>
          <a:p>
            <a:pPr algn="l">
              <a:lnSpc>
                <a:spcPct val="125000"/>
              </a:lnSpc>
            </a:pPr>
            <a:r>
              <a:rPr sz="900" b="1">
                <a:solidFill>
                  <a:srgbClr val="E2C88A"/>
                </a:solidFill>
                <a:latin typeface="Garamond"/>
                <a:ea typeface="游明朝"/>
              </a:rPr>
              <a:t>MarkGate</a:t>
            </a:r>
            <a:r>
              <a:rPr sz="700" b="0">
                <a:solidFill>
                  <a:srgbClr val="8E96A8"/>
                </a:solidFill>
                <a:latin typeface="Yu Gothic"/>
                <a:ea typeface="游ゴシック"/>
              </a:rPr>
              <a:t>　人材紹介エージェント様向けご提案資料</a:t>
            </a:r>
          </a:p>
        </p:txBody>
      </p:sp>
      <p:sp>
        <p:nvSpPr>
          <p:cNvPr id="23" name="TextBox 22"/>
          <p:cNvSpPr txBox="1"/>
          <p:nvPr/>
        </p:nvSpPr>
        <p:spPr>
          <a:xfrm>
            <a:off x="9000000" y="7182000"/>
            <a:ext cx="1008000" cy="216000"/>
          </a:xfrm>
          <a:prstGeom prst="rect">
            <a:avLst/>
          </a:prstGeom>
          <a:noFill/>
        </p:spPr>
        <p:txBody>
          <a:bodyPr wrap="square" anchor="t" lIns="0" rIns="0" tIns="0" bIns="0">
            <a:spAutoFit/>
          </a:bodyPr>
          <a:lstStyle/>
          <a:p>
            <a:pPr algn="r">
              <a:lnSpc>
                <a:spcPct val="125000"/>
              </a:lnSpc>
            </a:pPr>
            <a:r>
              <a:rPr sz="900" b="0" spc="100">
                <a:solidFill>
                  <a:srgbClr val="8E96A8"/>
                </a:solidFill>
                <a:latin typeface="Garamond"/>
                <a:ea typeface="游明朝"/>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