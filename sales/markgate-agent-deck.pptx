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96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8000" y="540000"/>
            <a:ext cx="10713600" cy="12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8000" y="6012000"/>
            <a:ext cx="10713600" cy="12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440000"/>
            <a:ext cx="90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60" b="0" i="0" spc="400">
                <a:solidFill>
                  <a:srgbClr val="D8C08C"/>
                </a:solidFill>
                <a:latin typeface="Yu Gothic"/>
                <a:ea typeface="游ゴシック"/>
              </a:rPr>
              <a:t>人材紹介エージェント様向け ご案内資料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836000"/>
            <a:ext cx="10800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6440" b="0" i="0">
                <a:solidFill>
                  <a:srgbClr val="FFFFFF"/>
                </a:solidFill>
                <a:latin typeface="Garamond"/>
                <a:ea typeface="游明朝"/>
              </a:rPr>
              <a:t>MarkGate</a:t>
            </a:r>
            <a:r>
              <a:rPr sz="6440" b="0" i="0">
                <a:solidFill>
                  <a:srgbClr val="B8934E"/>
                </a:solidFill>
                <a:latin typeface="Garamond"/>
                <a:ea typeface="游明朝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8000" y="3312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10" b="1" i="0" spc="200">
                <a:solidFill>
                  <a:srgbClr val="FFFFFF"/>
                </a:solidFill>
                <a:latin typeface="Garamond"/>
                <a:ea typeface="游明朝"/>
              </a:rPr>
              <a:t>選ばれるから、届く。“指名”で始まるハイクラス転職。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000" y="4032000"/>
            <a:ext cx="108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90" b="0" i="0" spc="100">
                <a:solidFill>
                  <a:srgbClr val="ABA595"/>
                </a:solidFill>
                <a:latin typeface="Yu Gothic"/>
                <a:ea typeface="游ゴシック"/>
              </a:rPr>
              <a:t>「量の競争」で飽和した転職スカウト市場に、求職者がCAを選ぶ「指名」という新しい入口を。</a:t>
            </a:r>
          </a:p>
          <a:p>
            <a:pPr algn="l">
              <a:lnSpc>
                <a:spcPct val="160000"/>
              </a:lnSpc>
            </a:pPr>
            <a:r>
              <a:rPr sz="1090" b="0" i="0" spc="100">
                <a:solidFill>
                  <a:srgbClr val="ABA595"/>
                </a:solidFill>
                <a:latin typeface="Yu Gothic"/>
                <a:ea typeface="游ゴシック"/>
              </a:rPr>
              <a:t>実績トップクラスのキャリアアドバイザーだけが参加できる、品質保証型マッチングプラットフォーム。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6192000"/>
            <a:ext cx="54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 i="0" spc="300">
                <a:solidFill>
                  <a:srgbClr val="7E7868"/>
                </a:solidFill>
                <a:latin typeface="Yu Gothic"/>
                <a:ea typeface="游ゴシック"/>
              </a:rPr>
              <a:t>CONFIDENTIAL　·　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1600" y="6156000"/>
            <a:ext cx="432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10" b="0" i="1">
                <a:solidFill>
                  <a:srgbClr val="D8C08C"/>
                </a:solidFill>
                <a:latin typeface="Garamond"/>
                <a:ea typeface="游明朝"/>
              </a:rPr>
              <a:t>— Quality over Quantity 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01 /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選ばれるから、</a:t>
            </a:r>
            <a:r>
              <a:rPr sz="3329" b="1" i="0" spc="100">
                <a:solidFill>
                  <a:srgbClr val="B8934E"/>
                </a:solidFill>
                <a:latin typeface="Garamond"/>
                <a:ea typeface="游明朝"/>
              </a:rPr>
              <a:t>届く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9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10" b="0" i="0" spc="100">
                <a:solidFill>
                  <a:srgbClr val="8F8A7B"/>
                </a:solidFill>
                <a:latin typeface="Yu Gothic"/>
                <a:ea typeface="游ゴシック"/>
              </a:rPr>
              <a:t>トップクラスのCAだけが参加できる、“指名”型のマッチングです。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736000"/>
            <a:ext cx="3384000" cy="2664000"/>
          </a:xfrm>
          <a:prstGeom prst="rect">
            <a:avLst/>
          </a:prstGeom>
          <a:solidFill>
            <a:srgbClr val="EB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8000" y="2714400"/>
            <a:ext cx="3384000" cy="216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2000" y="3168000"/>
            <a:ext cx="2736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39" b="0" i="1">
                <a:solidFill>
                  <a:srgbClr val="8A6A32"/>
                </a:solidFill>
                <a:latin typeface="Garamond"/>
                <a:ea typeface="游明朝"/>
              </a:rPr>
              <a:t>01</a:t>
            </a:r>
          </a:p>
          <a:p>
            <a:pPr algn="l">
              <a:lnSpc>
                <a:spcPct val="130000"/>
              </a:lnSpc>
              <a:spcAft>
                <a:spcPts val="150"/>
              </a:spcAft>
            </a:pPr>
            <a:r>
              <a:rPr sz="1550" b="1" i="0">
                <a:solidFill>
                  <a:srgbClr val="201C15"/>
                </a:solidFill>
                <a:latin typeface="Yu Gothic"/>
                <a:ea typeface="游ゴシック"/>
              </a:rPr>
              <a:t>トップCA限定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780" b="0" i="0" spc="200">
                <a:solidFill>
                  <a:srgbClr val="8F8A7B"/>
                </a:solidFill>
                <a:latin typeface="Yu Gothic"/>
                <a:ea typeface="游ゴシック"/>
              </a:rPr>
              <a:t>VETTED ADVISORS</a:t>
            </a:r>
          </a:p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201C15"/>
                </a:solidFill>
                <a:latin typeface="Yu Gothic"/>
                <a:ea typeface="游ゴシック"/>
              </a:rPr>
              <a:t>実績・専門性・支援品質の審査制。掲載されていること自体が証明になる。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2800" y="2736000"/>
            <a:ext cx="3384000" cy="2664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6800" y="3168000"/>
            <a:ext cx="2736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39" b="0" i="1">
                <a:solidFill>
                  <a:srgbClr val="D8C08C"/>
                </a:solidFill>
                <a:latin typeface="Garamond"/>
                <a:ea typeface="游明朝"/>
              </a:rPr>
              <a:t>02</a:t>
            </a:r>
          </a:p>
          <a:p>
            <a:pPr algn="l">
              <a:lnSpc>
                <a:spcPct val="130000"/>
              </a:lnSpc>
              <a:spcAft>
                <a:spcPts val="150"/>
              </a:spcAft>
            </a:pPr>
            <a:r>
              <a:rPr sz="1550" b="1" i="0">
                <a:solidFill>
                  <a:srgbClr val="FFFFFF"/>
                </a:solidFill>
                <a:latin typeface="Yu Gothic"/>
                <a:ea typeface="游ゴシック"/>
              </a:rPr>
              <a:t>指名が届く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780" b="0" i="0" spc="200">
                <a:solidFill>
                  <a:srgbClr val="7E7868"/>
                </a:solidFill>
                <a:latin typeface="Yu Gothic"/>
                <a:ea typeface="游ゴシック"/>
              </a:rPr>
              <a:t>NAMED BY CANDIDATES</a:t>
            </a:r>
          </a:p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ABA595"/>
                </a:solidFill>
                <a:latin typeface="Yu Gothic"/>
                <a:ea typeface="游ゴシック"/>
              </a:rPr>
              <a:t>求職者がプロフィールを見て指名。温度の高い面談が、送信ゼロで届く。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67600" y="2736000"/>
            <a:ext cx="3384000" cy="2664000"/>
          </a:xfrm>
          <a:prstGeom prst="rect">
            <a:avLst/>
          </a:prstGeom>
          <a:solidFill>
            <a:srgbClr val="EB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7600" y="2714400"/>
            <a:ext cx="338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1600" y="3168000"/>
            <a:ext cx="2736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39" b="0" i="1">
                <a:solidFill>
                  <a:srgbClr val="8A6A32"/>
                </a:solidFill>
                <a:latin typeface="Garamond"/>
                <a:ea typeface="游明朝"/>
              </a:rPr>
              <a:t>03</a:t>
            </a:r>
          </a:p>
          <a:p>
            <a:pPr algn="l">
              <a:lnSpc>
                <a:spcPct val="130000"/>
              </a:lnSpc>
              <a:spcAft>
                <a:spcPts val="150"/>
              </a:spcAft>
            </a:pPr>
            <a:r>
              <a:rPr sz="1550" b="1" i="0">
                <a:solidFill>
                  <a:srgbClr val="201C15"/>
                </a:solidFill>
                <a:latin typeface="Yu Gothic"/>
                <a:ea typeface="游ゴシック"/>
              </a:rPr>
              <a:t>成約まで費用ゼロ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780" b="0" i="0" spc="200">
                <a:solidFill>
                  <a:srgbClr val="8F8A7B"/>
                </a:solidFill>
                <a:latin typeface="Yu Gothic"/>
                <a:ea typeface="游ゴシック"/>
              </a:rPr>
              <a:t>SUCCESS FEE ONLY</a:t>
            </a:r>
          </a:p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201C15"/>
                </a:solidFill>
                <a:latin typeface="Yu Gothic"/>
                <a:ea typeface="游ゴシック"/>
              </a:rPr>
              <a:t>初年度利用料0円。費用は成約時に、紹介手数料の20%だけ。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02 /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スカウトは、もう</a:t>
            </a:r>
            <a:r>
              <a:rPr sz="3329" b="1" i="0" spc="100">
                <a:solidFill>
                  <a:srgbClr val="A03A2A"/>
                </a:solidFill>
                <a:latin typeface="Garamond"/>
                <a:ea typeface="游明朝"/>
              </a:rPr>
              <a:t>読まれていない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9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10" b="0" i="0" spc="100">
                <a:solidFill>
                  <a:srgbClr val="8F8A7B"/>
                </a:solidFill>
                <a:latin typeface="Yu Gothic"/>
                <a:ea typeface="游ゴシック"/>
              </a:rPr>
              <a:t>同じデータベースに送り手が殺到し、優秀層の受信箱は飽和しています。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664000"/>
            <a:ext cx="5076000" cy="3456000"/>
          </a:xfrm>
          <a:prstGeom prst="rect">
            <a:avLst/>
          </a:prstGeom>
          <a:solidFill>
            <a:srgbClr val="EB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8000" y="2642400"/>
            <a:ext cx="5076000" cy="216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8000" y="3024000"/>
            <a:ext cx="4356000" cy="28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980" b="0" i="1" spc="200">
                <a:solidFill>
                  <a:srgbClr val="8A6A32"/>
                </a:solidFill>
                <a:latin typeface="Garamond"/>
                <a:ea typeface="游明朝"/>
              </a:rPr>
              <a:t>SENDERS　—　送り手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4370" b="0" i="0">
                <a:solidFill>
                  <a:srgbClr val="201C15"/>
                </a:solidFill>
                <a:latin typeface="Garamond"/>
                <a:ea typeface="游明朝"/>
              </a:rPr>
              <a:t>41,800</a:t>
            </a:r>
            <a:r>
              <a:rPr sz="1490" b="1" i="0">
                <a:solidFill>
                  <a:srgbClr val="201C15"/>
                </a:solidFill>
                <a:latin typeface="Yu Gothic"/>
                <a:ea typeface="游ゴシック"/>
              </a:rPr>
              <a:t> 社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840" b="0" i="0">
                <a:solidFill>
                  <a:srgbClr val="8F8A7B"/>
                </a:solidFill>
                <a:latin typeface="Yu Gothic"/>
                <a:ea typeface="游ゴシック"/>
              </a:rPr>
              <a:t>ビズリーチ 累計導入企業数（2026年1月末・公表値）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100"/>
              </a:spcAft>
            </a:pPr>
            <a:r>
              <a:rPr sz="2640" b="0" i="0">
                <a:solidFill>
                  <a:srgbClr val="201C15"/>
                </a:solidFill>
                <a:latin typeface="Garamond"/>
                <a:ea typeface="游明朝"/>
              </a:rPr>
              <a:t>9,700</a:t>
            </a:r>
            <a:r>
              <a:rPr sz="1260" b="1" i="0">
                <a:solidFill>
                  <a:srgbClr val="201C15"/>
                </a:solidFill>
                <a:latin typeface="Yu Gothic"/>
                <a:ea typeface="游ゴシック"/>
              </a:rPr>
              <a:t> 名+</a:t>
            </a:r>
          </a:p>
          <a:p>
            <a:pPr algn="l">
              <a:lnSpc>
                <a:spcPct val="130000"/>
              </a:lnSpc>
            </a:pPr>
            <a:r>
              <a:rPr sz="840" b="0" i="0">
                <a:solidFill>
                  <a:srgbClr val="8F8A7B"/>
                </a:solidFill>
                <a:latin typeface="Yu Gothic"/>
                <a:ea typeface="游ゴシック"/>
              </a:rPr>
              <a:t>同・登録ヘッドハンター数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8000" y="4536000"/>
            <a:ext cx="4356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86000" y="2664000"/>
            <a:ext cx="576000" cy="345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720" b="0" i="0">
                <a:solidFill>
                  <a:srgbClr val="8F8A7B"/>
                </a:solidFill>
                <a:latin typeface="Yu Gothic"/>
                <a:ea typeface="游ゴシック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4000" y="2664000"/>
            <a:ext cx="4917600" cy="3456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94000" y="3024000"/>
            <a:ext cx="4197600" cy="28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980" b="0" i="1" spc="200">
                <a:solidFill>
                  <a:srgbClr val="D8C08C"/>
                </a:solidFill>
                <a:latin typeface="Garamond"/>
                <a:ea typeface="游明朝"/>
              </a:rPr>
              <a:t>RECEIVERS　—　受け手（優秀層）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4370" b="0" i="0">
                <a:solidFill>
                  <a:srgbClr val="FFFFFF"/>
                </a:solidFill>
                <a:latin typeface="Garamond"/>
                <a:ea typeface="游明朝"/>
              </a:rPr>
              <a:t>2−10</a:t>
            </a:r>
            <a:r>
              <a:rPr sz="1610" b="1" i="0">
                <a:solidFill>
                  <a:srgbClr val="FFFFFF"/>
                </a:solidFill>
                <a:latin typeface="Yu Gothic"/>
                <a:ea typeface="游ゴシック"/>
              </a:rPr>
              <a:t> %</a:t>
            </a:r>
          </a:p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840" b="0" i="0">
                <a:solidFill>
                  <a:srgbClr val="7E7868"/>
                </a:solidFill>
                <a:latin typeface="Yu Gothic"/>
                <a:ea typeface="游ゴシック"/>
              </a:rPr>
              <a:t>スカウト返信率の業界レンジ（平均は約5%）</a:t>
            </a:r>
          </a:p>
          <a:p>
            <a:pPr algn="l">
              <a:lnSpc>
                <a:spcPct val="150000"/>
              </a:lnSpc>
            </a:pPr>
            <a:r>
              <a:rPr sz="1260" b="1" i="0">
                <a:solidFill>
                  <a:srgbClr val="FFFFFF"/>
                </a:solidFill>
                <a:latin typeface="Yu Gothic"/>
                <a:ea typeface="游ゴシック"/>
              </a:rPr>
              <a:t>面談5件の確保に、</a:t>
            </a:r>
          </a:p>
          <a:p>
            <a:pPr algn="l">
              <a:lnSpc>
                <a:spcPct val="150000"/>
              </a:lnSpc>
            </a:pPr>
            <a:r>
              <a:rPr sz="1260" b="1" i="0">
                <a:solidFill>
                  <a:srgbClr val="FFFFFF"/>
                </a:solidFill>
                <a:latin typeface="Yu Gothic"/>
                <a:ea typeface="游ゴシック"/>
              </a:rPr>
              <a:t>約100通の送信が必要な計算。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94000" y="4464000"/>
            <a:ext cx="41976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8000" y="6480000"/>
            <a:ext cx="1071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F8A7B"/>
                </a:solidFill>
                <a:latin typeface="Yu Gothic"/>
                <a:ea typeface="游ゴシック"/>
              </a:rPr>
              <a:t>出典: ビズリーチ公式サイト公表値（2026年1月末時点） / VOLLECT・buddy-data・miidas スカウト返信率調査（2025〜2026年）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03 / CANDIDATES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求職者は、</a:t>
            </a:r>
            <a:r>
              <a:rPr sz="3329" b="1" i="0" spc="100">
                <a:solidFill>
                  <a:srgbClr val="B8934E"/>
                </a:solidFill>
                <a:latin typeface="Garamond"/>
                <a:ea typeface="游明朝"/>
              </a:rPr>
              <a:t>“担当者”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で選びたい。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2160000"/>
            <a:ext cx="504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5060" b="0" i="0">
                <a:solidFill>
                  <a:srgbClr val="201C15"/>
                </a:solidFill>
                <a:latin typeface="Garamond"/>
                <a:ea typeface="游明朝"/>
              </a:rPr>
              <a:t>36</a:t>
            </a:r>
            <a:r>
              <a:rPr sz="1839" b="1" i="0">
                <a:solidFill>
                  <a:srgbClr val="201C15"/>
                </a:solidFill>
                <a:latin typeface="Yu Gothic"/>
                <a:ea typeface="游ゴシック"/>
              </a:rPr>
              <a:t> %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3132000"/>
            <a:ext cx="4968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8000" y="3240000"/>
            <a:ext cx="50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0" b="0" i="0">
                <a:solidFill>
                  <a:srgbClr val="8F8A7B"/>
                </a:solidFill>
                <a:latin typeface="Yu Gothic"/>
                <a:ea typeface="游ゴシック"/>
              </a:rPr>
              <a:t>転職エージェントを「信用できない」と回答（利用経験者調査）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8000" y="2160000"/>
            <a:ext cx="504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5060" b="0" i="0">
                <a:solidFill>
                  <a:srgbClr val="201C15"/>
                </a:solidFill>
                <a:latin typeface="Garamond"/>
                <a:ea typeface="游明朝"/>
              </a:rPr>
              <a:t>4.2</a:t>
            </a:r>
            <a:r>
              <a:rPr sz="1839" b="1" i="0">
                <a:solidFill>
                  <a:srgbClr val="201C15"/>
                </a:solidFill>
                <a:latin typeface="Yu Gothic"/>
                <a:ea typeface="游ゴシック"/>
              </a:rPr>
              <a:t> 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8000" y="3132000"/>
            <a:ext cx="493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8000" y="3240000"/>
            <a:ext cx="50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0" b="0" i="0">
                <a:solidFill>
                  <a:srgbClr val="8F8A7B"/>
                </a:solidFill>
                <a:latin typeface="Yu Gothic"/>
                <a:ea typeface="游ゴシック"/>
              </a:rPr>
              <a:t>転職決定者が登録するエージェント数（利用者全体の平均は約2.1社）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8000" y="3816000"/>
            <a:ext cx="4968000" cy="9000"/>
          </a:xfrm>
          <a:prstGeom prst="rect">
            <a:avLst/>
          </a:prstGeom>
          <a:solidFill>
            <a:srgbClr val="8F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000" y="3960000"/>
            <a:ext cx="5040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20" b="1" i="0">
                <a:solidFill>
                  <a:srgbClr val="201C15"/>
                </a:solidFill>
                <a:latin typeface="Yu Gothic"/>
                <a:ea typeface="游ゴシック"/>
              </a:rPr>
              <a:t>不満・不信の上位</a:t>
            </a:r>
          </a:p>
          <a:p>
            <a:pPr algn="l">
              <a:lnSpc>
                <a:spcPct val="160000"/>
              </a:lnSpc>
            </a:pP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・ 担当者の企業・業界知識の不足</a:t>
            </a:r>
          </a:p>
          <a:p>
            <a:pPr algn="l">
              <a:lnSpc>
                <a:spcPct val="160000"/>
              </a:lnSpc>
            </a:pP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・ 転職を急かす強引な提案</a:t>
            </a:r>
          </a:p>
          <a:p>
            <a:pPr algn="l">
              <a:lnSpc>
                <a:spcPct val="160000"/>
              </a:lnSpc>
            </a:pP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・ 希望と合わない求人ばかりの紹介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6000" y="3888000"/>
            <a:ext cx="5205600" cy="144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6000" y="4104000"/>
            <a:ext cx="44856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860" b="0" i="0" spc="200">
                <a:solidFill>
                  <a:srgbClr val="D8C08C"/>
                </a:solidFill>
                <a:latin typeface="Yu Gothic"/>
                <a:ea typeface="游ゴシック"/>
              </a:rPr>
              <a:t>— INSIGHT —</a:t>
            </a:r>
          </a:p>
          <a:p>
            <a:pPr algn="l">
              <a:lnSpc>
                <a:spcPct val="155000"/>
              </a:lnSpc>
            </a:pPr>
            <a:r>
              <a:rPr sz="1150" b="1" i="0">
                <a:solidFill>
                  <a:srgbClr val="FFFFFF"/>
                </a:solidFill>
                <a:latin typeface="Yu Gothic"/>
                <a:ea typeface="游ゴシック"/>
              </a:rPr>
              <a:t>複数登録は「担当者ガチャ」へのヘッジ行動。実績あるCAを自分で選べる場には、求職者側の明確な需要がある。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000" y="6480000"/>
            <a:ext cx="1071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F8A7B"/>
                </a:solidFill>
                <a:latin typeface="Yu Gothic"/>
                <a:ea typeface="游ゴシック"/>
              </a:rPr>
              <a:t>出典: マイナビスカウティング調査（2024年, n=101） / hape 転職エージェント利用者調査（2025年, n=320） / リクナビNEXT調べ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8000" y="468000"/>
            <a:ext cx="10713600" cy="12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8000" y="864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D8C08C"/>
                </a:solidFill>
                <a:latin typeface="Garamond"/>
                <a:ea typeface="游明朝"/>
              </a:rPr>
              <a:t>04 /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8000" y="1162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8000" y="1404000"/>
            <a:ext cx="107136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100" b="1" i="0" spc="100">
                <a:solidFill>
                  <a:srgbClr val="FFFFFF"/>
                </a:solidFill>
                <a:latin typeface="Garamond"/>
                <a:ea typeface="游明朝"/>
              </a:rPr>
              <a:t>“送る”のをやめて、</a:t>
            </a:r>
          </a:p>
          <a:p>
            <a:pPr algn="l">
              <a:lnSpc>
                <a:spcPct val="130000"/>
              </a:lnSpc>
            </a:pPr>
            <a:r>
              <a:rPr sz="3100" b="1" i="0">
                <a:solidFill>
                  <a:srgbClr val="FFFFFF"/>
                </a:solidFill>
                <a:latin typeface="Garamond"/>
                <a:ea typeface="游明朝"/>
              </a:rPr>
              <a:t>“</a:t>
            </a:r>
            <a:r>
              <a:rPr sz="3100" b="1" i="0">
                <a:solidFill>
                  <a:srgbClr val="D8C08C"/>
                </a:solidFill>
                <a:latin typeface="Garamond"/>
                <a:ea typeface="游明朝"/>
              </a:rPr>
              <a:t>選ばれる</a:t>
            </a:r>
            <a:r>
              <a:rPr sz="3100" b="1" i="0">
                <a:solidFill>
                  <a:srgbClr val="FFFFFF"/>
                </a:solidFill>
                <a:latin typeface="Garamond"/>
                <a:ea typeface="游明朝"/>
              </a:rPr>
              <a:t>”へ。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8000" y="2808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10" b="0" i="0">
                <a:solidFill>
                  <a:srgbClr val="FFFFFF"/>
                </a:solidFill>
                <a:latin typeface="Garamond"/>
                <a:ea typeface="游明朝"/>
              </a:rPr>
              <a:t>MarkGate</a:t>
            </a:r>
            <a:r>
              <a:rPr sz="1610" b="0" i="0">
                <a:solidFill>
                  <a:srgbClr val="B8934E"/>
                </a:solidFill>
                <a:latin typeface="Garamond"/>
                <a:ea typeface="游明朝"/>
              </a:rPr>
              <a:t>.</a:t>
            </a:r>
            <a:r>
              <a:rPr sz="1150" b="0" i="0" spc="200">
                <a:solidFill>
                  <a:srgbClr val="ABA595"/>
                </a:solidFill>
                <a:latin typeface="Yu Gothic"/>
                <a:ea typeface="游ゴシック"/>
              </a:rPr>
              <a:t>　— 審査制 × 指名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000" y="3744000"/>
            <a:ext cx="3384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000" y="3960000"/>
            <a:ext cx="33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80" b="0" i="1">
                <a:solidFill>
                  <a:srgbClr val="D8C08C"/>
                </a:solidFill>
                <a:latin typeface="Garamond"/>
                <a:ea typeface="游明朝"/>
              </a:rPr>
              <a:t>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" y="4464000"/>
            <a:ext cx="3384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70" b="0" i="0">
                <a:solidFill>
                  <a:srgbClr val="ABA595"/>
                </a:solidFill>
                <a:latin typeface="Yu Gothic"/>
                <a:ea typeface="游ゴシック"/>
              </a:rPr>
              <a:t>実績・専門性・支援品質で審査。トップクラスのCAだけが参加できる。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2800" y="3744000"/>
            <a:ext cx="3384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2800" y="3960000"/>
            <a:ext cx="33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80" b="0" i="1">
                <a:solidFill>
                  <a:srgbClr val="D8C08C"/>
                </a:solidFill>
                <a:latin typeface="Garamond"/>
                <a:ea typeface="游明朝"/>
              </a:rPr>
              <a:t>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2800" y="4464000"/>
            <a:ext cx="3384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70" b="0" i="0">
                <a:solidFill>
                  <a:srgbClr val="ABA595"/>
                </a:solidFill>
                <a:latin typeface="Yu Gothic"/>
                <a:ea typeface="游ゴシック"/>
              </a:rPr>
              <a:t>求職者が実績・専門領域を見て、相談相手を自分で選び、指名する。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7600" y="3744000"/>
            <a:ext cx="3384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7600" y="3960000"/>
            <a:ext cx="33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80" b="0" i="1">
                <a:solidFill>
                  <a:srgbClr val="D8C08C"/>
                </a:solidFill>
                <a:latin typeface="Garamond"/>
                <a:ea typeface="游明朝"/>
              </a:rPr>
              <a:t>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7600" y="4464000"/>
            <a:ext cx="3384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70" b="0" i="0">
                <a:solidFill>
                  <a:srgbClr val="ABA595"/>
                </a:solidFill>
                <a:latin typeface="Yu Gothic"/>
                <a:ea typeface="游ゴシック"/>
              </a:rPr>
              <a:t>選ばれて始まる面談だから、温度が高い。辞退や音信不通が起きにくい。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00" y="6048000"/>
            <a:ext cx="10713600" cy="12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05 / NOMINATION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求職者が、CAを</a:t>
            </a:r>
            <a:r>
              <a:rPr sz="3329" b="1" i="0" spc="100">
                <a:solidFill>
                  <a:srgbClr val="B8934E"/>
                </a:solidFill>
                <a:latin typeface="Garamond"/>
                <a:ea typeface="游明朝"/>
              </a:rPr>
              <a:t>“指名”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9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10" b="0" i="0" spc="100">
                <a:solidFill>
                  <a:srgbClr val="8F8A7B"/>
                </a:solidFill>
                <a:latin typeface="Yu Gothic"/>
                <a:ea typeface="游ゴシック"/>
              </a:rPr>
              <a:t>“会社宛の問い合わせ”ではなく、“あなた宛の相談”が届きます。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628000"/>
            <a:ext cx="5076000" cy="2880000"/>
          </a:xfrm>
          <a:prstGeom prst="rect">
            <a:avLst/>
          </a:prstGeom>
          <a:solidFill>
            <a:srgbClr val="EB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8000" y="2606400"/>
            <a:ext cx="5076000" cy="216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8000" y="2952000"/>
            <a:ext cx="4356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980" b="0" i="1" spc="200">
                <a:solidFill>
                  <a:srgbClr val="8A6A32"/>
                </a:solidFill>
                <a:latin typeface="Garamond"/>
                <a:ea typeface="游明朝"/>
              </a:rPr>
              <a:t>CANDIDATE　—　求職者の体験</a:t>
            </a:r>
          </a:p>
          <a:p>
            <a:pPr algn="l">
              <a:lnSpc>
                <a:spcPct val="150000"/>
              </a:lnSpc>
              <a:spcAft>
                <a:spcPts val="700"/>
              </a:spcAft>
            </a:pPr>
            <a:r>
              <a:rPr sz="1260" b="0" i="1">
                <a:solidFill>
                  <a:srgbClr val="8A6A32"/>
                </a:solidFill>
                <a:latin typeface="Garamond"/>
                <a:ea typeface="游明朝"/>
              </a:rPr>
              <a:t>01　</a:t>
            </a:r>
            <a:r>
              <a:rPr sz="1150" b="0" i="0">
                <a:solidFill>
                  <a:srgbClr val="201C15"/>
                </a:solidFill>
                <a:latin typeface="Yu Gothic"/>
                <a:ea typeface="游ゴシック"/>
              </a:rPr>
              <a:t>審査を通過したCAだけの一覧を見る</a:t>
            </a:r>
          </a:p>
          <a:p>
            <a:pPr algn="l">
              <a:lnSpc>
                <a:spcPct val="150000"/>
              </a:lnSpc>
              <a:spcAft>
                <a:spcPts val="700"/>
              </a:spcAft>
            </a:pPr>
            <a:r>
              <a:rPr sz="1260" b="0" i="1">
                <a:solidFill>
                  <a:srgbClr val="8A6A32"/>
                </a:solidFill>
                <a:latin typeface="Garamond"/>
                <a:ea typeface="游明朝"/>
              </a:rPr>
              <a:t>02　</a:t>
            </a:r>
            <a:r>
              <a:rPr sz="1150" b="0" i="0">
                <a:solidFill>
                  <a:srgbClr val="201C15"/>
                </a:solidFill>
                <a:latin typeface="Yu Gothic"/>
                <a:ea typeface="游ゴシック"/>
              </a:rPr>
              <a:t>実績・専門領域・支援スタイルで比較する</a:t>
            </a:r>
          </a:p>
          <a:p>
            <a:pPr algn="l">
              <a:lnSpc>
                <a:spcPct val="150000"/>
              </a:lnSpc>
              <a:spcAft>
                <a:spcPts val="700"/>
              </a:spcAft>
            </a:pPr>
            <a:r>
              <a:rPr sz="1260" b="0" i="1">
                <a:solidFill>
                  <a:srgbClr val="8A6A32"/>
                </a:solidFill>
                <a:latin typeface="Garamond"/>
                <a:ea typeface="游明朝"/>
              </a:rPr>
              <a:t>03　</a:t>
            </a:r>
            <a:r>
              <a:rPr sz="1150" b="0" i="0">
                <a:solidFill>
                  <a:srgbClr val="201C15"/>
                </a:solidFill>
                <a:latin typeface="Yu Gothic"/>
                <a:ea typeface="游ゴシック"/>
              </a:rPr>
              <a:t>「この人に相談したい」— 指名する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6000" y="2628000"/>
            <a:ext cx="576000" cy="28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720" b="0" i="0">
                <a:solidFill>
                  <a:srgbClr val="8F8A7B"/>
                </a:solidFill>
                <a:latin typeface="Yu Gothic"/>
                <a:ea typeface="游ゴシック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4000" y="2628000"/>
            <a:ext cx="4917600" cy="288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94000" y="2952000"/>
            <a:ext cx="41976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980" b="0" i="1" spc="200">
                <a:solidFill>
                  <a:srgbClr val="D8C08C"/>
                </a:solidFill>
                <a:latin typeface="Garamond"/>
                <a:ea typeface="游明朝"/>
              </a:rPr>
              <a:t>YOUR CA　—　貴社CAの受信箱</a:t>
            </a:r>
          </a:p>
          <a:p>
            <a:pPr algn="l">
              <a:lnSpc>
                <a:spcPct val="150000"/>
              </a:lnSpc>
            </a:pPr>
            <a:r>
              <a:rPr sz="1440" b="1" i="0">
                <a:solidFill>
                  <a:srgbClr val="FFFFFF"/>
                </a:solidFill>
                <a:latin typeface="Yu Gothic"/>
                <a:ea typeface="游ゴシック"/>
              </a:rPr>
              <a:t>「あなたに相談したい」という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40" b="1" i="0">
                <a:solidFill>
                  <a:srgbClr val="FFFFFF"/>
                </a:solidFill>
                <a:latin typeface="Yu Gothic"/>
                <a:ea typeface="游ゴシック"/>
              </a:rPr>
              <a:t>指名リクエストが、直接届く。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010" b="0" i="0">
                <a:solidFill>
                  <a:srgbClr val="ABA595"/>
                </a:solidFill>
                <a:latin typeface="Yu Gothic"/>
                <a:ea typeface="游ゴシック"/>
              </a:rPr>
              <a:t>自らCAを選んだ求職者だから、面談への温度が最初から高い。辞退や音信不通が起きにくい構造です。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94000" y="4014000"/>
            <a:ext cx="41976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000" y="5796000"/>
            <a:ext cx="10713600" cy="45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6000" y="5796000"/>
            <a:ext cx="10137600" cy="4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10" b="0" i="0">
                <a:solidFill>
                  <a:srgbClr val="FFFFFF"/>
                </a:solidFill>
                <a:latin typeface="Yu Gothic"/>
                <a:ea typeface="游ゴシック"/>
              </a:rPr>
              <a:t>プロフィールは貴社の資産 — </a:t>
            </a:r>
            <a:r>
              <a:rPr sz="1210" b="1" i="0">
                <a:solidFill>
                  <a:srgbClr val="D8C08C"/>
                </a:solidFill>
                <a:latin typeface="Yu Gothic"/>
                <a:ea typeface="游ゴシック"/>
              </a:rPr>
              <a:t>エースの実績が、24時間はたらく集客装置になる。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06 /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仕組み — 貴社の業務は、</a:t>
            </a:r>
            <a:r>
              <a:rPr sz="3329" b="1" i="0" spc="100">
                <a:solidFill>
                  <a:srgbClr val="B8934E"/>
                </a:solidFill>
                <a:latin typeface="Garamond"/>
                <a:ea typeface="游明朝"/>
              </a:rPr>
              <a:t>これまで通り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8000" y="2304000"/>
            <a:ext cx="25344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8000" y="2448000"/>
            <a:ext cx="25344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20" b="0" i="1">
                <a:solidFill>
                  <a:srgbClr val="8A6A32"/>
                </a:solidFill>
                <a:latin typeface="Garamond"/>
                <a:ea typeface="游明朝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000" y="2826000"/>
            <a:ext cx="2534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40" b="1" i="0">
                <a:solidFill>
                  <a:srgbClr val="201C15"/>
                </a:solidFill>
                <a:latin typeface="Yu Gothic"/>
                <a:ea typeface="游ゴシック"/>
              </a:rPr>
              <a:t>審査・登録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3114000"/>
            <a:ext cx="25344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70" b="0" i="0">
                <a:solidFill>
                  <a:srgbClr val="201C15"/>
                </a:solidFill>
                <a:latin typeface="Yu Gothic"/>
                <a:ea typeface="游ゴシック"/>
              </a:rPr>
              <a:t>貴社アドバイザーが実績・専門性の審査にエントリー。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3200" y="2304000"/>
            <a:ext cx="25344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3200" y="2448000"/>
            <a:ext cx="25344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20" b="0" i="1">
                <a:solidFill>
                  <a:srgbClr val="8A6A32"/>
                </a:solidFill>
                <a:latin typeface="Garamond"/>
                <a:ea typeface="游明朝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3200" y="2826000"/>
            <a:ext cx="2534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40" b="1" i="0">
                <a:solidFill>
                  <a:srgbClr val="201C15"/>
                </a:solidFill>
                <a:latin typeface="Yu Gothic"/>
                <a:ea typeface="游ゴシック"/>
              </a:rPr>
              <a:t>プロフィール公開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3200" y="3114000"/>
            <a:ext cx="25344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70" b="0" i="0">
                <a:solidFill>
                  <a:srgbClr val="201C15"/>
                </a:solidFill>
                <a:latin typeface="Yu Gothic"/>
                <a:ea typeface="游ゴシック"/>
              </a:rPr>
              <a:t>得意領域・実績・人柄をプラットフォームに掲載。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8400" y="2304000"/>
            <a:ext cx="25344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8400" y="2448000"/>
            <a:ext cx="25344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20" b="0" i="1">
                <a:solidFill>
                  <a:srgbClr val="8A6A32"/>
                </a:solidFill>
                <a:latin typeface="Garamond"/>
                <a:ea typeface="游明朝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8400" y="2826000"/>
            <a:ext cx="2534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40" b="1" i="0">
                <a:solidFill>
                  <a:srgbClr val="201C15"/>
                </a:solidFill>
                <a:latin typeface="Yu Gothic"/>
                <a:ea typeface="游ゴシック"/>
              </a:rPr>
              <a:t>指名の受信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8400" y="3114000"/>
            <a:ext cx="25344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70" b="0" i="0">
                <a:solidFill>
                  <a:srgbClr val="201C15"/>
                </a:solidFill>
                <a:latin typeface="Yu Gothic"/>
                <a:ea typeface="游ゴシック"/>
              </a:rPr>
              <a:t>プロフィールを見た求職者から、指名が届く。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3600" y="2304000"/>
            <a:ext cx="25344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600" y="2448000"/>
            <a:ext cx="25344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20" b="0" i="1">
                <a:solidFill>
                  <a:srgbClr val="8A6A32"/>
                </a:solidFill>
                <a:latin typeface="Garamond"/>
                <a:ea typeface="游明朝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3600" y="2826000"/>
            <a:ext cx="2534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40" b="1" i="0">
                <a:solidFill>
                  <a:srgbClr val="201C15"/>
                </a:solidFill>
                <a:latin typeface="Yu Gothic"/>
                <a:ea typeface="游ゴシック"/>
              </a:rPr>
              <a:t>面談・成約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3600" y="3114000"/>
            <a:ext cx="25344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70" b="0" i="0">
                <a:solidFill>
                  <a:srgbClr val="201C15"/>
                </a:solidFill>
                <a:latin typeface="Yu Gothic"/>
                <a:ea typeface="游ゴシック"/>
              </a:rPr>
              <a:t>以降は通常の紹介業務。成約時に初めて費用が発生します。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8000" y="5886000"/>
            <a:ext cx="10713600" cy="45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000" y="5886000"/>
            <a:ext cx="10137600" cy="4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10" b="0" i="0">
                <a:solidFill>
                  <a:srgbClr val="FFFFFF"/>
                </a:solidFill>
                <a:latin typeface="Yu Gothic"/>
                <a:ea typeface="游ゴシック"/>
              </a:rPr>
              <a:t>掲載して、待つだけ。</a:t>
            </a:r>
            <a:r>
              <a:rPr sz="1210" b="1" i="0">
                <a:solidFill>
                  <a:srgbClr val="D8C08C"/>
                </a:solidFill>
                <a:latin typeface="Yu Gothic"/>
                <a:ea typeface="游ゴシック"/>
              </a:rPr>
              <a:t>母集団形成と指名の創出は、プラットフォームの仕事です。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07 / SCREENING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審査は、狭き門ほど、</a:t>
            </a:r>
            <a:r>
              <a:rPr sz="3329" b="1" i="0" spc="100">
                <a:solidFill>
                  <a:srgbClr val="B8934E"/>
                </a:solidFill>
                <a:latin typeface="Garamond"/>
                <a:ea typeface="游明朝"/>
              </a:rPr>
              <a:t>価値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になる。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9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10" b="0" i="0" spc="100">
                <a:solidFill>
                  <a:srgbClr val="8F8A7B"/>
                </a:solidFill>
                <a:latin typeface="Yu Gothic"/>
                <a:ea typeface="游ゴシック"/>
              </a:rPr>
              <a:t>「誰でも登録できる場」にしないこと自体が、求職者が安心して“指名”できる理由です。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592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8000" y="2718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実績</a:t>
            </a:r>
            <a:r>
              <a:rPr sz="800" b="0" i="0" spc="200">
                <a:solidFill>
                  <a:srgbClr val="8F8A7B"/>
                </a:solidFill>
                <a:latin typeface="Yu Gothic"/>
                <a:ea typeface="游ゴシック"/>
              </a:rPr>
              <a:t>　TRACK RECORD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2988000"/>
            <a:ext cx="5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支援領域での決定実績・経験を、事実ベースで確認します。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8000" y="3618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8000" y="3744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専門性</a:t>
            </a:r>
            <a:r>
              <a:rPr sz="800" b="0" i="0" spc="200">
                <a:solidFill>
                  <a:srgbClr val="8F8A7B"/>
                </a:solidFill>
                <a:latin typeface="Yu Gothic"/>
                <a:ea typeface="游ゴシック"/>
              </a:rPr>
              <a:t>　EXPERTISE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8000" y="4014000"/>
            <a:ext cx="5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業界・職種への理解の深さと、得意領域の明確さを審査します。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8000" y="4644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000" y="4770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支援品質</a:t>
            </a:r>
            <a:r>
              <a:rPr sz="800" b="0" i="0" spc="200">
                <a:solidFill>
                  <a:srgbClr val="8F8A7B"/>
                </a:solidFill>
                <a:latin typeface="Yu Gothic"/>
                <a:ea typeface="游ゴシック"/>
              </a:rPr>
              <a:t>　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000" y="5040000"/>
            <a:ext cx="5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求職者本位の支援姿勢。参画後も求職者評価で継続的に確認します。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6000" y="2448000"/>
            <a:ext cx="4665600" cy="3132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0000" y="2736000"/>
            <a:ext cx="4017600" cy="2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20" b="0" i="1">
                <a:solidFill>
                  <a:srgbClr val="D8C08C"/>
                </a:solidFill>
                <a:latin typeface="Garamond"/>
                <a:ea typeface="游明朝"/>
              </a:rPr>
              <a:t>Entry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210" b="1" i="0">
                <a:solidFill>
                  <a:srgbClr val="FFFFFF"/>
                </a:solidFill>
                <a:latin typeface="Yu Gothic"/>
                <a:ea typeface="游ゴシック"/>
              </a:rPr>
              <a:t>安心してエントリーいただくために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030" b="0" i="0">
                <a:solidFill>
                  <a:srgbClr val="D8C08C"/>
                </a:solidFill>
                <a:latin typeface="Yu Gothic"/>
                <a:ea typeface="游ゴシック"/>
              </a:rPr>
              <a:t>◎　</a:t>
            </a:r>
            <a:r>
              <a:rPr sz="1030" b="0" i="0">
                <a:solidFill>
                  <a:srgbClr val="FFFFFF"/>
                </a:solidFill>
                <a:latin typeface="Yu Gothic"/>
                <a:ea typeface="游ゴシック"/>
              </a:rPr>
              <a:t>審査の結果は、外部に一切公開されません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030" b="0" i="0">
                <a:solidFill>
                  <a:srgbClr val="D8C08C"/>
                </a:solidFill>
                <a:latin typeface="Yu Gothic"/>
                <a:ea typeface="游ゴシック"/>
              </a:rPr>
              <a:t>◎　</a:t>
            </a:r>
            <a:r>
              <a:rPr sz="1030" b="0" i="0">
                <a:solidFill>
                  <a:srgbClr val="FFFFFF"/>
                </a:solidFill>
                <a:latin typeface="Yu Gothic"/>
                <a:ea typeface="游ゴシック"/>
              </a:rPr>
              <a:t>不通過の場合も、実績を積んでの再エントリーが可能です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030" b="0" i="0">
                <a:solidFill>
                  <a:srgbClr val="D8C08C"/>
                </a:solidFill>
                <a:latin typeface="Yu Gothic"/>
                <a:ea typeface="游ゴシック"/>
              </a:rPr>
              <a:t>◎　</a:t>
            </a:r>
            <a:r>
              <a:rPr sz="1030" b="0" i="0">
                <a:solidFill>
                  <a:srgbClr val="FFFFFF"/>
                </a:solidFill>
                <a:latin typeface="Yu Gothic"/>
                <a:ea typeface="游ゴシック"/>
              </a:rPr>
              <a:t>審査通過後、掲載するかどうかは貴社が決められます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780" b="0" i="0">
                <a:solidFill>
                  <a:srgbClr val="7E7868"/>
                </a:solidFill>
                <a:latin typeface="Yu Gothic"/>
                <a:ea typeface="游ゴシック"/>
              </a:rPr>
              <a:t>※審査基準の詳細は、説明会でご確認いただけます。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000" y="5886000"/>
            <a:ext cx="10713600" cy="45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000" y="5886000"/>
            <a:ext cx="10137600" cy="4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10" b="0" i="0">
                <a:solidFill>
                  <a:srgbClr val="FFFFFF"/>
                </a:solidFill>
                <a:latin typeface="Yu Gothic"/>
                <a:ea typeface="游ゴシック"/>
              </a:rPr>
              <a:t>審査があるから — </a:t>
            </a:r>
            <a:r>
              <a:rPr sz="1210" b="1" i="0">
                <a:solidFill>
                  <a:srgbClr val="D8C08C"/>
                </a:solidFill>
                <a:latin typeface="Yu Gothic"/>
                <a:ea typeface="游ゴシック"/>
              </a:rPr>
              <a:t>「掲載されている」こと自体が、貴社アドバイザーの証明になる。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08 / PRODUCTIVITY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“送る仕事”を、なくす</a:t>
            </a:r>
            <a:r>
              <a:rPr sz="3329" b="1" i="0" spc="100">
                <a:solidFill>
                  <a:srgbClr val="B8934E"/>
                </a:solidFill>
                <a:latin typeface="Garamond"/>
                <a:ea typeface="游明朝"/>
              </a:rPr>
              <a:t>構造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9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10" b="0" i="0" spc="100">
                <a:solidFill>
                  <a:srgbClr val="8F8A7B"/>
                </a:solidFill>
                <a:latin typeface="Yu Gothic"/>
                <a:ea typeface="游ゴシック"/>
              </a:rPr>
              <a:t>数値ではなく、工数が減る「仕組み」でご説明します。理由は3つあります。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592000"/>
            <a:ext cx="3384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8000" y="2736000"/>
            <a:ext cx="3384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20" b="0" i="1">
                <a:solidFill>
                  <a:srgbClr val="8A6A32"/>
                </a:solidFill>
                <a:latin typeface="Garamond"/>
                <a:ea typeface="游明朝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3114000"/>
            <a:ext cx="338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送る工数が、ゼロになる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" y="3402000"/>
            <a:ext cx="3384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70" b="0" i="0">
                <a:solidFill>
                  <a:srgbClr val="201C15"/>
                </a:solidFill>
                <a:latin typeface="Yu Gothic"/>
                <a:ea typeface="游ゴシック"/>
              </a:rPr>
              <a:t>指名は“待って受け取る”接点。スカウト送信や文面作成の工数そのものが発生しません。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2800" y="2592000"/>
            <a:ext cx="3384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2800" y="2736000"/>
            <a:ext cx="3384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20" b="0" i="1">
                <a:solidFill>
                  <a:srgbClr val="8A6A32"/>
                </a:solidFill>
                <a:latin typeface="Garamond"/>
                <a:ea typeface="游明朝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2800" y="3114000"/>
            <a:ext cx="338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指名は、送信ゼロで届く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2800" y="3402000"/>
            <a:ext cx="3384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70" b="0" i="0">
                <a:solidFill>
                  <a:srgbClr val="201C15"/>
                </a:solidFill>
                <a:latin typeface="Yu Gothic"/>
                <a:ea typeface="游ゴシック"/>
              </a:rPr>
              <a:t>プロフィールを見た求職者から、面談リクエストが届く。待っている間の母集団形成は、当社の仕事です。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7600" y="2592000"/>
            <a:ext cx="3384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7600" y="2736000"/>
            <a:ext cx="3384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20" b="0" i="1">
                <a:solidFill>
                  <a:srgbClr val="8A6A32"/>
                </a:solidFill>
                <a:latin typeface="Garamond"/>
                <a:ea typeface="游明朝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7600" y="3114000"/>
            <a:ext cx="338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追いかける時間が、減る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7600" y="3402000"/>
            <a:ext cx="3384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70" b="0" i="0">
                <a:solidFill>
                  <a:srgbClr val="201C15"/>
                </a:solidFill>
                <a:latin typeface="Yu Gothic"/>
                <a:ea typeface="游ゴシック"/>
              </a:rPr>
              <a:t>自らCAを選んだ求職者は、面談への温度が高い。音信不通や日程再調整に費やす工数が構造的に小さい。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000" y="5886000"/>
            <a:ext cx="10713600" cy="45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6000" y="5886000"/>
            <a:ext cx="10137600" cy="4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10" b="0" i="0">
                <a:solidFill>
                  <a:srgbClr val="FFFFFF"/>
                </a:solidFill>
                <a:latin typeface="Yu Gothic"/>
                <a:ea typeface="游ゴシック"/>
              </a:rPr>
              <a:t>送信に使っていた時間を、面談と支援へ。</a:t>
            </a:r>
            <a:r>
              <a:rPr sz="1210" b="1" i="0">
                <a:solidFill>
                  <a:srgbClr val="D8C08C"/>
                </a:solidFill>
                <a:latin typeface="Yu Gothic"/>
                <a:ea typeface="游ゴシック"/>
              </a:rPr>
              <a:t>削減幅は、説明会で貴社の運用に合わせて一緒に試算します。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09 / AUDIENCE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母集団は、「CAを</a:t>
            </a:r>
            <a:r>
              <a:rPr sz="3329" b="1" i="0" spc="100">
                <a:solidFill>
                  <a:srgbClr val="B8934E"/>
                </a:solidFill>
                <a:latin typeface="Garamond"/>
                <a:ea typeface="游明朝"/>
              </a:rPr>
              <a:t>選びたい人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」から。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9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10" b="0" i="0" spc="100">
                <a:solidFill>
                  <a:srgbClr val="8F8A7B"/>
                </a:solidFill>
                <a:latin typeface="Yu Gothic"/>
                <a:ea typeface="游ゴシック"/>
              </a:rPr>
              <a:t>貴社に集客をお願いすることはありません。母集団形成は、当社の責任です。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520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8000" y="2646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不満の、受け皿になる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2916000"/>
            <a:ext cx="547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 i="0">
                <a:solidFill>
                  <a:srgbClr val="201C15"/>
                </a:solidFill>
                <a:latin typeface="Yu Gothic"/>
                <a:ea typeface="游ゴシック"/>
              </a:rPr>
              <a:t>スカウト過多と「担当者ガチャ」への不満はすでに定量化されています（→ 03）。「担当者を自分で選べる」体験そのものが、移る動機になります。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8000" y="3582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8000" y="3708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プロフィールが、入り口になる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8000" y="3978000"/>
            <a:ext cx="547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 i="0">
                <a:solidFill>
                  <a:srgbClr val="201C15"/>
                </a:solidFill>
                <a:latin typeface="Yu Gothic"/>
                <a:ea typeface="游ゴシック"/>
              </a:rPr>
              <a:t>審査通過CAの公開プロフィールが、検索と比較の受け皿に。掲載が増えるほど、母集団の入り口も増える構造です。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8000" y="4644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000" y="4770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広く浅くは、やらない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000" y="5040000"/>
            <a:ext cx="547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 i="0">
                <a:solidFill>
                  <a:srgbClr val="201C15"/>
                </a:solidFill>
                <a:latin typeface="Yu Gothic"/>
                <a:ea typeface="游ゴシック"/>
              </a:rPr>
              <a:t>初期はハイクラス×主要領域に絞り、LP・SNS・PRを集中投下。審査制という切り口自体が、発信の素材になります。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6000" y="2376000"/>
            <a:ext cx="4665600" cy="3204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0000" y="2664000"/>
            <a:ext cx="4017600" cy="16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20" b="0" i="1">
                <a:solidFill>
                  <a:srgbClr val="D8C08C"/>
                </a:solidFill>
                <a:latin typeface="Garamond"/>
                <a:ea typeface="游明朝"/>
              </a:rPr>
              <a:t>Balance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10" b="1" i="0">
                <a:solidFill>
                  <a:srgbClr val="FFFFFF"/>
                </a:solidFill>
                <a:latin typeface="Yu Gothic"/>
                <a:ea typeface="游ゴシック"/>
              </a:rPr>
              <a:t>需給バランスの管理</a:t>
            </a:r>
          </a:p>
          <a:p>
            <a:pPr algn="l">
              <a:lnSpc>
                <a:spcPct val="150000"/>
              </a:lnSpc>
            </a:pPr>
            <a:r>
              <a:rPr sz="1010" b="0" i="0">
                <a:solidFill>
                  <a:srgbClr val="ABA595"/>
                </a:solidFill>
                <a:latin typeface="Yu Gothic"/>
                <a:ea typeface="游ゴシック"/>
              </a:rPr>
              <a:t>初期は参加CA数を意図的に絞り、求職者数とのバランスを見ながら段階的に拡大します。「登録したのに、指名が来ない」を避けるための設計です。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10000" y="4464000"/>
            <a:ext cx="40176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10000" y="4644000"/>
            <a:ext cx="40176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0" b="0" i="0">
                <a:solidFill>
                  <a:srgbClr val="FFFFFF"/>
                </a:solidFill>
                <a:latin typeface="Yu Gothic"/>
                <a:ea typeface="游ゴシック"/>
              </a:rPr>
              <a:t>だから完全成果報酬 — 集客投資のリスクは、貴社ではなく当社が負います。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8000" y="5886000"/>
            <a:ext cx="10713600" cy="45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000" y="5886000"/>
            <a:ext cx="10137600" cy="4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10" b="0" i="0">
                <a:solidFill>
                  <a:srgbClr val="FFFFFF"/>
                </a:solidFill>
                <a:latin typeface="Yu Gothic"/>
                <a:ea typeface="游ゴシック"/>
              </a:rPr>
              <a:t>求職者が集まらなければ、当社の売上もゼロ — </a:t>
            </a:r>
            <a:r>
              <a:rPr sz="1210" b="1" i="0">
                <a:solidFill>
                  <a:srgbClr val="D8C08C"/>
                </a:solidFill>
                <a:latin typeface="Yu Gothic"/>
                <a:ea typeface="游ゴシック"/>
              </a:rPr>
              <a:t>母集団形成に本気である理由は、料金体系そのものです。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10 / DIFFERENTIATION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既存チャネルとの、</a:t>
            </a:r>
            <a:r>
              <a:rPr sz="3329" b="1" i="0" spc="100">
                <a:solidFill>
                  <a:srgbClr val="B8934E"/>
                </a:solidFill>
                <a:latin typeface="Garamond"/>
                <a:ea typeface="游明朝"/>
              </a:rPr>
              <a:t>違い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9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10" b="0" i="0" spc="100">
                <a:solidFill>
                  <a:srgbClr val="8F8A7B"/>
                </a:solidFill>
                <a:latin typeface="Yu Gothic"/>
                <a:ea typeface="游ゴシック"/>
              </a:rPr>
              <a:t>置き換えではなく、リスクゼロで併用できる「第3のチャネル」です。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556000"/>
            <a:ext cx="7920000" cy="540000"/>
          </a:xfrm>
          <a:prstGeom prst="rect">
            <a:avLst/>
          </a:prstGeom>
          <a:solidFill>
            <a:srgbClr val="E7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58000" y="2556000"/>
            <a:ext cx="2793600" cy="2556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8000" y="2635200"/>
            <a:ext cx="1512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01C15"/>
                </a:solidFill>
                <a:latin typeface="Yu Gothic"/>
                <a:ea typeface="游ゴシック"/>
              </a:rPr>
              <a:t>比較軸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0000" y="2635200"/>
            <a:ext cx="2808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01C15"/>
                </a:solidFill>
                <a:latin typeface="Yu Gothic"/>
                <a:ea typeface="游ゴシック"/>
              </a:rPr>
              <a:t>スカウト型DB</a:t>
            </a:r>
          </a:p>
          <a:p>
            <a:pPr algn="l">
              <a:lnSpc>
                <a:spcPct val="130000"/>
              </a:lnSpc>
            </a:pPr>
            <a:r>
              <a:rPr sz="780" b="0" i="0" spc="100">
                <a:solidFill>
                  <a:srgbClr val="8F8A7B"/>
                </a:solidFill>
                <a:latin typeface="Yu Gothic"/>
                <a:ea typeface="游ゴシック"/>
              </a:rPr>
              <a:t>ビズリーチ等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58000" y="2635200"/>
            <a:ext cx="252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01C15"/>
                </a:solidFill>
                <a:latin typeface="Yu Gothic"/>
                <a:ea typeface="游ゴシック"/>
              </a:rPr>
              <a:t>送客型サービス</a:t>
            </a:r>
          </a:p>
          <a:p>
            <a:pPr algn="l">
              <a:lnSpc>
                <a:spcPct val="130000"/>
              </a:lnSpc>
            </a:pPr>
            <a:r>
              <a:rPr sz="780" b="0" i="0" spc="100">
                <a:solidFill>
                  <a:srgbClr val="8F8A7B"/>
                </a:solidFill>
                <a:latin typeface="Yu Gothic"/>
                <a:ea typeface="游ゴシック"/>
              </a:rPr>
              <a:t>面談課金・リスト課金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8000" y="2635200"/>
            <a:ext cx="2433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FFFFFF"/>
                </a:solidFill>
                <a:latin typeface="Yu Gothic"/>
                <a:ea typeface="游ゴシック"/>
              </a:rPr>
              <a:t>MarkGate</a:t>
            </a:r>
          </a:p>
          <a:p>
            <a:pPr algn="l">
              <a:lnSpc>
                <a:spcPct val="130000"/>
              </a:lnSpc>
            </a:pPr>
            <a:r>
              <a:rPr sz="780" b="0" i="0" spc="100">
                <a:solidFill>
                  <a:srgbClr val="D8C08C"/>
                </a:solidFill>
                <a:latin typeface="Yu Gothic"/>
                <a:ea typeface="游ゴシック"/>
              </a:rPr>
              <a:t>審査制×指名型マッチング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8000" y="3096000"/>
            <a:ext cx="7920000" cy="7200"/>
          </a:xfrm>
          <a:prstGeom prst="rect">
            <a:avLst/>
          </a:prstGeom>
          <a:solidFill>
            <a:srgbClr val="8F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02000" y="3096000"/>
            <a:ext cx="2505600" cy="7200"/>
          </a:xfrm>
          <a:prstGeom prst="rect">
            <a:avLst/>
          </a:prstGeom>
          <a:solidFill>
            <a:srgbClr val="3A3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00" y="3096000"/>
            <a:ext cx="1584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1" i="0">
                <a:solidFill>
                  <a:srgbClr val="201C15"/>
                </a:solidFill>
                <a:latin typeface="Yu Gothic"/>
                <a:ea typeface="游ゴシック"/>
              </a:rPr>
              <a:t>求職者との接点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0000" y="3096000"/>
            <a:ext cx="2808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A03A2A"/>
                </a:solidFill>
                <a:latin typeface="Yu Gothic"/>
                <a:ea typeface="游ゴシック"/>
              </a:rPr>
              <a:t>✕ </a:t>
            </a: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スカウト送信（受信箱で競争・埋もれる）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8000" y="3096000"/>
            <a:ext cx="2520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8F8A7B"/>
                </a:solidFill>
                <a:latin typeface="Yu Gothic"/>
                <a:ea typeface="游ゴシック"/>
              </a:rPr>
              <a:t>△ </a:t>
            </a: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面談リストの購入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38000" y="3096000"/>
            <a:ext cx="24336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D8C08C"/>
                </a:solidFill>
                <a:latin typeface="Yu Gothic"/>
                <a:ea typeface="游ゴシック"/>
              </a:rPr>
              <a:t>◎ </a:t>
            </a:r>
            <a:r>
              <a:rPr sz="1010" b="0" i="0">
                <a:solidFill>
                  <a:srgbClr val="FFFFFF"/>
                </a:solidFill>
                <a:latin typeface="Yu Gothic"/>
                <a:ea typeface="游ゴシック"/>
              </a:rPr>
              <a:t>求職者からの「指名」が届く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000" y="3600000"/>
            <a:ext cx="7920000" cy="7200"/>
          </a:xfrm>
          <a:prstGeom prst="rect">
            <a:avLst/>
          </a:prstGeom>
          <a:solidFill>
            <a:srgbClr val="8F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02000" y="3600000"/>
            <a:ext cx="2505600" cy="7200"/>
          </a:xfrm>
          <a:prstGeom prst="rect">
            <a:avLst/>
          </a:prstGeom>
          <a:solidFill>
            <a:srgbClr val="3A3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00" y="3600000"/>
            <a:ext cx="1584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1" i="0">
                <a:solidFill>
                  <a:srgbClr val="201C15"/>
                </a:solidFill>
                <a:latin typeface="Yu Gothic"/>
                <a:ea typeface="游ゴシック"/>
              </a:rPr>
              <a:t>担当者を選べるか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90000" y="3600000"/>
            <a:ext cx="2808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A03A2A"/>
                </a:solidFill>
                <a:latin typeface="Yu Gothic"/>
                <a:ea typeface="游ゴシック"/>
              </a:rPr>
              <a:t>✕ </a:t>
            </a: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選べない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8000" y="3600000"/>
            <a:ext cx="2520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A03A2A"/>
                </a:solidFill>
                <a:latin typeface="Yu Gothic"/>
                <a:ea typeface="游ゴシック"/>
              </a:rPr>
              <a:t>✕ </a:t>
            </a: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選べない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8000" y="3600000"/>
            <a:ext cx="24336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D8C08C"/>
                </a:solidFill>
                <a:latin typeface="Yu Gothic"/>
                <a:ea typeface="游ゴシック"/>
              </a:rPr>
              <a:t>◎ </a:t>
            </a:r>
            <a:r>
              <a:rPr sz="1010" b="0" i="0">
                <a:solidFill>
                  <a:srgbClr val="FFFFFF"/>
                </a:solidFill>
                <a:latin typeface="Yu Gothic"/>
                <a:ea typeface="游ゴシック"/>
              </a:rPr>
              <a:t>求職者がCAを選んで指名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8000" y="4104000"/>
            <a:ext cx="7920000" cy="7200"/>
          </a:xfrm>
          <a:prstGeom prst="rect">
            <a:avLst/>
          </a:prstGeom>
          <a:solidFill>
            <a:srgbClr val="8F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02000" y="4104000"/>
            <a:ext cx="2505600" cy="7200"/>
          </a:xfrm>
          <a:prstGeom prst="rect">
            <a:avLst/>
          </a:prstGeom>
          <a:solidFill>
            <a:srgbClr val="3A3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000" y="4104000"/>
            <a:ext cx="1584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1" i="0">
                <a:solidFill>
                  <a:srgbClr val="201C15"/>
                </a:solidFill>
                <a:latin typeface="Yu Gothic"/>
                <a:ea typeface="游ゴシック"/>
              </a:rPr>
              <a:t>成約前の費用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90000" y="4104000"/>
            <a:ext cx="2808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A03A2A"/>
                </a:solidFill>
                <a:latin typeface="Yu Gothic"/>
                <a:ea typeface="游ゴシック"/>
              </a:rPr>
              <a:t>✕ </a:t>
            </a: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基本料金60万円/6か月〜 +通数課金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58000" y="4104000"/>
            <a:ext cx="2520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A03A2A"/>
                </a:solidFill>
                <a:latin typeface="Yu Gothic"/>
                <a:ea typeface="游ゴシック"/>
              </a:rPr>
              <a:t>✕ </a:t>
            </a: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面談1件 1.4万〜3.5万円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8000" y="4104000"/>
            <a:ext cx="24336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D8C08C"/>
                </a:solidFill>
                <a:latin typeface="Yu Gothic"/>
                <a:ea typeface="游ゴシック"/>
              </a:rPr>
              <a:t>◎ </a:t>
            </a:r>
            <a:r>
              <a:rPr sz="1010" b="0" i="0">
                <a:solidFill>
                  <a:srgbClr val="FFFFFF"/>
                </a:solidFill>
                <a:latin typeface="Yu Gothic"/>
                <a:ea typeface="游ゴシック"/>
              </a:rPr>
              <a:t>0円（初年度は利用料も無料）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8000" y="4608000"/>
            <a:ext cx="7920000" cy="7200"/>
          </a:xfrm>
          <a:prstGeom prst="rect">
            <a:avLst/>
          </a:prstGeom>
          <a:solidFill>
            <a:srgbClr val="8F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02000" y="4608000"/>
            <a:ext cx="2505600" cy="7200"/>
          </a:xfrm>
          <a:prstGeom prst="rect">
            <a:avLst/>
          </a:prstGeom>
          <a:solidFill>
            <a:srgbClr val="3A3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8000" y="4608000"/>
            <a:ext cx="1584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1" i="0">
                <a:solidFill>
                  <a:srgbClr val="201C15"/>
                </a:solidFill>
                <a:latin typeface="Yu Gothic"/>
                <a:ea typeface="游ゴシック"/>
              </a:rPr>
              <a:t>成功報酬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90000" y="4608000"/>
            <a:ext cx="2808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A03A2A"/>
                </a:solidFill>
                <a:latin typeface="Yu Gothic"/>
                <a:ea typeface="游ゴシック"/>
              </a:rPr>
              <a:t>✕ </a:t>
            </a: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手数料の30%（初回契約の例）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58000" y="4608000"/>
            <a:ext cx="2520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8F8A7B"/>
                </a:solidFill>
                <a:latin typeface="Yu Gothic"/>
                <a:ea typeface="游ゴシック"/>
              </a:rPr>
              <a:t>△ </a:t>
            </a: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面談購入費が別途先行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8000" y="4608000"/>
            <a:ext cx="24336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D8C08C"/>
                </a:solidFill>
                <a:latin typeface="Yu Gothic"/>
                <a:ea typeface="游ゴシック"/>
              </a:rPr>
              <a:t>◎ </a:t>
            </a:r>
            <a:r>
              <a:rPr sz="1010" b="0" i="0">
                <a:solidFill>
                  <a:srgbClr val="FFFFFF"/>
                </a:solidFill>
                <a:latin typeface="Yu Gothic"/>
                <a:ea typeface="游ゴシック"/>
              </a:rPr>
              <a:t>手数料の20%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8000" y="6480000"/>
            <a:ext cx="1071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F8A7B"/>
                </a:solidFill>
                <a:latin typeface="Yu Gothic"/>
                <a:ea typeface="游ゴシック"/>
              </a:rPr>
              <a:t>※各サービスの内容・料金は公開情報に基づく一般的な整理であり、個別の契約条件により異なります。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11 / ECONOMICS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同じ1成約で、</a:t>
            </a:r>
            <a:r>
              <a:rPr sz="3329" b="1" i="0" spc="100">
                <a:solidFill>
                  <a:srgbClr val="B8934E"/>
                </a:solidFill>
                <a:latin typeface="Garamond"/>
                <a:ea typeface="游明朝"/>
              </a:rPr>
              <a:t>手残り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9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10" b="0" i="0" spc="100">
                <a:solidFill>
                  <a:srgbClr val="8F8A7B"/>
                </a:solidFill>
                <a:latin typeface="Yu Gothic"/>
                <a:ea typeface="游ゴシック"/>
              </a:rPr>
              <a:t>理論年収600万円・紹介手数料率35%の場合の試算です。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8000" y="2520000"/>
            <a:ext cx="2232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860" b="0" i="0">
                <a:solidFill>
                  <a:srgbClr val="8F8A7B"/>
                </a:solidFill>
                <a:latin typeface="Yu Gothic"/>
                <a:ea typeface="游ゴシック"/>
              </a:rPr>
              <a:t>理論年収（例）</a:t>
            </a:r>
          </a:p>
          <a:p>
            <a:pPr algn="l">
              <a:lnSpc>
                <a:spcPct val="130000"/>
              </a:lnSpc>
            </a:pPr>
            <a:r>
              <a:rPr sz="3450" b="0" i="0">
                <a:solidFill>
                  <a:srgbClr val="201C15"/>
                </a:solidFill>
                <a:latin typeface="Garamond"/>
                <a:ea typeface="游明朝"/>
              </a:rPr>
              <a:t>600</a:t>
            </a: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 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2000" y="2844000"/>
            <a:ext cx="43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90" b="0" i="0">
                <a:solidFill>
                  <a:srgbClr val="8F8A7B"/>
                </a:solidFill>
                <a:latin typeface="Yu Gothic"/>
                <a:ea typeface="游ゴシック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6000" y="2520000"/>
            <a:ext cx="18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860" b="0" i="0">
                <a:solidFill>
                  <a:srgbClr val="8F8A7B"/>
                </a:solidFill>
                <a:latin typeface="Yu Gothic"/>
                <a:ea typeface="游ゴシック"/>
              </a:rPr>
              <a:t>紹介手数料率（例）</a:t>
            </a:r>
          </a:p>
          <a:p>
            <a:pPr algn="l">
              <a:lnSpc>
                <a:spcPct val="130000"/>
              </a:lnSpc>
            </a:pPr>
            <a:r>
              <a:rPr sz="3450" b="0" i="0">
                <a:solidFill>
                  <a:srgbClr val="201C15"/>
                </a:solidFill>
                <a:latin typeface="Garamond"/>
                <a:ea typeface="游明朝"/>
              </a:rPr>
              <a:t>35</a:t>
            </a: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6000" y="2844000"/>
            <a:ext cx="43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90" b="0" i="0">
                <a:solidFill>
                  <a:srgbClr val="8F8A7B"/>
                </a:solidFill>
                <a:latin typeface="Yu Gothic"/>
                <a:ea typeface="游ゴシック"/>
              </a:rPr>
              <a:t>=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58000" y="2448000"/>
            <a:ext cx="3240000" cy="972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6000" y="2574000"/>
            <a:ext cx="2736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860" b="0" i="0">
                <a:solidFill>
                  <a:srgbClr val="D8C08C"/>
                </a:solidFill>
                <a:latin typeface="Yu Gothic"/>
                <a:ea typeface="游ゴシック"/>
              </a:rPr>
              <a:t>成約時に発生する紹介手数料</a:t>
            </a:r>
          </a:p>
          <a:p>
            <a:pPr algn="l">
              <a:lnSpc>
                <a:spcPct val="130000"/>
              </a:lnSpc>
            </a:pPr>
            <a:r>
              <a:rPr sz="3100" b="0" i="0">
                <a:solidFill>
                  <a:srgbClr val="FFFFFF"/>
                </a:solidFill>
                <a:latin typeface="Garamond"/>
                <a:ea typeface="游明朝"/>
              </a:rPr>
              <a:t>210</a:t>
            </a:r>
            <a:r>
              <a:rPr sz="1380" b="1" i="0">
                <a:solidFill>
                  <a:srgbClr val="FFFFFF"/>
                </a:solidFill>
                <a:latin typeface="Yu Gothic"/>
                <a:ea typeface="游ゴシック"/>
              </a:rPr>
              <a:t> 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8000" y="3636000"/>
            <a:ext cx="36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0" b="0" i="0" spc="100">
                <a:solidFill>
                  <a:srgbClr val="8F8A7B"/>
                </a:solidFill>
                <a:latin typeface="Yu Gothic"/>
                <a:ea typeface="游ゴシック"/>
              </a:rPr>
              <a:t>手数料の分配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000" y="3852000"/>
            <a:ext cx="8570880" cy="504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308880" y="3852000"/>
            <a:ext cx="2142719" cy="5040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000" y="3852000"/>
            <a:ext cx="857088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60" b="1" i="0">
                <a:solidFill>
                  <a:srgbClr val="FFFFFF"/>
                </a:solidFill>
                <a:latin typeface="Yu Gothic"/>
                <a:ea typeface="游ゴシック"/>
              </a:rPr>
              <a:t>貴社の受取 168万円 (80%)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08880" y="3852000"/>
            <a:ext cx="2142719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131009"/>
                </a:solidFill>
                <a:latin typeface="Yu Gothic"/>
                <a:ea typeface="游ゴシック"/>
              </a:rPr>
              <a:t>42万円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8000" y="4410000"/>
            <a:ext cx="10713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40" b="0" i="0">
                <a:solidFill>
                  <a:srgbClr val="8F8A7B"/>
                </a:solidFill>
                <a:latin typeface="Yu Gothic"/>
                <a:ea typeface="游ゴシック"/>
              </a:rPr>
              <a:t>プラットフォーム利用分（20%）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8000" y="4824000"/>
            <a:ext cx="54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30" b="1" i="0">
                <a:solidFill>
                  <a:srgbClr val="201C15"/>
                </a:solidFill>
                <a:latin typeface="Yu Gothic"/>
                <a:ea typeface="游ゴシック"/>
              </a:rPr>
              <a:t>スカウト型DB経由の一例: </a:t>
            </a:r>
            <a:r>
              <a:rPr sz="1030" b="0" i="0">
                <a:solidFill>
                  <a:srgbClr val="201C15"/>
                </a:solidFill>
                <a:latin typeface="Yu Gothic"/>
                <a:ea typeface="游ゴシック"/>
              </a:rPr>
              <a:t>成功報酬30%なら63万円+固定費・通数課金。手残りが20万円以上変わる。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86000" y="4716000"/>
            <a:ext cx="4665600" cy="72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74000" y="4716000"/>
            <a:ext cx="40896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1" i="0">
                <a:solidFill>
                  <a:srgbClr val="D8C08C"/>
                </a:solidFill>
                <a:latin typeface="Yu Gothic"/>
                <a:ea typeface="游ゴシック"/>
              </a:rPr>
              <a:t>MarkGate: </a:t>
            </a:r>
            <a:r>
              <a:rPr sz="1090" b="1" i="0">
                <a:solidFill>
                  <a:srgbClr val="FFFFFF"/>
                </a:solidFill>
                <a:latin typeface="Yu Gothic"/>
                <a:ea typeface="游ゴシック"/>
              </a:rPr>
              <a:t>成約まで0円。“送る工数”がないことまで含めて、利益率が変わる。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000" y="6480000"/>
            <a:ext cx="1071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F8A7B"/>
                </a:solidFill>
                <a:latin typeface="Yu Gothic"/>
                <a:ea typeface="游ゴシック"/>
              </a:rPr>
              <a:t>※試算は例示です。30%はスカウト型媒体の紹介会社向け初回契約の公開情報の一例。実際の条件は各社の契約によります。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12 / FOR YOUR BRAND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「審査制」は、貴社の</a:t>
            </a:r>
            <a:r>
              <a:rPr sz="3329" b="1" i="0" spc="100">
                <a:solidFill>
                  <a:srgbClr val="B8934E"/>
                </a:solidFill>
                <a:latin typeface="Garamond"/>
                <a:ea typeface="游明朝"/>
              </a:rPr>
              <a:t>ブランド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になる。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8000" y="2232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8000" y="2358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合格実績が、会社の信用に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000" y="2628000"/>
            <a:ext cx="547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「審査通過アドバイザー○名在籍」は、求職者にも求人企業にも通じる証明になる。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8000" y="3348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8000" y="3474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契約は、法人単位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" y="3744000"/>
            <a:ext cx="547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ご契約・請求・成約売上はすべてエージェント法人に紐づく設計。個人への報酬の直接支払いはありません。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8000" y="4464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000" y="4590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80" b="1" i="0">
                <a:solidFill>
                  <a:srgbClr val="201C15"/>
                </a:solidFill>
                <a:latin typeface="Yu Gothic"/>
                <a:ea typeface="游ゴシック"/>
              </a:rPr>
              <a:t>育成の、ものさしに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000" y="4860000"/>
            <a:ext cx="547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審査基準と求職者からの評価が、アドバイザー教育のKPIとして機能する。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86000" y="2088000"/>
            <a:ext cx="4665600" cy="3528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0000" y="2376000"/>
            <a:ext cx="4017600" cy="30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20" b="0" i="1">
                <a:solidFill>
                  <a:srgbClr val="D8C08C"/>
                </a:solidFill>
                <a:latin typeface="Garamond"/>
                <a:ea typeface="游明朝"/>
              </a:rPr>
              <a:t>Q.</a:t>
            </a:r>
          </a:p>
          <a:p>
            <a:pPr algn="l">
              <a:lnSpc>
                <a:spcPct val="150000"/>
              </a:lnSpc>
              <a:spcAft>
                <a:spcPts val="700"/>
              </a:spcAft>
            </a:pPr>
            <a:r>
              <a:rPr sz="1210" b="1" i="0">
                <a:solidFill>
                  <a:srgbClr val="FFFFFF"/>
                </a:solidFill>
                <a:latin typeface="Yu Gothic"/>
                <a:ea typeface="游ゴシック"/>
              </a:rPr>
              <a:t>エース社員が個人として有名になると、独立や引き抜きが心配…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20" b="0" i="1">
                <a:solidFill>
                  <a:srgbClr val="D8C08C"/>
                </a:solidFill>
                <a:latin typeface="Garamond"/>
                <a:ea typeface="游明朝"/>
              </a:rPr>
              <a:t>A.</a:t>
            </a:r>
          </a:p>
          <a:p>
            <a:pPr algn="l">
              <a:lnSpc>
                <a:spcPct val="155000"/>
              </a:lnSpc>
              <a:spcAft>
                <a:spcPts val="500"/>
              </a:spcAft>
            </a:pPr>
            <a:r>
              <a:rPr sz="1070" b="0" i="0">
                <a:solidFill>
                  <a:srgbClr val="ABA595"/>
                </a:solidFill>
                <a:latin typeface="Yu Gothic"/>
                <a:ea typeface="游ゴシック"/>
              </a:rPr>
              <a:t>指名は「貴社所属の○○さん」に届きます。プロフィール・実績・評価は会社の資産として蓄積され、採用広報にも活用できます。</a:t>
            </a:r>
          </a:p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7E7868"/>
                </a:solidFill>
                <a:latin typeface="Yu Gothic"/>
                <a:ea typeface="游ゴシック"/>
              </a:rPr>
              <a:t>※公開範囲は貴社ポリシーに合わせ設定可能。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13 / FAQ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よくいただく、</a:t>
            </a:r>
            <a:r>
              <a:rPr sz="3329" b="1" i="0" spc="100">
                <a:solidFill>
                  <a:srgbClr val="B8934E"/>
                </a:solidFill>
                <a:latin typeface="Garamond"/>
                <a:ea typeface="游明朝"/>
              </a:rPr>
              <a:t>4つ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のご質問。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8000" y="2232000"/>
            <a:ext cx="5148000" cy="108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8000" y="2358000"/>
            <a:ext cx="514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60" b="1" i="1">
                <a:solidFill>
                  <a:srgbClr val="8A6A32"/>
                </a:solidFill>
                <a:latin typeface="Garamond"/>
                <a:ea typeface="游明朝"/>
              </a:rPr>
              <a:t>Q. </a:t>
            </a:r>
            <a:r>
              <a:rPr sz="1320" b="1" i="0">
                <a:solidFill>
                  <a:srgbClr val="201C15"/>
                </a:solidFill>
                <a:latin typeface="Yu Gothic"/>
                <a:ea typeface="游ゴシック"/>
              </a:rPr>
              <a:t>求職者は、集まるのか?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000" y="2646000"/>
            <a:ext cx="5148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ローンチ前のため、実績数値はまだありません。だからこそ、料金は</a:t>
            </a:r>
            <a:r>
              <a:rPr sz="1010" b="1" i="0">
                <a:solidFill>
                  <a:srgbClr val="201C15"/>
                </a:solidFill>
                <a:latin typeface="Yu Gothic"/>
                <a:ea typeface="游ゴシック"/>
              </a:rPr>
              <a:t>完全成果報酬</a:t>
            </a: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 — 成約が生まれるまで費用は一切発生せず、集客投資のリスクは当社が負う設計です。（集め方は 09 / AUDIENCE）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3600" y="2232000"/>
            <a:ext cx="5148000" cy="108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3600" y="2358000"/>
            <a:ext cx="514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60" b="1" i="1">
                <a:solidFill>
                  <a:srgbClr val="8A6A32"/>
                </a:solidFill>
                <a:latin typeface="Garamond"/>
                <a:ea typeface="游明朝"/>
              </a:rPr>
              <a:t>Q. </a:t>
            </a:r>
            <a:r>
              <a:rPr sz="1320" b="1" i="0">
                <a:solidFill>
                  <a:srgbClr val="201C15"/>
                </a:solidFill>
                <a:latin typeface="Yu Gothic"/>
                <a:ea typeface="游ゴシック"/>
              </a:rPr>
              <a:t>成功報酬20%は、高くないか?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3600" y="2646000"/>
            <a:ext cx="5148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スカウト型媒体は成功報酬30%の例に加え、</a:t>
            </a:r>
            <a:r>
              <a:rPr sz="1010" b="1" i="0">
                <a:solidFill>
                  <a:srgbClr val="201C15"/>
                </a:solidFill>
                <a:latin typeface="Yu Gothic"/>
                <a:ea typeface="游ゴシック"/>
              </a:rPr>
              <a:t>成約ゼロでも固定費・通数課金が発生</a:t>
            </a: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します。かかる総費用と「手残り」での比較をおすすめします。（→ 11 / ECONOMICS）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8000" y="3816000"/>
            <a:ext cx="5148000" cy="108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000" y="3942000"/>
            <a:ext cx="514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60" b="1" i="1">
                <a:solidFill>
                  <a:srgbClr val="8A6A32"/>
                </a:solidFill>
                <a:latin typeface="Garamond"/>
                <a:ea typeface="游明朝"/>
              </a:rPr>
              <a:t>Q. </a:t>
            </a:r>
            <a:r>
              <a:rPr sz="1320" b="1" i="0">
                <a:solidFill>
                  <a:srgbClr val="201C15"/>
                </a:solidFill>
                <a:latin typeface="Yu Gothic"/>
                <a:ea typeface="游ゴシック"/>
              </a:rPr>
              <a:t>既存チャネルと併用できるか?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000" y="4230000"/>
            <a:ext cx="5148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0" b="1" i="0">
                <a:solidFill>
                  <a:srgbClr val="201C15"/>
                </a:solidFill>
                <a:latin typeface="Yu Gothic"/>
                <a:ea typeface="游ゴシック"/>
              </a:rPr>
              <a:t>併用が前提の設計です。</a:t>
            </a: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専任契約や独占をお願いすることはありません。今お使いの媒体を止めずに、費用ゼロの「第3のチャネル」として追加できます。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3600" y="3816000"/>
            <a:ext cx="5148000" cy="108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3600" y="3942000"/>
            <a:ext cx="514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60" b="1" i="1">
                <a:solidFill>
                  <a:srgbClr val="8A6A32"/>
                </a:solidFill>
                <a:latin typeface="Garamond"/>
                <a:ea typeface="游明朝"/>
              </a:rPr>
              <a:t>Q. </a:t>
            </a:r>
            <a:r>
              <a:rPr sz="1320" b="1" i="0">
                <a:solidFill>
                  <a:srgbClr val="201C15"/>
                </a:solidFill>
                <a:latin typeface="Yu Gothic"/>
                <a:ea typeface="游ゴシック"/>
              </a:rPr>
              <a:t>始めるのに、手間はかからないか?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3600" y="4230000"/>
            <a:ext cx="5148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エントリーは法人単位の簡単な書類から。</a:t>
            </a:r>
            <a:r>
              <a:rPr sz="1010" b="1" i="0">
                <a:solidFill>
                  <a:srgbClr val="201C15"/>
                </a:solidFill>
                <a:latin typeface="Yu Gothic"/>
                <a:ea typeface="游ゴシック"/>
              </a:rPr>
              <a:t>プロフィール制作は当社が伴走</a:t>
            </a:r>
            <a:r>
              <a:rPr sz="1010" b="0" i="0">
                <a:solidFill>
                  <a:srgbClr val="201C15"/>
                </a:solidFill>
                <a:latin typeface="Yu Gothic"/>
                <a:ea typeface="游ゴシック"/>
              </a:rPr>
              <a:t>するため、貴社アドバイザーの追加負担は最小限です。運用開始後の業務は、これまでの紹介業務と変わりません。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000" y="5886000"/>
            <a:ext cx="10713600" cy="45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000" y="5886000"/>
            <a:ext cx="10137600" cy="4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10" b="0" i="0">
                <a:solidFill>
                  <a:srgbClr val="FFFFFF"/>
                </a:solidFill>
                <a:latin typeface="Yu Gothic"/>
                <a:ea typeface="游ゴシック"/>
              </a:rPr>
              <a:t>4つに共通する設計 — </a:t>
            </a:r>
            <a:r>
              <a:rPr sz="1210" b="1" i="0">
                <a:solidFill>
                  <a:srgbClr val="D8C08C"/>
                </a:solidFill>
                <a:latin typeface="Yu Gothic"/>
                <a:ea typeface="游ゴシック"/>
              </a:rPr>
              <a:t>貴社がリスクを取らずに、試せること。</a:t>
            </a:r>
            <a:r>
              <a:rPr sz="1210" b="0" i="0">
                <a:solidFill>
                  <a:srgbClr val="FFFFFF"/>
                </a:solidFill>
                <a:latin typeface="Yu Gothic"/>
                <a:ea typeface="游ゴシック"/>
              </a:rPr>
              <a:t> 成約まで、1円もかかりません。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14 / 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成約まで、</a:t>
            </a:r>
            <a:r>
              <a:rPr sz="3329" b="1" i="0" spc="100">
                <a:solidFill>
                  <a:srgbClr val="B8934E"/>
                </a:solidFill>
                <a:latin typeface="Garamond"/>
                <a:ea typeface="游明朝"/>
              </a:rPr>
              <a:t>費用はかかりません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8000" y="2232000"/>
            <a:ext cx="5220000" cy="360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000" y="2664000"/>
            <a:ext cx="4356000" cy="28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980" b="0" i="0" spc="250">
                <a:solidFill>
                  <a:srgbClr val="D8C08C"/>
                </a:solidFill>
                <a:latin typeface="Yu Gothic"/>
                <a:ea typeface="游ゴシック"/>
              </a:rPr>
              <a:t>SUCCESS FEE　·　成約時のみ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5290" b="0" i="0">
                <a:solidFill>
                  <a:srgbClr val="FFFFFF"/>
                </a:solidFill>
                <a:latin typeface="Garamond"/>
                <a:ea typeface="游明朝"/>
              </a:rPr>
              <a:t>20</a:t>
            </a:r>
            <a:r>
              <a:rPr sz="2070" b="1" i="0">
                <a:solidFill>
                  <a:srgbClr val="D8C08C"/>
                </a:solidFill>
                <a:latin typeface="Yu Gothic"/>
                <a:ea typeface="游ゴシック"/>
              </a:rPr>
              <a:t> %</a:t>
            </a:r>
          </a:p>
          <a:p>
            <a:pPr algn="l">
              <a:lnSpc>
                <a:spcPct val="130000"/>
              </a:lnSpc>
              <a:spcAft>
                <a:spcPts val="1800"/>
              </a:spcAft>
            </a:pPr>
            <a:r>
              <a:rPr sz="980" b="0" i="0">
                <a:solidFill>
                  <a:srgbClr val="ABA595"/>
                </a:solidFill>
                <a:latin typeface="Yu Gothic"/>
                <a:ea typeface="游ゴシック"/>
              </a:rPr>
              <a:t>成約時の紹介手数料に対して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80" b="1" i="0">
                <a:solidFill>
                  <a:srgbClr val="FFFFFF"/>
                </a:solidFill>
                <a:latin typeface="Yu Gothic"/>
                <a:ea typeface="游ゴシック"/>
              </a:rPr>
              <a:t>貴社の取り分 </a:t>
            </a:r>
            <a:r>
              <a:rPr sz="1380" b="1" i="0">
                <a:solidFill>
                  <a:srgbClr val="D8C08C"/>
                </a:solidFill>
                <a:latin typeface="Yu Gothic"/>
                <a:ea typeface="游ゴシック"/>
              </a:rPr>
              <a:t>80%</a:t>
            </a:r>
          </a:p>
        </p:txBody>
      </p:sp>
      <p:sp>
        <p:nvSpPr>
          <p:cNvPr id="8" name="Rectangle 7"/>
          <p:cNvSpPr/>
          <p:nvPr/>
        </p:nvSpPr>
        <p:spPr>
          <a:xfrm>
            <a:off x="1170000" y="4320000"/>
            <a:ext cx="4356000" cy="10800"/>
          </a:xfrm>
          <a:prstGeom prst="rect">
            <a:avLst/>
          </a:prstGeom>
          <a:solidFill>
            <a:srgbClr val="3A3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90000" y="2232000"/>
            <a:ext cx="5061600" cy="1692000"/>
          </a:xfrm>
          <a:prstGeom prst="rect">
            <a:avLst/>
          </a:prstGeom>
          <a:solidFill>
            <a:srgbClr val="EB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90000" y="2210400"/>
            <a:ext cx="5061600" cy="216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50000" y="2484000"/>
            <a:ext cx="4341600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19" b="0" i="0" spc="250">
                <a:solidFill>
                  <a:srgbClr val="8F8A7B"/>
                </a:solidFill>
                <a:latin typeface="Yu Gothic"/>
                <a:ea typeface="游ゴシック"/>
              </a:rPr>
              <a:t>YEAR 1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760" b="0" i="0">
                <a:solidFill>
                  <a:srgbClr val="201C15"/>
                </a:solidFill>
                <a:latin typeface="Garamond"/>
                <a:ea typeface="游明朝"/>
              </a:rPr>
              <a:t>¥0</a:t>
            </a:r>
            <a:r>
              <a:rPr sz="1210" b="1" i="0">
                <a:solidFill>
                  <a:srgbClr val="201C15"/>
                </a:solidFill>
                <a:latin typeface="Yu Gothic"/>
                <a:ea typeface="游ゴシック"/>
              </a:rPr>
              <a:t>　初年度 利用料</a:t>
            </a:r>
          </a:p>
          <a:p>
            <a:pPr algn="l">
              <a:lnSpc>
                <a:spcPct val="130000"/>
              </a:lnSpc>
            </a:pPr>
            <a:r>
              <a:rPr sz="980" b="0" i="0">
                <a:solidFill>
                  <a:srgbClr val="8F8A7B"/>
                </a:solidFill>
                <a:latin typeface="Yu Gothic"/>
                <a:ea typeface="游ゴシック"/>
              </a:rPr>
              <a:t>登録・掲載・指名の受信・面談まで、すべて無料。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90000" y="4140000"/>
            <a:ext cx="5061600" cy="1692000"/>
          </a:xfrm>
          <a:prstGeom prst="rect">
            <a:avLst/>
          </a:prstGeom>
          <a:solidFill>
            <a:srgbClr val="EB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0000" y="4118400"/>
            <a:ext cx="50616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0000" y="4392000"/>
            <a:ext cx="4341600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19" b="0" i="0" spc="250">
                <a:solidFill>
                  <a:srgbClr val="8A6A32"/>
                </a:solidFill>
                <a:latin typeface="Yu Gothic"/>
                <a:ea typeface="游ゴシック"/>
              </a:rPr>
              <a:t>YEAR 2+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530" b="0" i="0">
                <a:solidFill>
                  <a:srgbClr val="201C15"/>
                </a:solidFill>
                <a:latin typeface="Garamond"/>
                <a:ea typeface="游明朝"/>
              </a:rPr>
              <a:t>¥50,000</a:t>
            </a:r>
            <a:r>
              <a:rPr sz="1210" b="1" i="0">
                <a:solidFill>
                  <a:srgbClr val="201C15"/>
                </a:solidFill>
                <a:latin typeface="Yu Gothic"/>
                <a:ea typeface="游ゴシック"/>
              </a:rPr>
              <a:t>　月額（2年目以降）</a:t>
            </a:r>
          </a:p>
          <a:p>
            <a:pPr algn="l">
              <a:lnSpc>
                <a:spcPct val="130000"/>
              </a:lnSpc>
            </a:pPr>
            <a:r>
              <a:rPr sz="980" b="0" i="0">
                <a:solidFill>
                  <a:srgbClr val="8F8A7B"/>
                </a:solidFill>
                <a:latin typeface="Yu Gothic"/>
                <a:ea typeface="游ゴシック"/>
              </a:rPr>
              <a:t>平均決定単価 約103万円/件の一部で回収できる水準です。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000" y="6480000"/>
            <a:ext cx="1071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F8A7B"/>
                </a:solidFill>
                <a:latin typeface="Yu Gothic"/>
                <a:ea typeface="游ゴシック"/>
              </a:rPr>
              <a:t>通数課金・広告費・送客費・掲載料は一切なし。　※平均決定単価の出典: 厚生労働省「令和6年度職業紹介事業報告書の集計結果」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8A6A32"/>
                </a:solidFill>
                <a:latin typeface="Garamond"/>
                <a:ea typeface="游明朝"/>
              </a:rPr>
              <a:t>15 / LAUNCH PARTNER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66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ローンチパートナーを、</a:t>
            </a:r>
            <a:r>
              <a:rPr sz="3329" b="1" i="0" spc="100">
                <a:solidFill>
                  <a:srgbClr val="B8934E"/>
                </a:solidFill>
                <a:latin typeface="Garamond"/>
                <a:ea typeface="游明朝"/>
              </a:rPr>
              <a:t>募集します</a:t>
            </a:r>
            <a:r>
              <a:rPr sz="3329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Oval 5"/>
          <p:cNvSpPr/>
          <p:nvPr/>
        </p:nvSpPr>
        <p:spPr>
          <a:xfrm>
            <a:off x="781200" y="2430000"/>
            <a:ext cx="122400" cy="122400"/>
          </a:xfrm>
          <a:prstGeom prst="ellipse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35200" y="2610000"/>
            <a:ext cx="12600" cy="900000"/>
          </a:xfrm>
          <a:prstGeom prst="rect">
            <a:avLst/>
          </a:prstGeom>
          <a:solidFill>
            <a:srgbClr val="D8C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4000" y="2376000"/>
            <a:ext cx="50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40" b="1" i="0">
                <a:solidFill>
                  <a:srgbClr val="201C15"/>
                </a:solidFill>
                <a:latin typeface="Yu Gothic"/>
                <a:ea typeface="游ゴシック"/>
              </a:rPr>
              <a:t>先行登録の受付（現在）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4000" y="2646000"/>
            <a:ext cx="50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8F8A7B"/>
                </a:solidFill>
                <a:latin typeface="Yu Gothic"/>
                <a:ea typeface="游ゴシック"/>
              </a:rPr>
              <a:t>法人単位でエントリー。アドバイザー1名からでも可能。</a:t>
            </a:r>
          </a:p>
        </p:txBody>
      </p:sp>
      <p:sp>
        <p:nvSpPr>
          <p:cNvPr id="10" name="Oval 9"/>
          <p:cNvSpPr/>
          <p:nvPr/>
        </p:nvSpPr>
        <p:spPr>
          <a:xfrm>
            <a:off x="781200" y="3510000"/>
            <a:ext cx="122400" cy="122400"/>
          </a:xfrm>
          <a:prstGeom prst="ellipse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5200" y="3690000"/>
            <a:ext cx="12600" cy="900000"/>
          </a:xfrm>
          <a:prstGeom prst="rect">
            <a:avLst/>
          </a:prstGeom>
          <a:solidFill>
            <a:srgbClr val="D8C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4000" y="3456000"/>
            <a:ext cx="50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40" b="1" i="0">
                <a:solidFill>
                  <a:srgbClr val="201C15"/>
                </a:solidFill>
                <a:latin typeface="Yu Gothic"/>
                <a:ea typeface="游ゴシック"/>
              </a:rPr>
              <a:t>審査・掲載準備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4000" y="3726000"/>
            <a:ext cx="50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8F8A7B"/>
                </a:solidFill>
                <a:latin typeface="Yu Gothic"/>
                <a:ea typeface="游ゴシック"/>
              </a:rPr>
              <a:t>アドバイザー審査と「選ばれるプロフィール」制作を支援。</a:t>
            </a:r>
          </a:p>
        </p:txBody>
      </p:sp>
      <p:sp>
        <p:nvSpPr>
          <p:cNvPr id="14" name="Oval 13"/>
          <p:cNvSpPr/>
          <p:nvPr/>
        </p:nvSpPr>
        <p:spPr>
          <a:xfrm>
            <a:off x="781200" y="4590000"/>
            <a:ext cx="122400" cy="122400"/>
          </a:xfrm>
          <a:prstGeom prst="ellipse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4000" y="4536000"/>
            <a:ext cx="50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40" b="1" i="0">
                <a:solidFill>
                  <a:srgbClr val="201C15"/>
                </a:solidFill>
                <a:latin typeface="Yu Gothic"/>
                <a:ea typeface="游ゴシック"/>
              </a:rPr>
              <a:t>サービスローンチ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4000" y="4806000"/>
            <a:ext cx="50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8F8A7B"/>
                </a:solidFill>
                <a:latin typeface="Yu Gothic"/>
                <a:ea typeface="游ゴシック"/>
              </a:rPr>
              <a:t>先行登録エージェント様から優先的に掲載を開始します（時期は確定後にご案内）。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86000" y="2160000"/>
            <a:ext cx="4665600" cy="3456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6000" y="2484000"/>
            <a:ext cx="3945600" cy="29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20" b="1" i="0">
                <a:solidFill>
                  <a:srgbClr val="FFFFFF"/>
                </a:solidFill>
                <a:latin typeface="Yu Gothic"/>
                <a:ea typeface="游ゴシック"/>
              </a:rPr>
              <a:t>先行登録 — 3つのメリット</a:t>
            </a:r>
          </a:p>
          <a:p>
            <a:pPr algn="l">
              <a:lnSpc>
                <a:spcPct val="130000"/>
              </a:lnSpc>
              <a:spcAft>
                <a:spcPts val="150"/>
              </a:spcAft>
            </a:pPr>
            <a:r>
              <a:rPr sz="1210" b="0" i="1">
                <a:solidFill>
                  <a:srgbClr val="D8C08C"/>
                </a:solidFill>
                <a:latin typeface="Garamond"/>
                <a:ea typeface="游明朝"/>
              </a:rPr>
              <a:t>01　</a:t>
            </a:r>
            <a:r>
              <a:rPr sz="1210" b="1" i="0">
                <a:solidFill>
                  <a:srgbClr val="FFFFFF"/>
                </a:solidFill>
                <a:latin typeface="Yu Gothic"/>
                <a:ea typeface="游ゴシック"/>
              </a:rPr>
              <a:t>初期ほど、指名が集中する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 i="0">
                <a:solidFill>
                  <a:srgbClr val="ABA595"/>
                </a:solidFill>
                <a:latin typeface="Yu Gothic"/>
                <a:ea typeface="游ゴシック"/>
              </a:rPr>
              <a:t>参加CAを限定してローンチ。掲載が少ない時期ほど、1人あたりの露出が大きい。</a:t>
            </a:r>
          </a:p>
          <a:p>
            <a:pPr algn="l">
              <a:lnSpc>
                <a:spcPct val="130000"/>
              </a:lnSpc>
              <a:spcAft>
                <a:spcPts val="150"/>
              </a:spcAft>
            </a:pPr>
            <a:r>
              <a:rPr sz="1210" b="0" i="1">
                <a:solidFill>
                  <a:srgbClr val="D8C08C"/>
                </a:solidFill>
                <a:latin typeface="Garamond"/>
                <a:ea typeface="游明朝"/>
              </a:rPr>
              <a:t>02　</a:t>
            </a:r>
            <a:r>
              <a:rPr sz="1210" b="1" i="0">
                <a:solidFill>
                  <a:srgbClr val="FFFFFF"/>
                </a:solidFill>
                <a:latin typeface="Yu Gothic"/>
                <a:ea typeface="游ゴシック"/>
              </a:rPr>
              <a:t>露出の優先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 i="0">
                <a:solidFill>
                  <a:srgbClr val="ABA595"/>
                </a:solidFill>
                <a:latin typeface="Yu Gothic"/>
                <a:ea typeface="游ゴシック"/>
              </a:rPr>
              <a:t>検索結果・特集企画で、先行登録アドバイザーを優先表示。</a:t>
            </a:r>
          </a:p>
          <a:p>
            <a:pPr algn="l">
              <a:lnSpc>
                <a:spcPct val="130000"/>
              </a:lnSpc>
              <a:spcAft>
                <a:spcPts val="150"/>
              </a:spcAft>
            </a:pPr>
            <a:r>
              <a:rPr sz="1210" b="0" i="1">
                <a:solidFill>
                  <a:srgbClr val="D8C08C"/>
                </a:solidFill>
                <a:latin typeface="Garamond"/>
                <a:ea typeface="游明朝"/>
              </a:rPr>
              <a:t>03　</a:t>
            </a:r>
            <a:r>
              <a:rPr sz="1210" b="1" i="0">
                <a:solidFill>
                  <a:srgbClr val="FFFFFF"/>
                </a:solidFill>
                <a:latin typeface="Yu Gothic"/>
                <a:ea typeface="游ゴシック"/>
              </a:rPr>
              <a:t>サービス設計に参画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 i="0">
                <a:solidFill>
                  <a:srgbClr val="ABA595"/>
                </a:solidFill>
                <a:latin typeface="Yu Gothic"/>
                <a:ea typeface="游ゴシック"/>
              </a:rPr>
              <a:t>審査基準・機能へのご要望をローンチ前に直接反映。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8000" y="6480000"/>
            <a:ext cx="1071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F8A7B"/>
                </a:solidFill>
                <a:latin typeface="Yu Gothic"/>
                <a:ea typeface="游ゴシック"/>
              </a:rPr>
              <a:t>※求職者との需給バランスを保つため、同一領域の先行登録枠には上限を設けています。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8000" y="468000"/>
            <a:ext cx="10713600" cy="12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8000" y="936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1" spc="250">
                <a:solidFill>
                  <a:srgbClr val="D8C08C"/>
                </a:solidFill>
                <a:latin typeface="Garamond"/>
                <a:ea typeface="游明朝"/>
              </a:rPr>
              <a:t>16 / CONTACT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8000" y="1234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8000" y="1512000"/>
            <a:ext cx="107136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100" b="1" i="0" spc="100">
                <a:solidFill>
                  <a:srgbClr val="FFFFFF"/>
                </a:solidFill>
                <a:latin typeface="Garamond"/>
                <a:ea typeface="游明朝"/>
              </a:rPr>
              <a:t>絞られた場所でだけ、</a:t>
            </a:r>
          </a:p>
          <a:p>
            <a:pPr algn="l">
              <a:lnSpc>
                <a:spcPct val="130000"/>
              </a:lnSpc>
            </a:pPr>
            <a:r>
              <a:rPr sz="3100" b="1" i="0" spc="100">
                <a:solidFill>
                  <a:srgbClr val="D8C08C"/>
                </a:solidFill>
                <a:latin typeface="Garamond"/>
                <a:ea typeface="游明朝"/>
              </a:rPr>
              <a:t>“指名”</a:t>
            </a:r>
            <a:r>
              <a:rPr sz="3100" b="1" i="0" spc="100">
                <a:solidFill>
                  <a:srgbClr val="FFFFFF"/>
                </a:solidFill>
                <a:latin typeface="Garamond"/>
                <a:ea typeface="游明朝"/>
              </a:rPr>
              <a:t>は届く。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8000" y="3024000"/>
            <a:ext cx="107136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10" b="0" i="0" spc="100">
                <a:solidFill>
                  <a:srgbClr val="ABA595"/>
                </a:solidFill>
                <a:latin typeface="Yu Gothic"/>
                <a:ea typeface="游ゴシック"/>
              </a:rPr>
              <a:t>まずは30分のオンライン説明会で、貴社に合わせた活用シミュレーションをご提案します。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000" y="3456000"/>
            <a:ext cx="5472000" cy="432000"/>
          </a:xfrm>
          <a:prstGeom prst="rect">
            <a:avLst/>
          </a:prstGeom>
          <a:noFill/>
          <a:ln w="9525">
            <a:solidFill>
              <a:srgbClr val="B8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000" y="3456000"/>
            <a:ext cx="5472000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70" b="0" i="0">
                <a:solidFill>
                  <a:srgbClr val="D8C08C"/>
                </a:solidFill>
                <a:latin typeface="Yu Gothic"/>
                <a:ea typeface="游ゴシック"/>
              </a:rPr>
              <a:t>先行登録・説明会は無料 — 掲載の義務や、専任の縛りはありません。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8000" y="4968000"/>
            <a:ext cx="10713600" cy="12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8000" y="5256000"/>
            <a:ext cx="57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530" b="0" i="0">
                <a:solidFill>
                  <a:srgbClr val="FFFFFF"/>
                </a:solidFill>
                <a:latin typeface="Garamond"/>
                <a:ea typeface="游明朝"/>
              </a:rPr>
              <a:t>MarkGate</a:t>
            </a:r>
            <a:r>
              <a:rPr sz="2530" b="0" i="0">
                <a:solidFill>
                  <a:srgbClr val="B8934E"/>
                </a:solidFill>
                <a:latin typeface="Garamond"/>
                <a:ea typeface="游明朝"/>
              </a:rPr>
              <a:t>.</a:t>
            </a:r>
          </a:p>
          <a:p>
            <a:pPr algn="l">
              <a:lnSpc>
                <a:spcPct val="130000"/>
              </a:lnSpc>
            </a:pPr>
            <a:r>
              <a:rPr sz="800" b="0" i="0" spc="300">
                <a:solidFill>
                  <a:srgbClr val="7E7868"/>
                </a:solidFill>
                <a:latin typeface="Yu Gothic"/>
                <a:ea typeface="游ゴシック"/>
              </a:rPr>
              <a:t>QUALITY OVER QUANTITY　·　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1600" y="5256000"/>
            <a:ext cx="468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60000"/>
              </a:lnSpc>
            </a:pPr>
            <a:r>
              <a:rPr sz="1010" b="0" i="0">
                <a:solidFill>
                  <a:srgbClr val="ABA595"/>
                </a:solidFill>
                <a:latin typeface="Yu Gothic"/>
                <a:ea typeface="游ゴシック"/>
              </a:rPr>
              <a:t>MarkGate株式会社　代表取締役: 山本 朋鑑</a:t>
            </a:r>
          </a:p>
          <a:p>
            <a:pPr algn="r">
              <a:lnSpc>
                <a:spcPct val="160000"/>
              </a:lnSpc>
            </a:pPr>
            <a:r>
              <a:rPr sz="1010" b="0" i="0">
                <a:solidFill>
                  <a:srgbClr val="ABA595"/>
                </a:solidFill>
                <a:latin typeface="Yu Gothic"/>
                <a:ea typeface="游ゴシック"/>
              </a:rPr>
              <a:t>設立: 2026年7月13日</a:t>
            </a:r>
          </a:p>
          <a:p>
            <a:pPr algn="r">
              <a:lnSpc>
                <a:spcPct val="160000"/>
              </a:lnSpc>
            </a:pPr>
            <a:r>
              <a:rPr sz="1010" b="0" i="0">
                <a:solidFill>
                  <a:srgbClr val="ABA595"/>
                </a:solidFill>
                <a:latin typeface="Yu Gothic"/>
                <a:ea typeface="游ゴシック"/>
              </a:rPr>
              <a:t>MAIL・TEL: 確定後に記載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8000" y="6336000"/>
            <a:ext cx="54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7E7868"/>
                </a:solidFill>
                <a:latin typeface="Yu Gothic"/>
                <a:ea typeface="游ゴシック"/>
              </a:rPr>
              <a:t>※連絡先は確定後に差し替えてご利用ください。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1600" y="6336000"/>
            <a:ext cx="36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90" b="0" i="1">
                <a:solidFill>
                  <a:srgbClr val="D8C08C"/>
                </a:solidFill>
                <a:latin typeface="Garamond"/>
                <a:ea typeface="游明朝"/>
              </a:rPr>
              <a:t>— Thank you. 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